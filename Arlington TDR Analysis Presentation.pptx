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66" r:id="rId4"/>
    <p:sldId id="270" r:id="rId5"/>
    <p:sldId id="267" r:id="rId6"/>
    <p:sldId id="268" r:id="rId7"/>
    <p:sldId id="258" r:id="rId8"/>
    <p:sldId id="269" r:id="rId9"/>
    <p:sldId id="259" r:id="rId10"/>
    <p:sldId id="260" r:id="rId11"/>
    <p:sldId id="276" r:id="rId12"/>
    <p:sldId id="293" r:id="rId13"/>
    <p:sldId id="292" r:id="rId14"/>
    <p:sldId id="294" r:id="rId15"/>
    <p:sldId id="295" r:id="rId16"/>
    <p:sldId id="296" r:id="rId17"/>
    <p:sldId id="297" r:id="rId18"/>
    <p:sldId id="310" r:id="rId19"/>
    <p:sldId id="305" r:id="rId20"/>
    <p:sldId id="299" r:id="rId21"/>
    <p:sldId id="300" r:id="rId22"/>
    <p:sldId id="301" r:id="rId23"/>
    <p:sldId id="303" r:id="rId24"/>
    <p:sldId id="316" r:id="rId25"/>
    <p:sldId id="322"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Context" id="{CF644411-CC3C-4A33-8482-7D949E86F08F}">
          <p14:sldIdLst>
            <p14:sldId id="256"/>
            <p14:sldId id="257"/>
            <p14:sldId id="266"/>
            <p14:sldId id="270"/>
            <p14:sldId id="267"/>
            <p14:sldId id="268"/>
            <p14:sldId id="258"/>
            <p14:sldId id="269"/>
          </p14:sldIdLst>
        </p14:section>
        <p14:section name="The Approach" id="{186A23BD-42A9-4F98-8976-4A3DE697D235}">
          <p14:sldIdLst>
            <p14:sldId id="259"/>
            <p14:sldId id="260"/>
          </p14:sldIdLst>
        </p14:section>
        <p14:section name="Analysis Findings" id="{63574B0E-8D5B-4E6D-B6B5-D0BCE922C05C}">
          <p14:sldIdLst>
            <p14:sldId id="276"/>
            <p14:sldId id="293"/>
            <p14:sldId id="292"/>
            <p14:sldId id="294"/>
            <p14:sldId id="295"/>
            <p14:sldId id="296"/>
            <p14:sldId id="297"/>
            <p14:sldId id="310"/>
            <p14:sldId id="305"/>
            <p14:sldId id="299"/>
            <p14:sldId id="300"/>
            <p14:sldId id="301"/>
            <p14:sldId id="303"/>
            <p14:sldId id="316"/>
            <p14:sldId id="32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80D5B2C-2D81-377E-018A-9C7BA9BF80E9}" name="John Burke" initials="JB" userId="S::john.burke@im-pulse.io::6aa7ac9d-1481-4eb3-bba6-d1142c83d8d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7A6B"/>
    <a:srgbClr val="F5F2EB"/>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432B77-317F-4565-B261-C29415F7AD4C}" v="49" dt="2026-03-05T18:40:19.3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7378" autoAdjust="0"/>
  </p:normalViewPr>
  <p:slideViewPr>
    <p:cSldViewPr snapToGrid="0" snapToObjects="1">
      <p:cViewPr varScale="1">
        <p:scale>
          <a:sx n="125" d="100"/>
          <a:sy n="125" d="100"/>
        </p:scale>
        <p:origin x="111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Burke" userId="6aa7ac9d-1481-4eb3-bba6-d1142c83d8d1" providerId="ADAL" clId="{22399DAE-D634-4E57-8CE9-6B65241521C5}"/>
    <pc:docChg chg="undo custSel addSld delSld modSld sldOrd addSection delSection modSection">
      <pc:chgData name="John Burke" userId="6aa7ac9d-1481-4eb3-bba6-d1142c83d8d1" providerId="ADAL" clId="{22399DAE-D634-4E57-8CE9-6B65241521C5}" dt="2026-03-05T18:08:05.342" v="15900"/>
      <pc:docMkLst>
        <pc:docMk/>
      </pc:docMkLst>
      <pc:sldChg chg="addSp modSp mod">
        <pc:chgData name="John Burke" userId="6aa7ac9d-1481-4eb3-bba6-d1142c83d8d1" providerId="ADAL" clId="{22399DAE-D634-4E57-8CE9-6B65241521C5}" dt="2026-03-04T17:18:57.622" v="6456" actId="1076"/>
        <pc:sldMkLst>
          <pc:docMk/>
          <pc:sldMk cId="0" sldId="256"/>
        </pc:sldMkLst>
        <pc:spChg chg="mod">
          <ac:chgData name="John Burke" userId="6aa7ac9d-1481-4eb3-bba6-d1142c83d8d1" providerId="ADAL" clId="{22399DAE-D634-4E57-8CE9-6B65241521C5}" dt="2026-03-04T16:49:52.916" v="6344" actId="20577"/>
          <ac:spMkLst>
            <pc:docMk/>
            <pc:sldMk cId="0" sldId="256"/>
            <ac:spMk id="4" creationId="{00000000-0000-0000-0000-000000000000}"/>
          </ac:spMkLst>
        </pc:spChg>
        <pc:spChg chg="mod">
          <ac:chgData name="John Burke" userId="6aa7ac9d-1481-4eb3-bba6-d1142c83d8d1" providerId="ADAL" clId="{22399DAE-D634-4E57-8CE9-6B65241521C5}" dt="2026-03-04T17:18:50.512" v="6455" actId="1076"/>
          <ac:spMkLst>
            <pc:docMk/>
            <pc:sldMk cId="0" sldId="256"/>
            <ac:spMk id="5" creationId="{00000000-0000-0000-0000-000000000000}"/>
          </ac:spMkLst>
        </pc:spChg>
        <pc:spChg chg="mod">
          <ac:chgData name="John Burke" userId="6aa7ac9d-1481-4eb3-bba6-d1142c83d8d1" providerId="ADAL" clId="{22399DAE-D634-4E57-8CE9-6B65241521C5}" dt="2026-03-04T17:06:38.998" v="6401" actId="14100"/>
          <ac:spMkLst>
            <pc:docMk/>
            <pc:sldMk cId="0" sldId="256"/>
            <ac:spMk id="6" creationId="{00000000-0000-0000-0000-000000000000}"/>
          </ac:spMkLst>
        </pc:spChg>
        <pc:spChg chg="add mod">
          <ac:chgData name="John Burke" userId="6aa7ac9d-1481-4eb3-bba6-d1142c83d8d1" providerId="ADAL" clId="{22399DAE-D634-4E57-8CE9-6B65241521C5}" dt="2026-03-04T17:18:57.622" v="6456" actId="1076"/>
          <ac:spMkLst>
            <pc:docMk/>
            <pc:sldMk cId="0" sldId="256"/>
            <ac:spMk id="12" creationId="{3D837D48-3ECD-0281-CFCC-F7A73903D12F}"/>
          </ac:spMkLst>
        </pc:spChg>
        <pc:grpChg chg="add mod">
          <ac:chgData name="John Burke" userId="6aa7ac9d-1481-4eb3-bba6-d1142c83d8d1" providerId="ADAL" clId="{22399DAE-D634-4E57-8CE9-6B65241521C5}" dt="2026-03-04T17:17:41.365" v="6439" actId="1076"/>
          <ac:grpSpMkLst>
            <pc:docMk/>
            <pc:sldMk cId="0" sldId="256"/>
            <ac:grpSpMk id="11" creationId="{1925227B-D2F0-7FC8-5D97-2AD124E180C9}"/>
          </ac:grpSpMkLst>
        </pc:grpChg>
        <pc:picChg chg="add mod">
          <ac:chgData name="John Burke" userId="6aa7ac9d-1481-4eb3-bba6-d1142c83d8d1" providerId="ADAL" clId="{22399DAE-D634-4E57-8CE9-6B65241521C5}" dt="2026-03-04T17:12:51.272" v="6430" actId="164"/>
          <ac:picMkLst>
            <pc:docMk/>
            <pc:sldMk cId="0" sldId="256"/>
            <ac:picMk id="8" creationId="{306096C7-1CA8-A2A8-8B91-8CF345A6BF81}"/>
          </ac:picMkLst>
        </pc:picChg>
        <pc:picChg chg="add mod">
          <ac:chgData name="John Burke" userId="6aa7ac9d-1481-4eb3-bba6-d1142c83d8d1" providerId="ADAL" clId="{22399DAE-D634-4E57-8CE9-6B65241521C5}" dt="2026-03-04T17:12:51.272" v="6430" actId="164"/>
          <ac:picMkLst>
            <pc:docMk/>
            <pc:sldMk cId="0" sldId="256"/>
            <ac:picMk id="10" creationId="{2136FD58-A917-DCA0-410D-2C94A64A493D}"/>
          </ac:picMkLst>
        </pc:picChg>
      </pc:sldChg>
      <pc:sldChg chg="delSp modSp mod setBg modNotesTx">
        <pc:chgData name="John Burke" userId="6aa7ac9d-1481-4eb3-bba6-d1142c83d8d1" providerId="ADAL" clId="{22399DAE-D634-4E57-8CE9-6B65241521C5}" dt="2026-03-04T16:04:06.134" v="1966" actId="20577"/>
        <pc:sldMkLst>
          <pc:docMk/>
          <pc:sldMk cId="0" sldId="257"/>
        </pc:sldMkLst>
        <pc:spChg chg="mod">
          <ac:chgData name="John Burke" userId="6aa7ac9d-1481-4eb3-bba6-d1142c83d8d1" providerId="ADAL" clId="{22399DAE-D634-4E57-8CE9-6B65241521C5}" dt="2026-03-04T15:58:43.064" v="1274" actId="1036"/>
          <ac:spMkLst>
            <pc:docMk/>
            <pc:sldMk cId="0" sldId="257"/>
            <ac:spMk id="4" creationId="{00000000-0000-0000-0000-000000000000}"/>
          </ac:spMkLst>
        </pc:spChg>
        <pc:spChg chg="mod">
          <ac:chgData name="John Burke" userId="6aa7ac9d-1481-4eb3-bba6-d1142c83d8d1" providerId="ADAL" clId="{22399DAE-D634-4E57-8CE9-6B65241521C5}" dt="2026-03-04T15:58:43.064" v="1274" actId="1036"/>
          <ac:spMkLst>
            <pc:docMk/>
            <pc:sldMk cId="0" sldId="257"/>
            <ac:spMk id="5" creationId="{00000000-0000-0000-0000-000000000000}"/>
          </ac:spMkLst>
        </pc:spChg>
        <pc:spChg chg="mod">
          <ac:chgData name="John Burke" userId="6aa7ac9d-1481-4eb3-bba6-d1142c83d8d1" providerId="ADAL" clId="{22399DAE-D634-4E57-8CE9-6B65241521C5}" dt="2026-03-04T15:58:43.064" v="1274" actId="1036"/>
          <ac:spMkLst>
            <pc:docMk/>
            <pc:sldMk cId="0" sldId="257"/>
            <ac:spMk id="6" creationId="{00000000-0000-0000-0000-000000000000}"/>
          </ac:spMkLst>
        </pc:spChg>
        <pc:spChg chg="mod">
          <ac:chgData name="John Burke" userId="6aa7ac9d-1481-4eb3-bba6-d1142c83d8d1" providerId="ADAL" clId="{22399DAE-D634-4E57-8CE9-6B65241521C5}" dt="2026-03-04T15:58:43.064" v="1274" actId="1036"/>
          <ac:spMkLst>
            <pc:docMk/>
            <pc:sldMk cId="0" sldId="257"/>
            <ac:spMk id="7" creationId="{00000000-0000-0000-0000-000000000000}"/>
          </ac:spMkLst>
        </pc:spChg>
        <pc:spChg chg="mod">
          <ac:chgData name="John Burke" userId="6aa7ac9d-1481-4eb3-bba6-d1142c83d8d1" providerId="ADAL" clId="{22399DAE-D634-4E57-8CE9-6B65241521C5}" dt="2026-03-04T15:58:43.064" v="1274" actId="1036"/>
          <ac:spMkLst>
            <pc:docMk/>
            <pc:sldMk cId="0" sldId="257"/>
            <ac:spMk id="8" creationId="{00000000-0000-0000-0000-000000000000}"/>
          </ac:spMkLst>
        </pc:spChg>
        <pc:spChg chg="mod">
          <ac:chgData name="John Burke" userId="6aa7ac9d-1481-4eb3-bba6-d1142c83d8d1" providerId="ADAL" clId="{22399DAE-D634-4E57-8CE9-6B65241521C5}" dt="2026-03-04T15:53:27.824" v="1063" actId="20577"/>
          <ac:spMkLst>
            <pc:docMk/>
            <pc:sldMk cId="0" sldId="257"/>
            <ac:spMk id="9" creationId="{00000000-0000-0000-0000-000000000000}"/>
          </ac:spMkLst>
        </pc:spChg>
        <pc:spChg chg="mod">
          <ac:chgData name="John Burke" userId="6aa7ac9d-1481-4eb3-bba6-d1142c83d8d1" providerId="ADAL" clId="{22399DAE-D634-4E57-8CE9-6B65241521C5}" dt="2026-03-04T15:59:14.143" v="1286" actId="20577"/>
          <ac:spMkLst>
            <pc:docMk/>
            <pc:sldMk cId="0" sldId="257"/>
            <ac:spMk id="10" creationId="{00000000-0000-0000-0000-000000000000}"/>
          </ac:spMkLst>
        </pc:spChg>
        <pc:spChg chg="mod">
          <ac:chgData name="John Burke" userId="6aa7ac9d-1481-4eb3-bba6-d1142c83d8d1" providerId="ADAL" clId="{22399DAE-D634-4E57-8CE9-6B65241521C5}" dt="2026-03-04T15:58:43.064" v="1274" actId="1036"/>
          <ac:spMkLst>
            <pc:docMk/>
            <pc:sldMk cId="0" sldId="257"/>
            <ac:spMk id="11" creationId="{00000000-0000-0000-0000-000000000000}"/>
          </ac:spMkLst>
        </pc:spChg>
        <pc:spChg chg="mod">
          <ac:chgData name="John Burke" userId="6aa7ac9d-1481-4eb3-bba6-d1142c83d8d1" providerId="ADAL" clId="{22399DAE-D634-4E57-8CE9-6B65241521C5}" dt="2026-03-04T15:58:43.064" v="1274" actId="1036"/>
          <ac:spMkLst>
            <pc:docMk/>
            <pc:sldMk cId="0" sldId="257"/>
            <ac:spMk id="13" creationId="{00000000-0000-0000-0000-000000000000}"/>
          </ac:spMkLst>
        </pc:spChg>
        <pc:spChg chg="mod">
          <ac:chgData name="John Burke" userId="6aa7ac9d-1481-4eb3-bba6-d1142c83d8d1" providerId="ADAL" clId="{22399DAE-D634-4E57-8CE9-6B65241521C5}" dt="2026-03-04T15:58:43.064" v="1274" actId="1036"/>
          <ac:spMkLst>
            <pc:docMk/>
            <pc:sldMk cId="0" sldId="257"/>
            <ac:spMk id="14" creationId="{00000000-0000-0000-0000-000000000000}"/>
          </ac:spMkLst>
        </pc:spChg>
        <pc:spChg chg="mod">
          <ac:chgData name="John Burke" userId="6aa7ac9d-1481-4eb3-bba6-d1142c83d8d1" providerId="ADAL" clId="{22399DAE-D634-4E57-8CE9-6B65241521C5}" dt="2026-03-04T15:59:57.223" v="1312" actId="20577"/>
          <ac:spMkLst>
            <pc:docMk/>
            <pc:sldMk cId="0" sldId="257"/>
            <ac:spMk id="15" creationId="{00000000-0000-0000-0000-000000000000}"/>
          </ac:spMkLst>
        </pc:spChg>
        <pc:spChg chg="mod">
          <ac:chgData name="John Burke" userId="6aa7ac9d-1481-4eb3-bba6-d1142c83d8d1" providerId="ADAL" clId="{22399DAE-D634-4E57-8CE9-6B65241521C5}" dt="2026-03-04T15:58:27.296" v="1256" actId="1036"/>
          <ac:spMkLst>
            <pc:docMk/>
            <pc:sldMk cId="0" sldId="257"/>
            <ac:spMk id="16" creationId="{00000000-0000-0000-0000-000000000000}"/>
          </ac:spMkLst>
        </pc:spChg>
        <pc:spChg chg="mod">
          <ac:chgData name="John Burke" userId="6aa7ac9d-1481-4eb3-bba6-d1142c83d8d1" providerId="ADAL" clId="{22399DAE-D634-4E57-8CE9-6B65241521C5}" dt="2026-03-04T15:58:17.987" v="1232" actId="1076"/>
          <ac:spMkLst>
            <pc:docMk/>
            <pc:sldMk cId="0" sldId="257"/>
            <ac:spMk id="17" creationId="{00000000-0000-0000-0000-000000000000}"/>
          </ac:spMkLst>
        </pc:spChg>
        <pc:spChg chg="del mod">
          <ac:chgData name="John Burke" userId="6aa7ac9d-1481-4eb3-bba6-d1142c83d8d1" providerId="ADAL" clId="{22399DAE-D634-4E57-8CE9-6B65241521C5}" dt="2026-03-04T15:57:58.950" v="1230" actId="478"/>
          <ac:spMkLst>
            <pc:docMk/>
            <pc:sldMk cId="0" sldId="257"/>
            <ac:spMk id="18" creationId="{00000000-0000-0000-0000-000000000000}"/>
          </ac:spMkLst>
        </pc:spChg>
      </pc:sldChg>
      <pc:sldChg chg="addSp delSp modSp mod modNotesTx">
        <pc:chgData name="John Burke" userId="6aa7ac9d-1481-4eb3-bba6-d1142c83d8d1" providerId="ADAL" clId="{22399DAE-D634-4E57-8CE9-6B65241521C5}" dt="2026-03-05T14:10:11.402" v="7283" actId="313"/>
        <pc:sldMkLst>
          <pc:docMk/>
          <pc:sldMk cId="0" sldId="258"/>
        </pc:sldMkLst>
        <pc:spChg chg="mod">
          <ac:chgData name="John Burke" userId="6aa7ac9d-1481-4eb3-bba6-d1142c83d8d1" providerId="ADAL" clId="{22399DAE-D634-4E57-8CE9-6B65241521C5}" dt="2026-03-05T14:07:05.897" v="6937" actId="20577"/>
          <ac:spMkLst>
            <pc:docMk/>
            <pc:sldMk cId="0" sldId="258"/>
            <ac:spMk id="16" creationId="{00000000-0000-0000-0000-000000000000}"/>
          </ac:spMkLst>
        </pc:spChg>
        <pc:spChg chg="del">
          <ac:chgData name="John Burke" userId="6aa7ac9d-1481-4eb3-bba6-d1142c83d8d1" providerId="ADAL" clId="{22399DAE-D634-4E57-8CE9-6B65241521C5}" dt="2026-03-04T16:22:29.735" v="3658" actId="478"/>
          <ac:spMkLst>
            <pc:docMk/>
            <pc:sldMk cId="0" sldId="258"/>
            <ac:spMk id="19" creationId="{00000000-0000-0000-0000-000000000000}"/>
          </ac:spMkLst>
        </pc:spChg>
        <pc:spChg chg="mod">
          <ac:chgData name="John Burke" userId="6aa7ac9d-1481-4eb3-bba6-d1142c83d8d1" providerId="ADAL" clId="{22399DAE-D634-4E57-8CE9-6B65241521C5}" dt="2026-03-04T16:22:19.296" v="3657" actId="6549"/>
          <ac:spMkLst>
            <pc:docMk/>
            <pc:sldMk cId="0" sldId="258"/>
            <ac:spMk id="20" creationId="{00000000-0000-0000-0000-000000000000}"/>
          </ac:spMkLst>
        </pc:spChg>
        <pc:spChg chg="del">
          <ac:chgData name="John Burke" userId="6aa7ac9d-1481-4eb3-bba6-d1142c83d8d1" providerId="ADAL" clId="{22399DAE-D634-4E57-8CE9-6B65241521C5}" dt="2026-03-04T16:23:10.203" v="3670" actId="478"/>
          <ac:spMkLst>
            <pc:docMk/>
            <pc:sldMk cId="0" sldId="258"/>
            <ac:spMk id="21" creationId="{00000000-0000-0000-0000-000000000000}"/>
          </ac:spMkLst>
        </pc:spChg>
        <pc:spChg chg="mod">
          <ac:chgData name="John Burke" userId="6aa7ac9d-1481-4eb3-bba6-d1142c83d8d1" providerId="ADAL" clId="{22399DAE-D634-4E57-8CE9-6B65241521C5}" dt="2026-03-04T17:26:15.905" v="6521" actId="2710"/>
          <ac:spMkLst>
            <pc:docMk/>
            <pc:sldMk cId="0" sldId="258"/>
            <ac:spMk id="23" creationId="{00000000-0000-0000-0000-000000000000}"/>
          </ac:spMkLst>
        </pc:spChg>
        <pc:spChg chg="add del mod">
          <ac:chgData name="John Burke" userId="6aa7ac9d-1481-4eb3-bba6-d1142c83d8d1" providerId="ADAL" clId="{22399DAE-D634-4E57-8CE9-6B65241521C5}" dt="2026-03-04T16:23:04.490" v="3669" actId="478"/>
          <ac:spMkLst>
            <pc:docMk/>
            <pc:sldMk cId="0" sldId="258"/>
            <ac:spMk id="24" creationId="{AD50580D-EE64-5226-5FDA-F4E7E3054890}"/>
          </ac:spMkLst>
        </pc:spChg>
      </pc:sldChg>
      <pc:sldChg chg="modSp mod modNotesTx">
        <pc:chgData name="John Burke" userId="6aa7ac9d-1481-4eb3-bba6-d1142c83d8d1" providerId="ADAL" clId="{22399DAE-D634-4E57-8CE9-6B65241521C5}" dt="2026-03-05T14:26:20.098" v="7975" actId="20577"/>
        <pc:sldMkLst>
          <pc:docMk/>
          <pc:sldMk cId="0" sldId="259"/>
        </pc:sldMkLst>
        <pc:spChg chg="mod">
          <ac:chgData name="John Burke" userId="6aa7ac9d-1481-4eb3-bba6-d1142c83d8d1" providerId="ADAL" clId="{22399DAE-D634-4E57-8CE9-6B65241521C5}" dt="2026-03-05T14:25:07.085" v="7776" actId="20577"/>
          <ac:spMkLst>
            <pc:docMk/>
            <pc:sldMk cId="0" sldId="259"/>
            <ac:spMk id="7" creationId="{00000000-0000-0000-0000-000000000000}"/>
          </ac:spMkLst>
        </pc:spChg>
      </pc:sldChg>
      <pc:sldChg chg="addSp delSp modSp mod modNotesTx">
        <pc:chgData name="John Burke" userId="6aa7ac9d-1481-4eb3-bba6-d1142c83d8d1" providerId="ADAL" clId="{22399DAE-D634-4E57-8CE9-6B65241521C5}" dt="2026-03-05T14:39:40.434" v="9172" actId="20577"/>
        <pc:sldMkLst>
          <pc:docMk/>
          <pc:sldMk cId="0" sldId="260"/>
        </pc:sldMkLst>
        <pc:spChg chg="mod">
          <ac:chgData name="John Burke" userId="6aa7ac9d-1481-4eb3-bba6-d1142c83d8d1" providerId="ADAL" clId="{22399DAE-D634-4E57-8CE9-6B65241521C5}" dt="2026-03-05T14:23:03.426" v="7594" actId="1035"/>
          <ac:spMkLst>
            <pc:docMk/>
            <pc:sldMk cId="0" sldId="260"/>
            <ac:spMk id="4" creationId="{00000000-0000-0000-0000-000000000000}"/>
          </ac:spMkLst>
        </pc:spChg>
        <pc:spChg chg="mod">
          <ac:chgData name="John Burke" userId="6aa7ac9d-1481-4eb3-bba6-d1142c83d8d1" providerId="ADAL" clId="{22399DAE-D634-4E57-8CE9-6B65241521C5}" dt="2026-03-05T14:23:03.426" v="7594" actId="1035"/>
          <ac:spMkLst>
            <pc:docMk/>
            <pc:sldMk cId="0" sldId="260"/>
            <ac:spMk id="5" creationId="{00000000-0000-0000-0000-000000000000}"/>
          </ac:spMkLst>
        </pc:spChg>
        <pc:spChg chg="mod">
          <ac:chgData name="John Burke" userId="6aa7ac9d-1481-4eb3-bba6-d1142c83d8d1" providerId="ADAL" clId="{22399DAE-D634-4E57-8CE9-6B65241521C5}" dt="2026-03-05T14:23:03.426" v="7594" actId="1035"/>
          <ac:spMkLst>
            <pc:docMk/>
            <pc:sldMk cId="0" sldId="260"/>
            <ac:spMk id="6" creationId="{00000000-0000-0000-0000-000000000000}"/>
          </ac:spMkLst>
        </pc:spChg>
        <pc:spChg chg="mod">
          <ac:chgData name="John Burke" userId="6aa7ac9d-1481-4eb3-bba6-d1142c83d8d1" providerId="ADAL" clId="{22399DAE-D634-4E57-8CE9-6B65241521C5}" dt="2026-03-05T14:23:03.426" v="7594" actId="1035"/>
          <ac:spMkLst>
            <pc:docMk/>
            <pc:sldMk cId="0" sldId="260"/>
            <ac:spMk id="7" creationId="{00000000-0000-0000-0000-000000000000}"/>
          </ac:spMkLst>
        </pc:spChg>
        <pc:spChg chg="mod">
          <ac:chgData name="John Burke" userId="6aa7ac9d-1481-4eb3-bba6-d1142c83d8d1" providerId="ADAL" clId="{22399DAE-D634-4E57-8CE9-6B65241521C5}" dt="2026-03-05T14:23:03.426" v="7594" actId="1035"/>
          <ac:spMkLst>
            <pc:docMk/>
            <pc:sldMk cId="0" sldId="260"/>
            <ac:spMk id="8" creationId="{00000000-0000-0000-0000-000000000000}"/>
          </ac:spMkLst>
        </pc:spChg>
        <pc:spChg chg="mod">
          <ac:chgData name="John Burke" userId="6aa7ac9d-1481-4eb3-bba6-d1142c83d8d1" providerId="ADAL" clId="{22399DAE-D634-4E57-8CE9-6B65241521C5}" dt="2026-03-05T14:23:03.426" v="7594" actId="1035"/>
          <ac:spMkLst>
            <pc:docMk/>
            <pc:sldMk cId="0" sldId="260"/>
            <ac:spMk id="9" creationId="{00000000-0000-0000-0000-000000000000}"/>
          </ac:spMkLst>
        </pc:spChg>
        <pc:spChg chg="mod">
          <ac:chgData name="John Burke" userId="6aa7ac9d-1481-4eb3-bba6-d1142c83d8d1" providerId="ADAL" clId="{22399DAE-D634-4E57-8CE9-6B65241521C5}" dt="2026-03-05T14:23:03.426" v="7594" actId="1035"/>
          <ac:spMkLst>
            <pc:docMk/>
            <pc:sldMk cId="0" sldId="260"/>
            <ac:spMk id="10" creationId="{00000000-0000-0000-0000-000000000000}"/>
          </ac:spMkLst>
        </pc:spChg>
        <pc:spChg chg="mod">
          <ac:chgData name="John Burke" userId="6aa7ac9d-1481-4eb3-bba6-d1142c83d8d1" providerId="ADAL" clId="{22399DAE-D634-4E57-8CE9-6B65241521C5}" dt="2026-03-05T14:23:03.426" v="7594" actId="1035"/>
          <ac:spMkLst>
            <pc:docMk/>
            <pc:sldMk cId="0" sldId="260"/>
            <ac:spMk id="11" creationId="{00000000-0000-0000-0000-000000000000}"/>
          </ac:spMkLst>
        </pc:spChg>
        <pc:spChg chg="mod">
          <ac:chgData name="John Burke" userId="6aa7ac9d-1481-4eb3-bba6-d1142c83d8d1" providerId="ADAL" clId="{22399DAE-D634-4E57-8CE9-6B65241521C5}" dt="2026-03-05T14:34:35.027" v="8968" actId="20577"/>
          <ac:spMkLst>
            <pc:docMk/>
            <pc:sldMk cId="0" sldId="260"/>
            <ac:spMk id="12" creationId="{00000000-0000-0000-0000-000000000000}"/>
          </ac:spMkLst>
        </pc:spChg>
        <pc:spChg chg="del mod">
          <ac:chgData name="John Burke" userId="6aa7ac9d-1481-4eb3-bba6-d1142c83d8d1" providerId="ADAL" clId="{22399DAE-D634-4E57-8CE9-6B65241521C5}" dt="2026-03-04T17:36:23.082" v="6539" actId="478"/>
          <ac:spMkLst>
            <pc:docMk/>
            <pc:sldMk cId="0" sldId="260"/>
            <ac:spMk id="13" creationId="{00000000-0000-0000-0000-000000000000}"/>
          </ac:spMkLst>
        </pc:spChg>
        <pc:spChg chg="add mod">
          <ac:chgData name="John Burke" userId="6aa7ac9d-1481-4eb3-bba6-d1142c83d8d1" providerId="ADAL" clId="{22399DAE-D634-4E57-8CE9-6B65241521C5}" dt="2026-03-05T14:22:57.612" v="7587" actId="571"/>
          <ac:spMkLst>
            <pc:docMk/>
            <pc:sldMk cId="0" sldId="260"/>
            <ac:spMk id="13" creationId="{ED414CC2-BEDE-9376-6E7E-2EC18BEE9581}"/>
          </ac:spMkLst>
        </pc:spChg>
        <pc:spChg chg="del mod">
          <ac:chgData name="John Burke" userId="6aa7ac9d-1481-4eb3-bba6-d1142c83d8d1" providerId="ADAL" clId="{22399DAE-D634-4E57-8CE9-6B65241521C5}" dt="2026-03-04T17:36:26.970" v="6540" actId="478"/>
          <ac:spMkLst>
            <pc:docMk/>
            <pc:sldMk cId="0" sldId="260"/>
            <ac:spMk id="14" creationId="{00000000-0000-0000-0000-000000000000}"/>
          </ac:spMkLst>
        </pc:spChg>
        <pc:spChg chg="add mod">
          <ac:chgData name="John Burke" userId="6aa7ac9d-1481-4eb3-bba6-d1142c83d8d1" providerId="ADAL" clId="{22399DAE-D634-4E57-8CE9-6B65241521C5}" dt="2026-03-05T14:22:57.612" v="7587" actId="571"/>
          <ac:spMkLst>
            <pc:docMk/>
            <pc:sldMk cId="0" sldId="260"/>
            <ac:spMk id="14" creationId="{C7E739DC-B783-1FAD-127D-6C72C4EA8834}"/>
          </ac:spMkLst>
        </pc:spChg>
        <pc:spChg chg="add mod">
          <ac:chgData name="John Burke" userId="6aa7ac9d-1481-4eb3-bba6-d1142c83d8d1" providerId="ADAL" clId="{22399DAE-D634-4E57-8CE9-6B65241521C5}" dt="2026-03-05T14:22:57.612" v="7587" actId="571"/>
          <ac:spMkLst>
            <pc:docMk/>
            <pc:sldMk cId="0" sldId="260"/>
            <ac:spMk id="15" creationId="{A0A59EC7-DBC6-2C30-B1AE-C9CEDAC569D5}"/>
          </ac:spMkLst>
        </pc:spChg>
        <pc:spChg chg="add mod">
          <ac:chgData name="John Burke" userId="6aa7ac9d-1481-4eb3-bba6-d1142c83d8d1" providerId="ADAL" clId="{22399DAE-D634-4E57-8CE9-6B65241521C5}" dt="2026-03-05T14:22:57.612" v="7587" actId="571"/>
          <ac:spMkLst>
            <pc:docMk/>
            <pc:sldMk cId="0" sldId="260"/>
            <ac:spMk id="16" creationId="{B37F37A0-D1BF-5F8A-5AB3-85BFB151B46E}"/>
          </ac:spMkLst>
        </pc:spChg>
        <pc:spChg chg="add del mod">
          <ac:chgData name="John Burke" userId="6aa7ac9d-1481-4eb3-bba6-d1142c83d8d1" providerId="ADAL" clId="{22399DAE-D634-4E57-8CE9-6B65241521C5}" dt="2026-03-05T14:37:08.308" v="9053" actId="478"/>
          <ac:spMkLst>
            <pc:docMk/>
            <pc:sldMk cId="0" sldId="260"/>
            <ac:spMk id="17" creationId="{32BDCEF6-AA13-A8E8-D666-F68CE3B09084}"/>
          </ac:spMkLst>
        </pc:spChg>
      </pc:sldChg>
      <pc:sldChg chg="modSp del mod ord">
        <pc:chgData name="John Burke" userId="6aa7ac9d-1481-4eb3-bba6-d1142c83d8d1" providerId="ADAL" clId="{22399DAE-D634-4E57-8CE9-6B65241521C5}" dt="2026-03-05T18:03:21.637" v="15881" actId="47"/>
        <pc:sldMkLst>
          <pc:docMk/>
          <pc:sldMk cId="0" sldId="261"/>
        </pc:sldMkLst>
        <pc:spChg chg="mod">
          <ac:chgData name="John Burke" userId="6aa7ac9d-1481-4eb3-bba6-d1142c83d8d1" providerId="ADAL" clId="{22399DAE-D634-4E57-8CE9-6B65241521C5}" dt="2026-03-04T17:39:25.347" v="6707" actId="20577"/>
          <ac:spMkLst>
            <pc:docMk/>
            <pc:sldMk cId="0" sldId="261"/>
            <ac:spMk id="10" creationId="{00000000-0000-0000-0000-000000000000}"/>
          </ac:spMkLst>
        </pc:spChg>
        <pc:spChg chg="mod">
          <ac:chgData name="John Burke" userId="6aa7ac9d-1481-4eb3-bba6-d1142c83d8d1" providerId="ADAL" clId="{22399DAE-D634-4E57-8CE9-6B65241521C5}" dt="2026-03-04T17:39:53.152" v="6757" actId="20577"/>
          <ac:spMkLst>
            <pc:docMk/>
            <pc:sldMk cId="0" sldId="261"/>
            <ac:spMk id="11" creationId="{00000000-0000-0000-0000-000000000000}"/>
          </ac:spMkLst>
        </pc:spChg>
        <pc:spChg chg="mod">
          <ac:chgData name="John Burke" userId="6aa7ac9d-1481-4eb3-bba6-d1142c83d8d1" providerId="ADAL" clId="{22399DAE-D634-4E57-8CE9-6B65241521C5}" dt="2026-03-04T17:38:41.296" v="6677" actId="20577"/>
          <ac:spMkLst>
            <pc:docMk/>
            <pc:sldMk cId="0" sldId="261"/>
            <ac:spMk id="15" creationId="{00000000-0000-0000-0000-000000000000}"/>
          </ac:spMkLst>
        </pc:spChg>
        <pc:spChg chg="mod">
          <ac:chgData name="John Burke" userId="6aa7ac9d-1481-4eb3-bba6-d1142c83d8d1" providerId="ADAL" clId="{22399DAE-D634-4E57-8CE9-6B65241521C5}" dt="2026-03-04T17:37:34.228" v="6554" actId="313"/>
          <ac:spMkLst>
            <pc:docMk/>
            <pc:sldMk cId="0" sldId="261"/>
            <ac:spMk id="18" creationId="{00000000-0000-0000-0000-000000000000}"/>
          </ac:spMkLst>
        </pc:spChg>
        <pc:spChg chg="mod">
          <ac:chgData name="John Burke" userId="6aa7ac9d-1481-4eb3-bba6-d1142c83d8d1" providerId="ADAL" clId="{22399DAE-D634-4E57-8CE9-6B65241521C5}" dt="2026-03-04T17:38:04.293" v="6653" actId="20577"/>
          <ac:spMkLst>
            <pc:docMk/>
            <pc:sldMk cId="0" sldId="261"/>
            <ac:spMk id="19" creationId="{00000000-0000-0000-0000-000000000000}"/>
          </ac:spMkLst>
        </pc:spChg>
      </pc:sldChg>
      <pc:sldChg chg="del">
        <pc:chgData name="John Burke" userId="6aa7ac9d-1481-4eb3-bba6-d1142c83d8d1" providerId="ADAL" clId="{22399DAE-D634-4E57-8CE9-6B65241521C5}" dt="2026-03-05T18:03:23.289" v="15882" actId="47"/>
        <pc:sldMkLst>
          <pc:docMk/>
          <pc:sldMk cId="0" sldId="262"/>
        </pc:sldMkLst>
      </pc:sldChg>
      <pc:sldChg chg="del">
        <pc:chgData name="John Burke" userId="6aa7ac9d-1481-4eb3-bba6-d1142c83d8d1" providerId="ADAL" clId="{22399DAE-D634-4E57-8CE9-6B65241521C5}" dt="2026-03-05T18:03:24.256" v="15883" actId="47"/>
        <pc:sldMkLst>
          <pc:docMk/>
          <pc:sldMk cId="0" sldId="263"/>
        </pc:sldMkLst>
      </pc:sldChg>
      <pc:sldChg chg="del">
        <pc:chgData name="John Burke" userId="6aa7ac9d-1481-4eb3-bba6-d1142c83d8d1" providerId="ADAL" clId="{22399DAE-D634-4E57-8CE9-6B65241521C5}" dt="2026-03-05T18:03:25.643" v="15884" actId="47"/>
        <pc:sldMkLst>
          <pc:docMk/>
          <pc:sldMk cId="0" sldId="264"/>
        </pc:sldMkLst>
      </pc:sldChg>
      <pc:sldChg chg="del">
        <pc:chgData name="John Burke" userId="6aa7ac9d-1481-4eb3-bba6-d1142c83d8d1" providerId="ADAL" clId="{22399DAE-D634-4E57-8CE9-6B65241521C5}" dt="2026-03-05T18:03:32.004" v="15885" actId="47"/>
        <pc:sldMkLst>
          <pc:docMk/>
          <pc:sldMk cId="0" sldId="265"/>
        </pc:sldMkLst>
      </pc:sldChg>
      <pc:sldChg chg="addSp delSp modSp new mod ord setBg modNotesTx">
        <pc:chgData name="John Burke" userId="6aa7ac9d-1481-4eb3-bba6-d1142c83d8d1" providerId="ADAL" clId="{22399DAE-D634-4E57-8CE9-6B65241521C5}" dt="2026-03-04T16:42:35.662" v="6052" actId="1038"/>
        <pc:sldMkLst>
          <pc:docMk/>
          <pc:sldMk cId="610089375" sldId="266"/>
        </pc:sldMkLst>
        <pc:spChg chg="add mod">
          <ac:chgData name="John Burke" userId="6aa7ac9d-1481-4eb3-bba6-d1142c83d8d1" providerId="ADAL" clId="{22399DAE-D634-4E57-8CE9-6B65241521C5}" dt="2026-03-03T03:27:11.958" v="51" actId="164"/>
          <ac:spMkLst>
            <pc:docMk/>
            <pc:sldMk cId="610089375" sldId="266"/>
            <ac:spMk id="2" creationId="{CBAF7E76-F1B5-11E8-1CE8-0B25BE37D49A}"/>
          </ac:spMkLst>
        </pc:spChg>
        <pc:spChg chg="add mod ord">
          <ac:chgData name="John Burke" userId="6aa7ac9d-1481-4eb3-bba6-d1142c83d8d1" providerId="ADAL" clId="{22399DAE-D634-4E57-8CE9-6B65241521C5}" dt="2026-03-03T03:35:42.502" v="142" actId="1038"/>
          <ac:spMkLst>
            <pc:docMk/>
            <pc:sldMk cId="610089375" sldId="266"/>
            <ac:spMk id="3" creationId="{A3D342C1-C99C-3FB3-21DF-DBC1BBA10627}"/>
          </ac:spMkLst>
        </pc:spChg>
        <pc:spChg chg="add mod">
          <ac:chgData name="John Burke" userId="6aa7ac9d-1481-4eb3-bba6-d1142c83d8d1" providerId="ADAL" clId="{22399DAE-D634-4E57-8CE9-6B65241521C5}" dt="2026-03-03T03:23:37.210" v="19" actId="164"/>
          <ac:spMkLst>
            <pc:docMk/>
            <pc:sldMk cId="610089375" sldId="266"/>
            <ac:spMk id="4" creationId="{BA2C976B-A732-133A-E3A0-3C6FB1854FB9}"/>
          </ac:spMkLst>
        </pc:spChg>
        <pc:spChg chg="add mod">
          <ac:chgData name="John Burke" userId="6aa7ac9d-1481-4eb3-bba6-d1142c83d8d1" providerId="ADAL" clId="{22399DAE-D634-4E57-8CE9-6B65241521C5}" dt="2026-03-03T03:23:37.210" v="19" actId="164"/>
          <ac:spMkLst>
            <pc:docMk/>
            <pc:sldMk cId="610089375" sldId="266"/>
            <ac:spMk id="5" creationId="{98AEB06B-D4DE-2B78-180C-3FA28BE55BC6}"/>
          </ac:spMkLst>
        </pc:spChg>
        <pc:spChg chg="mod">
          <ac:chgData name="John Burke" userId="6aa7ac9d-1481-4eb3-bba6-d1142c83d8d1" providerId="ADAL" clId="{22399DAE-D634-4E57-8CE9-6B65241521C5}" dt="2026-03-03T03:23:48.287" v="22"/>
          <ac:spMkLst>
            <pc:docMk/>
            <pc:sldMk cId="610089375" sldId="266"/>
            <ac:spMk id="8" creationId="{6D8DE5BC-2109-4917-1F15-09876C0131C6}"/>
          </ac:spMkLst>
        </pc:spChg>
        <pc:spChg chg="mod">
          <ac:chgData name="John Burke" userId="6aa7ac9d-1481-4eb3-bba6-d1142c83d8d1" providerId="ADAL" clId="{22399DAE-D634-4E57-8CE9-6B65241521C5}" dt="2026-03-03T03:23:48.287" v="22"/>
          <ac:spMkLst>
            <pc:docMk/>
            <pc:sldMk cId="610089375" sldId="266"/>
            <ac:spMk id="9" creationId="{1B639CB3-B8B3-1231-6F79-848AB61B525F}"/>
          </ac:spMkLst>
        </pc:spChg>
        <pc:spChg chg="mod">
          <ac:chgData name="John Burke" userId="6aa7ac9d-1481-4eb3-bba6-d1142c83d8d1" providerId="ADAL" clId="{22399DAE-D634-4E57-8CE9-6B65241521C5}" dt="2026-03-03T03:23:55.117" v="24"/>
          <ac:spMkLst>
            <pc:docMk/>
            <pc:sldMk cId="610089375" sldId="266"/>
            <ac:spMk id="11" creationId="{E86C4584-2625-A825-7B67-219C1B96DBC2}"/>
          </ac:spMkLst>
        </pc:spChg>
        <pc:spChg chg="mod">
          <ac:chgData name="John Burke" userId="6aa7ac9d-1481-4eb3-bba6-d1142c83d8d1" providerId="ADAL" clId="{22399DAE-D634-4E57-8CE9-6B65241521C5}" dt="2026-03-03T03:23:55.117" v="24"/>
          <ac:spMkLst>
            <pc:docMk/>
            <pc:sldMk cId="610089375" sldId="266"/>
            <ac:spMk id="12" creationId="{EFD4792D-7F91-915B-C78F-6758D57E00AC}"/>
          </ac:spMkLst>
        </pc:spChg>
        <pc:spChg chg="mod">
          <ac:chgData name="John Burke" userId="6aa7ac9d-1481-4eb3-bba6-d1142c83d8d1" providerId="ADAL" clId="{22399DAE-D634-4E57-8CE9-6B65241521C5}" dt="2026-03-03T03:24:08.735" v="28"/>
          <ac:spMkLst>
            <pc:docMk/>
            <pc:sldMk cId="610089375" sldId="266"/>
            <ac:spMk id="14" creationId="{4B28E8F9-9203-845B-23DC-9E20C82E695B}"/>
          </ac:spMkLst>
        </pc:spChg>
        <pc:spChg chg="mod">
          <ac:chgData name="John Burke" userId="6aa7ac9d-1481-4eb3-bba6-d1142c83d8d1" providerId="ADAL" clId="{22399DAE-D634-4E57-8CE9-6B65241521C5}" dt="2026-03-03T03:24:08.735" v="28"/>
          <ac:spMkLst>
            <pc:docMk/>
            <pc:sldMk cId="610089375" sldId="266"/>
            <ac:spMk id="15" creationId="{16C2824A-82F6-055A-61FE-662ABDE432C0}"/>
          </ac:spMkLst>
        </pc:spChg>
        <pc:spChg chg="add mod">
          <ac:chgData name="John Burke" userId="6aa7ac9d-1481-4eb3-bba6-d1142c83d8d1" providerId="ADAL" clId="{22399DAE-D634-4E57-8CE9-6B65241521C5}" dt="2026-03-03T03:27:11.958" v="51" actId="164"/>
          <ac:spMkLst>
            <pc:docMk/>
            <pc:sldMk cId="610089375" sldId="266"/>
            <ac:spMk id="16" creationId="{2A09409A-0501-B548-D45C-5C80E2655FFB}"/>
          </ac:spMkLst>
        </pc:spChg>
        <pc:spChg chg="add mod">
          <ac:chgData name="John Burke" userId="6aa7ac9d-1481-4eb3-bba6-d1142c83d8d1" providerId="ADAL" clId="{22399DAE-D634-4E57-8CE9-6B65241521C5}" dt="2026-03-03T03:27:11.958" v="51" actId="164"/>
          <ac:spMkLst>
            <pc:docMk/>
            <pc:sldMk cId="610089375" sldId="266"/>
            <ac:spMk id="17" creationId="{6FA93F13-DC37-AE2B-F24E-D5E908A650FF}"/>
          </ac:spMkLst>
        </pc:spChg>
        <pc:spChg chg="add mod">
          <ac:chgData name="John Burke" userId="6aa7ac9d-1481-4eb3-bba6-d1142c83d8d1" providerId="ADAL" clId="{22399DAE-D634-4E57-8CE9-6B65241521C5}" dt="2026-03-03T03:27:11.958" v="51" actId="164"/>
          <ac:spMkLst>
            <pc:docMk/>
            <pc:sldMk cId="610089375" sldId="266"/>
            <ac:spMk id="18" creationId="{2E528215-2353-824B-96F6-D26E876D6D6E}"/>
          </ac:spMkLst>
        </pc:spChg>
        <pc:spChg chg="add mod">
          <ac:chgData name="John Burke" userId="6aa7ac9d-1481-4eb3-bba6-d1142c83d8d1" providerId="ADAL" clId="{22399DAE-D634-4E57-8CE9-6B65241521C5}" dt="2026-03-03T03:27:11.958" v="51" actId="164"/>
          <ac:spMkLst>
            <pc:docMk/>
            <pc:sldMk cId="610089375" sldId="266"/>
            <ac:spMk id="19" creationId="{AC66CD23-9A4C-9AEC-1152-1E4FA3E01A2F}"/>
          </ac:spMkLst>
        </pc:spChg>
        <pc:spChg chg="add mod">
          <ac:chgData name="John Burke" userId="6aa7ac9d-1481-4eb3-bba6-d1142c83d8d1" providerId="ADAL" clId="{22399DAE-D634-4E57-8CE9-6B65241521C5}" dt="2026-03-03T03:42:19.805" v="348" actId="20577"/>
          <ac:spMkLst>
            <pc:docMk/>
            <pc:sldMk cId="610089375" sldId="266"/>
            <ac:spMk id="33" creationId="{A4F20BA9-CC13-61EF-3274-59D4687EB370}"/>
          </ac:spMkLst>
        </pc:spChg>
        <pc:spChg chg="add mod">
          <ac:chgData name="John Burke" userId="6aa7ac9d-1481-4eb3-bba6-d1142c83d8d1" providerId="ADAL" clId="{22399DAE-D634-4E57-8CE9-6B65241521C5}" dt="2026-03-04T16:42:35.662" v="6052" actId="1038"/>
          <ac:spMkLst>
            <pc:docMk/>
            <pc:sldMk cId="610089375" sldId="266"/>
            <ac:spMk id="36" creationId="{091718CD-D8A4-A6F9-7F96-C9A331FEE0FA}"/>
          </ac:spMkLst>
        </pc:spChg>
        <pc:spChg chg="add mod">
          <ac:chgData name="John Burke" userId="6aa7ac9d-1481-4eb3-bba6-d1142c83d8d1" providerId="ADAL" clId="{22399DAE-D634-4E57-8CE9-6B65241521C5}" dt="2026-03-04T16:42:20.400" v="6014" actId="1038"/>
          <ac:spMkLst>
            <pc:docMk/>
            <pc:sldMk cId="610089375" sldId="266"/>
            <ac:spMk id="37" creationId="{E98846A5-5193-C16E-7276-A7C76CD26D51}"/>
          </ac:spMkLst>
        </pc:spChg>
        <pc:grpChg chg="add mod">
          <ac:chgData name="John Burke" userId="6aa7ac9d-1481-4eb3-bba6-d1142c83d8d1" providerId="ADAL" clId="{22399DAE-D634-4E57-8CE9-6B65241521C5}" dt="2026-03-03T03:37:11.140" v="175" actId="1076"/>
          <ac:grpSpMkLst>
            <pc:docMk/>
            <pc:sldMk cId="610089375" sldId="266"/>
            <ac:grpSpMk id="6" creationId="{7AC40EA7-B06B-CD6B-E525-A1952546F21A}"/>
          </ac:grpSpMkLst>
        </pc:grpChg>
        <pc:grpChg chg="add mod">
          <ac:chgData name="John Burke" userId="6aa7ac9d-1481-4eb3-bba6-d1142c83d8d1" providerId="ADAL" clId="{22399DAE-D634-4E57-8CE9-6B65241521C5}" dt="2026-03-03T03:35:42.502" v="142" actId="1038"/>
          <ac:grpSpMkLst>
            <pc:docMk/>
            <pc:sldMk cId="610089375" sldId="266"/>
            <ac:grpSpMk id="7" creationId="{D5180B50-73E3-D45F-D268-D7EAB678CA03}"/>
          </ac:grpSpMkLst>
        </pc:grpChg>
        <pc:grpChg chg="add mod">
          <ac:chgData name="John Burke" userId="6aa7ac9d-1481-4eb3-bba6-d1142c83d8d1" providerId="ADAL" clId="{22399DAE-D634-4E57-8CE9-6B65241521C5}" dt="2026-03-03T03:35:42.502" v="142" actId="1038"/>
          <ac:grpSpMkLst>
            <pc:docMk/>
            <pc:sldMk cId="610089375" sldId="266"/>
            <ac:grpSpMk id="10" creationId="{5C9EF9E5-2F56-CFFF-1DF5-549D176A3DB0}"/>
          </ac:grpSpMkLst>
        </pc:grpChg>
        <pc:grpChg chg="add mod">
          <ac:chgData name="John Burke" userId="6aa7ac9d-1481-4eb3-bba6-d1142c83d8d1" providerId="ADAL" clId="{22399DAE-D634-4E57-8CE9-6B65241521C5}" dt="2026-03-03T03:35:42.502" v="142" actId="1038"/>
          <ac:grpSpMkLst>
            <pc:docMk/>
            <pc:sldMk cId="610089375" sldId="266"/>
            <ac:grpSpMk id="13" creationId="{1F14FD52-09B2-AC7E-E7B9-2E633102C5D2}"/>
          </ac:grpSpMkLst>
        </pc:grpChg>
        <pc:grpChg chg="add mod">
          <ac:chgData name="John Burke" userId="6aa7ac9d-1481-4eb3-bba6-d1142c83d8d1" providerId="ADAL" clId="{22399DAE-D634-4E57-8CE9-6B65241521C5}" dt="2026-03-03T03:35:42.502" v="142" actId="1038"/>
          <ac:grpSpMkLst>
            <pc:docMk/>
            <pc:sldMk cId="610089375" sldId="266"/>
            <ac:grpSpMk id="20" creationId="{386C8E75-0E36-63E8-5539-7C8962A85FDD}"/>
          </ac:grpSpMkLst>
        </pc:grpChg>
      </pc:sldChg>
      <pc:sldChg chg="addSp delSp modSp add mod setBg modNotesTx">
        <pc:chgData name="John Burke" userId="6aa7ac9d-1481-4eb3-bba6-d1142c83d8d1" providerId="ADAL" clId="{22399DAE-D634-4E57-8CE9-6B65241521C5}" dt="2026-03-04T16:43:52.118" v="6055" actId="1076"/>
        <pc:sldMkLst>
          <pc:docMk/>
          <pc:sldMk cId="3424049213" sldId="267"/>
        </pc:sldMkLst>
        <pc:spChg chg="mod">
          <ac:chgData name="John Burke" userId="6aa7ac9d-1481-4eb3-bba6-d1142c83d8d1" providerId="ADAL" clId="{22399DAE-D634-4E57-8CE9-6B65241521C5}" dt="2026-03-03T03:52:06.069" v="366" actId="164"/>
          <ac:spMkLst>
            <pc:docMk/>
            <pc:sldMk cId="3424049213" sldId="267"/>
            <ac:spMk id="3" creationId="{928189A6-1244-76CC-8C84-95EF43E01E7B}"/>
          </ac:spMkLst>
        </pc:spChg>
        <pc:spChg chg="add mod">
          <ac:chgData name="John Burke" userId="6aa7ac9d-1481-4eb3-bba6-d1142c83d8d1" providerId="ADAL" clId="{22399DAE-D634-4E57-8CE9-6B65241521C5}" dt="2026-03-03T04:02:28.928" v="634" actId="255"/>
          <ac:spMkLst>
            <pc:docMk/>
            <pc:sldMk cId="3424049213" sldId="267"/>
            <ac:spMk id="21" creationId="{C8FCFE18-575B-B500-EA0E-3AD345C2896D}"/>
          </ac:spMkLst>
        </pc:spChg>
        <pc:spChg chg="mod">
          <ac:chgData name="John Burke" userId="6aa7ac9d-1481-4eb3-bba6-d1142c83d8d1" providerId="ADAL" clId="{22399DAE-D634-4E57-8CE9-6B65241521C5}" dt="2026-03-03T04:00:58.207" v="611" actId="1037"/>
          <ac:spMkLst>
            <pc:docMk/>
            <pc:sldMk cId="3424049213" sldId="267"/>
            <ac:spMk id="22" creationId="{34E7EAB8-5221-0A93-28A1-2BF3AD4F3CAD}"/>
          </ac:spMkLst>
        </pc:spChg>
        <pc:spChg chg="mod">
          <ac:chgData name="John Burke" userId="6aa7ac9d-1481-4eb3-bba6-d1142c83d8d1" providerId="ADAL" clId="{22399DAE-D634-4E57-8CE9-6B65241521C5}" dt="2026-03-03T04:00:58.207" v="611" actId="1037"/>
          <ac:spMkLst>
            <pc:docMk/>
            <pc:sldMk cId="3424049213" sldId="267"/>
            <ac:spMk id="23" creationId="{8E5CE336-5527-83F8-7968-71FD4642ABC4}"/>
          </ac:spMkLst>
        </pc:spChg>
        <pc:spChg chg="mod">
          <ac:chgData name="John Burke" userId="6aa7ac9d-1481-4eb3-bba6-d1142c83d8d1" providerId="ADAL" clId="{22399DAE-D634-4E57-8CE9-6B65241521C5}" dt="2026-03-03T04:00:58.207" v="611" actId="1037"/>
          <ac:spMkLst>
            <pc:docMk/>
            <pc:sldMk cId="3424049213" sldId="267"/>
            <ac:spMk id="24" creationId="{B3B93579-5831-14F3-065F-280EF6A0255D}"/>
          </ac:spMkLst>
        </pc:spChg>
        <pc:spChg chg="mod">
          <ac:chgData name="John Burke" userId="6aa7ac9d-1481-4eb3-bba6-d1142c83d8d1" providerId="ADAL" clId="{22399DAE-D634-4E57-8CE9-6B65241521C5}" dt="2026-03-03T04:00:58.207" v="611" actId="1037"/>
          <ac:spMkLst>
            <pc:docMk/>
            <pc:sldMk cId="3424049213" sldId="267"/>
            <ac:spMk id="26" creationId="{91ACA85A-BCE1-AC4E-6E65-2549E9B04FD8}"/>
          </ac:spMkLst>
        </pc:spChg>
        <pc:spChg chg="mod">
          <ac:chgData name="John Burke" userId="6aa7ac9d-1481-4eb3-bba6-d1142c83d8d1" providerId="ADAL" clId="{22399DAE-D634-4E57-8CE9-6B65241521C5}" dt="2026-03-03T04:00:58.207" v="611" actId="1037"/>
          <ac:spMkLst>
            <pc:docMk/>
            <pc:sldMk cId="3424049213" sldId="267"/>
            <ac:spMk id="27" creationId="{5A1DEC46-BDBA-8034-A4F1-D538D95CCD50}"/>
          </ac:spMkLst>
        </pc:spChg>
        <pc:spChg chg="mod">
          <ac:chgData name="John Burke" userId="6aa7ac9d-1481-4eb3-bba6-d1142c83d8d1" providerId="ADAL" clId="{22399DAE-D634-4E57-8CE9-6B65241521C5}" dt="2026-03-03T04:00:58.207" v="611" actId="1037"/>
          <ac:spMkLst>
            <pc:docMk/>
            <pc:sldMk cId="3424049213" sldId="267"/>
            <ac:spMk id="28" creationId="{4D44CA4A-204B-A46E-0440-185BEC64E56E}"/>
          </ac:spMkLst>
        </pc:spChg>
        <pc:spChg chg="mod">
          <ac:chgData name="John Burke" userId="6aa7ac9d-1481-4eb3-bba6-d1142c83d8d1" providerId="ADAL" clId="{22399DAE-D634-4E57-8CE9-6B65241521C5}" dt="2026-03-03T04:00:58.207" v="611" actId="1037"/>
          <ac:spMkLst>
            <pc:docMk/>
            <pc:sldMk cId="3424049213" sldId="267"/>
            <ac:spMk id="29" creationId="{DDEAC073-93B3-DB85-257B-98ED5DE00D73}"/>
          </ac:spMkLst>
        </pc:spChg>
        <pc:spChg chg="mod">
          <ac:chgData name="John Burke" userId="6aa7ac9d-1481-4eb3-bba6-d1142c83d8d1" providerId="ADAL" clId="{22399DAE-D634-4E57-8CE9-6B65241521C5}" dt="2026-03-03T04:00:58.207" v="611" actId="1037"/>
          <ac:spMkLst>
            <pc:docMk/>
            <pc:sldMk cId="3424049213" sldId="267"/>
            <ac:spMk id="30" creationId="{638F7C85-E9D4-21D4-ED7A-EC370011EB31}"/>
          </ac:spMkLst>
        </pc:spChg>
        <pc:spChg chg="mod">
          <ac:chgData name="John Burke" userId="6aa7ac9d-1481-4eb3-bba6-d1142c83d8d1" providerId="ADAL" clId="{22399DAE-D634-4E57-8CE9-6B65241521C5}" dt="2026-03-03T04:00:58.207" v="611" actId="1037"/>
          <ac:spMkLst>
            <pc:docMk/>
            <pc:sldMk cId="3424049213" sldId="267"/>
            <ac:spMk id="31" creationId="{3A248218-A2B1-DE8E-77E0-EC8E6475E7CF}"/>
          </ac:spMkLst>
        </pc:spChg>
        <pc:spChg chg="add mod">
          <ac:chgData name="John Burke" userId="6aa7ac9d-1481-4eb3-bba6-d1142c83d8d1" providerId="ADAL" clId="{22399DAE-D634-4E57-8CE9-6B65241521C5}" dt="2026-03-03T03:52:31.920" v="373"/>
          <ac:spMkLst>
            <pc:docMk/>
            <pc:sldMk cId="3424049213" sldId="267"/>
            <ac:spMk id="34" creationId="{8E011E4F-A2BC-972F-2200-F082B25B5606}"/>
          </ac:spMkLst>
        </pc:spChg>
        <pc:spChg chg="add mod">
          <ac:chgData name="John Burke" userId="6aa7ac9d-1481-4eb3-bba6-d1142c83d8d1" providerId="ADAL" clId="{22399DAE-D634-4E57-8CE9-6B65241521C5}" dt="2026-03-03T04:03:48.840" v="635" actId="255"/>
          <ac:spMkLst>
            <pc:docMk/>
            <pc:sldMk cId="3424049213" sldId="267"/>
            <ac:spMk id="35" creationId="{FEDE2239-4F09-46EE-3F98-08E0A8BF0447}"/>
          </ac:spMkLst>
        </pc:spChg>
        <pc:spChg chg="add del mod">
          <ac:chgData name="John Burke" userId="6aa7ac9d-1481-4eb3-bba6-d1142c83d8d1" providerId="ADAL" clId="{22399DAE-D634-4E57-8CE9-6B65241521C5}" dt="2026-03-03T04:04:02.687" v="645" actId="255"/>
          <ac:spMkLst>
            <pc:docMk/>
            <pc:sldMk cId="3424049213" sldId="267"/>
            <ac:spMk id="36" creationId="{B67F36BD-378B-19FE-2C36-E33FF5306D33}"/>
          </ac:spMkLst>
        </pc:spChg>
        <pc:spChg chg="add mod">
          <ac:chgData name="John Burke" userId="6aa7ac9d-1481-4eb3-bba6-d1142c83d8d1" providerId="ADAL" clId="{22399DAE-D634-4E57-8CE9-6B65241521C5}" dt="2026-03-04T16:43:52.118" v="6055" actId="1076"/>
          <ac:spMkLst>
            <pc:docMk/>
            <pc:sldMk cId="3424049213" sldId="267"/>
            <ac:spMk id="38" creationId="{7E877C90-6AA4-056B-F93E-3F104A033819}"/>
          </ac:spMkLst>
        </pc:spChg>
        <pc:grpChg chg="mod">
          <ac:chgData name="John Burke" userId="6aa7ac9d-1481-4eb3-bba6-d1142c83d8d1" providerId="ADAL" clId="{22399DAE-D634-4E57-8CE9-6B65241521C5}" dt="2026-03-03T03:52:06.069" v="366" actId="164"/>
          <ac:grpSpMkLst>
            <pc:docMk/>
            <pc:sldMk cId="3424049213" sldId="267"/>
            <ac:grpSpMk id="6" creationId="{19CC2F45-E1A7-4800-69C5-AA30FCB4FE82}"/>
          </ac:grpSpMkLst>
        </pc:grpChg>
        <pc:grpChg chg="mod">
          <ac:chgData name="John Burke" userId="6aa7ac9d-1481-4eb3-bba6-d1142c83d8d1" providerId="ADAL" clId="{22399DAE-D634-4E57-8CE9-6B65241521C5}" dt="2026-03-03T03:52:06.069" v="366" actId="164"/>
          <ac:grpSpMkLst>
            <pc:docMk/>
            <pc:sldMk cId="3424049213" sldId="267"/>
            <ac:grpSpMk id="7" creationId="{C297DA4B-1862-E454-235B-F561C21E48E6}"/>
          </ac:grpSpMkLst>
        </pc:grpChg>
        <pc:grpChg chg="mod">
          <ac:chgData name="John Burke" userId="6aa7ac9d-1481-4eb3-bba6-d1142c83d8d1" providerId="ADAL" clId="{22399DAE-D634-4E57-8CE9-6B65241521C5}" dt="2026-03-03T03:52:06.069" v="366" actId="164"/>
          <ac:grpSpMkLst>
            <pc:docMk/>
            <pc:sldMk cId="3424049213" sldId="267"/>
            <ac:grpSpMk id="10" creationId="{6086054E-06EE-5013-1932-AA390D246E5F}"/>
          </ac:grpSpMkLst>
        </pc:grpChg>
        <pc:grpChg chg="mod">
          <ac:chgData name="John Burke" userId="6aa7ac9d-1481-4eb3-bba6-d1142c83d8d1" providerId="ADAL" clId="{22399DAE-D634-4E57-8CE9-6B65241521C5}" dt="2026-03-03T03:52:06.069" v="366" actId="164"/>
          <ac:grpSpMkLst>
            <pc:docMk/>
            <pc:sldMk cId="3424049213" sldId="267"/>
            <ac:grpSpMk id="13" creationId="{9D68C1D1-7F2B-2239-EBA8-8740A8830161}"/>
          </ac:grpSpMkLst>
        </pc:grpChg>
        <pc:grpChg chg="mod">
          <ac:chgData name="John Burke" userId="6aa7ac9d-1481-4eb3-bba6-d1142c83d8d1" providerId="ADAL" clId="{22399DAE-D634-4E57-8CE9-6B65241521C5}" dt="2026-03-03T04:01:14.599" v="627" actId="1037"/>
          <ac:grpSpMkLst>
            <pc:docMk/>
            <pc:sldMk cId="3424049213" sldId="267"/>
            <ac:grpSpMk id="20" creationId="{82F2F56B-AE5F-CE18-955C-64A363CEA00B}"/>
          </ac:grpSpMkLst>
        </pc:grpChg>
        <pc:grpChg chg="mod">
          <ac:chgData name="John Burke" userId="6aa7ac9d-1481-4eb3-bba6-d1142c83d8d1" providerId="ADAL" clId="{22399DAE-D634-4E57-8CE9-6B65241521C5}" dt="2026-03-03T03:52:06.069" v="366" actId="164"/>
          <ac:grpSpMkLst>
            <pc:docMk/>
            <pc:sldMk cId="3424049213" sldId="267"/>
            <ac:grpSpMk id="32" creationId="{F31E64C0-5792-9AD7-50FD-9DC5897FAAF6}"/>
          </ac:grpSpMkLst>
        </pc:grpChg>
        <pc:grpChg chg="add mod">
          <ac:chgData name="John Burke" userId="6aa7ac9d-1481-4eb3-bba6-d1142c83d8d1" providerId="ADAL" clId="{22399DAE-D634-4E57-8CE9-6B65241521C5}" dt="2026-03-03T04:01:06.016" v="617" actId="1038"/>
          <ac:grpSpMkLst>
            <pc:docMk/>
            <pc:sldMk cId="3424049213" sldId="267"/>
            <ac:grpSpMk id="33" creationId="{F4E0D3F8-E891-A54B-BEF9-DBE418E3BA35}"/>
          </ac:grpSpMkLst>
        </pc:grpChg>
      </pc:sldChg>
      <pc:sldChg chg="addSp delSp modSp add mod setBg modNotesTx">
        <pc:chgData name="John Burke" userId="6aa7ac9d-1481-4eb3-bba6-d1142c83d8d1" providerId="ADAL" clId="{22399DAE-D634-4E57-8CE9-6B65241521C5}" dt="2026-03-04T16:45:02.415" v="6060" actId="20577"/>
        <pc:sldMkLst>
          <pc:docMk/>
          <pc:sldMk cId="2501067352" sldId="268"/>
        </pc:sldMkLst>
        <pc:spChg chg="mod modVis">
          <ac:chgData name="John Burke" userId="6aa7ac9d-1481-4eb3-bba6-d1142c83d8d1" providerId="ADAL" clId="{22399DAE-D634-4E57-8CE9-6B65241521C5}" dt="2026-03-03T03:57:13.312" v="484" actId="14430"/>
          <ac:spMkLst>
            <pc:docMk/>
            <pc:sldMk cId="2501067352" sldId="268"/>
            <ac:spMk id="3" creationId="{C2ED2C8A-717F-1305-6352-28473BE0288E}"/>
          </ac:spMkLst>
        </pc:spChg>
        <pc:spChg chg="add mod">
          <ac:chgData name="John Burke" userId="6aa7ac9d-1481-4eb3-bba6-d1142c83d8d1" providerId="ADAL" clId="{22399DAE-D634-4E57-8CE9-6B65241521C5}" dt="2026-03-03T03:59:13.413" v="583" actId="1076"/>
          <ac:spMkLst>
            <pc:docMk/>
            <pc:sldMk cId="2501067352" sldId="268"/>
            <ac:spMk id="25" creationId="{3D04CDF5-2BE1-18C2-0E28-ACFB4B459ED0}"/>
          </ac:spMkLst>
        </pc:spChg>
        <pc:spChg chg="mod">
          <ac:chgData name="John Burke" userId="6aa7ac9d-1481-4eb3-bba6-d1142c83d8d1" providerId="ADAL" clId="{22399DAE-D634-4E57-8CE9-6B65241521C5}" dt="2026-03-03T04:06:29.899" v="681" actId="20577"/>
          <ac:spMkLst>
            <pc:docMk/>
            <pc:sldMk cId="2501067352" sldId="268"/>
            <ac:spMk id="34" creationId="{ED064E41-7B1A-8F52-E56E-CFF20589D4F3}"/>
          </ac:spMkLst>
        </pc:spChg>
        <pc:spChg chg="mod">
          <ac:chgData name="John Burke" userId="6aa7ac9d-1481-4eb3-bba6-d1142c83d8d1" providerId="ADAL" clId="{22399DAE-D634-4E57-8CE9-6B65241521C5}" dt="2026-03-03T04:07:02.467" v="687" actId="1076"/>
          <ac:spMkLst>
            <pc:docMk/>
            <pc:sldMk cId="2501067352" sldId="268"/>
            <ac:spMk id="35" creationId="{1B9F6C9F-E936-7229-AD85-2C418DC9C81A}"/>
          </ac:spMkLst>
        </pc:spChg>
        <pc:spChg chg="mod">
          <ac:chgData name="John Burke" userId="6aa7ac9d-1481-4eb3-bba6-d1142c83d8d1" providerId="ADAL" clId="{22399DAE-D634-4E57-8CE9-6B65241521C5}" dt="2026-03-03T04:06:57.600" v="686" actId="1076"/>
          <ac:spMkLst>
            <pc:docMk/>
            <pc:sldMk cId="2501067352" sldId="268"/>
            <ac:spMk id="36" creationId="{35AC190F-B7E6-9097-ADE5-1E5FEA1DDF7E}"/>
          </ac:spMkLst>
        </pc:spChg>
        <pc:spChg chg="add mod">
          <ac:chgData name="John Burke" userId="6aa7ac9d-1481-4eb3-bba6-d1142c83d8d1" providerId="ADAL" clId="{22399DAE-D634-4E57-8CE9-6B65241521C5}" dt="2026-03-03T03:58:48.938" v="580" actId="1037"/>
          <ac:spMkLst>
            <pc:docMk/>
            <pc:sldMk cId="2501067352" sldId="268"/>
            <ac:spMk id="37" creationId="{7BBFA9E1-6797-D9C9-290C-6F8C9ED5C166}"/>
          </ac:spMkLst>
        </pc:spChg>
        <pc:spChg chg="add mod">
          <ac:chgData name="John Burke" userId="6aa7ac9d-1481-4eb3-bba6-d1142c83d8d1" providerId="ADAL" clId="{22399DAE-D634-4E57-8CE9-6B65241521C5}" dt="2026-03-04T16:44:43.864" v="6058" actId="115"/>
          <ac:spMkLst>
            <pc:docMk/>
            <pc:sldMk cId="2501067352" sldId="268"/>
            <ac:spMk id="39" creationId="{A2273550-4965-0587-00FE-7657D303A324}"/>
          </ac:spMkLst>
        </pc:spChg>
        <pc:grpChg chg="mod modVis">
          <ac:chgData name="John Burke" userId="6aa7ac9d-1481-4eb3-bba6-d1142c83d8d1" providerId="ADAL" clId="{22399DAE-D634-4E57-8CE9-6B65241521C5}" dt="2026-03-03T03:57:10.993" v="483" actId="14430"/>
          <ac:grpSpMkLst>
            <pc:docMk/>
            <pc:sldMk cId="2501067352" sldId="268"/>
            <ac:grpSpMk id="6" creationId="{EEF5DE08-8167-AB3D-8512-0BC592781697}"/>
          </ac:grpSpMkLst>
        </pc:grpChg>
        <pc:grpChg chg="mod modVis">
          <ac:chgData name="John Burke" userId="6aa7ac9d-1481-4eb3-bba6-d1142c83d8d1" providerId="ADAL" clId="{22399DAE-D634-4E57-8CE9-6B65241521C5}" dt="2026-03-03T03:57:09.530" v="482" actId="14430"/>
          <ac:grpSpMkLst>
            <pc:docMk/>
            <pc:sldMk cId="2501067352" sldId="268"/>
            <ac:grpSpMk id="7" creationId="{67C46ACC-E647-7A83-960F-C53E286F225E}"/>
          </ac:grpSpMkLst>
        </pc:grpChg>
        <pc:grpChg chg="mod modVis">
          <ac:chgData name="John Burke" userId="6aa7ac9d-1481-4eb3-bba6-d1142c83d8d1" providerId="ADAL" clId="{22399DAE-D634-4E57-8CE9-6B65241521C5}" dt="2026-03-03T03:57:08.003" v="481" actId="14430"/>
          <ac:grpSpMkLst>
            <pc:docMk/>
            <pc:sldMk cId="2501067352" sldId="268"/>
            <ac:grpSpMk id="10" creationId="{2EBE7FC5-6F33-C32D-9446-C6BEF3FFD9CD}"/>
          </ac:grpSpMkLst>
        </pc:grpChg>
        <pc:grpChg chg="mod modVis">
          <ac:chgData name="John Burke" userId="6aa7ac9d-1481-4eb3-bba6-d1142c83d8d1" providerId="ADAL" clId="{22399DAE-D634-4E57-8CE9-6B65241521C5}" dt="2026-03-03T03:57:06.711" v="480" actId="14430"/>
          <ac:grpSpMkLst>
            <pc:docMk/>
            <pc:sldMk cId="2501067352" sldId="268"/>
            <ac:grpSpMk id="13" creationId="{5D67EDAE-2DA0-9788-D98E-601434C6DC5E}"/>
          </ac:grpSpMkLst>
        </pc:grpChg>
        <pc:grpChg chg="mod">
          <ac:chgData name="John Burke" userId="6aa7ac9d-1481-4eb3-bba6-d1142c83d8d1" providerId="ADAL" clId="{22399DAE-D634-4E57-8CE9-6B65241521C5}" dt="2026-03-03T03:58:48.938" v="580" actId="1037"/>
          <ac:grpSpMkLst>
            <pc:docMk/>
            <pc:sldMk cId="2501067352" sldId="268"/>
            <ac:grpSpMk id="20" creationId="{B4505244-E614-0102-1B00-7F3B79F97B8D}"/>
          </ac:grpSpMkLst>
        </pc:grpChg>
        <pc:grpChg chg="mod">
          <ac:chgData name="John Burke" userId="6aa7ac9d-1481-4eb3-bba6-d1142c83d8d1" providerId="ADAL" clId="{22399DAE-D634-4E57-8CE9-6B65241521C5}" dt="2026-03-03T03:58:48.938" v="580" actId="1037"/>
          <ac:grpSpMkLst>
            <pc:docMk/>
            <pc:sldMk cId="2501067352" sldId="268"/>
            <ac:grpSpMk id="33" creationId="{461DC0E2-22BD-B59E-FFA1-4019E9A25BB4}"/>
          </ac:grpSpMkLst>
        </pc:grpChg>
      </pc:sldChg>
      <pc:sldChg chg="delSp modSp add mod modNotesTx">
        <pc:chgData name="John Burke" userId="6aa7ac9d-1481-4eb3-bba6-d1142c83d8d1" providerId="ADAL" clId="{22399DAE-D634-4E57-8CE9-6B65241521C5}" dt="2026-03-05T14:13:22.722" v="7334" actId="20577"/>
        <pc:sldMkLst>
          <pc:docMk/>
          <pc:sldMk cId="3443846200" sldId="269"/>
        </pc:sldMkLst>
        <pc:spChg chg="mod">
          <ac:chgData name="John Burke" userId="6aa7ac9d-1481-4eb3-bba6-d1142c83d8d1" providerId="ADAL" clId="{22399DAE-D634-4E57-8CE9-6B65241521C5}" dt="2026-03-03T04:08:42.631" v="701" actId="20577"/>
          <ac:spMkLst>
            <pc:docMk/>
            <pc:sldMk cId="3443846200" sldId="269"/>
            <ac:spMk id="3" creationId="{E41EE180-7CBA-162F-0CC9-F81EF46DF4DA}"/>
          </ac:spMkLst>
        </pc:spChg>
        <pc:spChg chg="mod">
          <ac:chgData name="John Burke" userId="6aa7ac9d-1481-4eb3-bba6-d1142c83d8d1" providerId="ADAL" clId="{22399DAE-D634-4E57-8CE9-6B65241521C5}" dt="2026-03-04T16:39:12.188" v="5895" actId="1036"/>
          <ac:spMkLst>
            <pc:docMk/>
            <pc:sldMk cId="3443846200" sldId="269"/>
            <ac:spMk id="4" creationId="{36284C0E-C370-CAA6-8F78-D85DEE9985DE}"/>
          </ac:spMkLst>
        </pc:spChg>
        <pc:spChg chg="mod">
          <ac:chgData name="John Burke" userId="6aa7ac9d-1481-4eb3-bba6-d1142c83d8d1" providerId="ADAL" clId="{22399DAE-D634-4E57-8CE9-6B65241521C5}" dt="2026-03-04T16:39:12.188" v="5895" actId="1036"/>
          <ac:spMkLst>
            <pc:docMk/>
            <pc:sldMk cId="3443846200" sldId="269"/>
            <ac:spMk id="5" creationId="{EEFE34BB-8A66-A19A-CE49-72248D147E83}"/>
          </ac:spMkLst>
        </pc:spChg>
        <pc:spChg chg="mod">
          <ac:chgData name="John Burke" userId="6aa7ac9d-1481-4eb3-bba6-d1142c83d8d1" providerId="ADAL" clId="{22399DAE-D634-4E57-8CE9-6B65241521C5}" dt="2026-03-04T16:39:12.188" v="5895" actId="1036"/>
          <ac:spMkLst>
            <pc:docMk/>
            <pc:sldMk cId="3443846200" sldId="269"/>
            <ac:spMk id="6" creationId="{58AA0253-97CE-F2F4-86DE-6A4785A0A31B}"/>
          </ac:spMkLst>
        </pc:spChg>
        <pc:spChg chg="mod">
          <ac:chgData name="John Burke" userId="6aa7ac9d-1481-4eb3-bba6-d1142c83d8d1" providerId="ADAL" clId="{22399DAE-D634-4E57-8CE9-6B65241521C5}" dt="2026-03-04T16:48:38.009" v="6333" actId="20577"/>
          <ac:spMkLst>
            <pc:docMk/>
            <pc:sldMk cId="3443846200" sldId="269"/>
            <ac:spMk id="8" creationId="{623706B7-ACEF-1B5B-F3C0-E267CA34AF5E}"/>
          </ac:spMkLst>
        </pc:spChg>
        <pc:spChg chg="mod">
          <ac:chgData name="John Burke" userId="6aa7ac9d-1481-4eb3-bba6-d1142c83d8d1" providerId="ADAL" clId="{22399DAE-D634-4E57-8CE9-6B65241521C5}" dt="2026-03-04T16:39:12.188" v="5895" actId="1036"/>
          <ac:spMkLst>
            <pc:docMk/>
            <pc:sldMk cId="3443846200" sldId="269"/>
            <ac:spMk id="9" creationId="{1691E91B-8DB4-62FB-E51C-0A8D9F5255D3}"/>
          </ac:spMkLst>
        </pc:spChg>
        <pc:spChg chg="mod">
          <ac:chgData name="John Burke" userId="6aa7ac9d-1481-4eb3-bba6-d1142c83d8d1" providerId="ADAL" clId="{22399DAE-D634-4E57-8CE9-6B65241521C5}" dt="2026-03-04T16:35:59.536" v="5623" actId="20577"/>
          <ac:spMkLst>
            <pc:docMk/>
            <pc:sldMk cId="3443846200" sldId="269"/>
            <ac:spMk id="10" creationId="{E4395C95-4E49-D751-82AA-DD2A5D088EF0}"/>
          </ac:spMkLst>
        </pc:spChg>
        <pc:spChg chg="mod">
          <ac:chgData name="John Burke" userId="6aa7ac9d-1481-4eb3-bba6-d1142c83d8d1" providerId="ADAL" clId="{22399DAE-D634-4E57-8CE9-6B65241521C5}" dt="2026-03-04T16:39:12.188" v="5895" actId="1036"/>
          <ac:spMkLst>
            <pc:docMk/>
            <pc:sldMk cId="3443846200" sldId="269"/>
            <ac:spMk id="11" creationId="{0FA760F1-C68F-6BCC-CB16-C61086FFB2DA}"/>
          </ac:spMkLst>
        </pc:spChg>
        <pc:spChg chg="mod">
          <ac:chgData name="John Burke" userId="6aa7ac9d-1481-4eb3-bba6-d1142c83d8d1" providerId="ADAL" clId="{22399DAE-D634-4E57-8CE9-6B65241521C5}" dt="2026-03-04T16:39:12.188" v="5895" actId="1036"/>
          <ac:spMkLst>
            <pc:docMk/>
            <pc:sldMk cId="3443846200" sldId="269"/>
            <ac:spMk id="12" creationId="{91319B4E-7BA0-AAAC-0334-28B08D59B4A2}"/>
          </ac:spMkLst>
        </pc:spChg>
        <pc:spChg chg="mod">
          <ac:chgData name="John Burke" userId="6aa7ac9d-1481-4eb3-bba6-d1142c83d8d1" providerId="ADAL" clId="{22399DAE-D634-4E57-8CE9-6B65241521C5}" dt="2026-03-04T16:36:52.396" v="5690" actId="20577"/>
          <ac:spMkLst>
            <pc:docMk/>
            <pc:sldMk cId="3443846200" sldId="269"/>
            <ac:spMk id="13" creationId="{FAD77323-3DF6-5793-20C1-F26D48DE6915}"/>
          </ac:spMkLst>
        </pc:spChg>
        <pc:spChg chg="mod">
          <ac:chgData name="John Burke" userId="6aa7ac9d-1481-4eb3-bba6-d1142c83d8d1" providerId="ADAL" clId="{22399DAE-D634-4E57-8CE9-6B65241521C5}" dt="2026-03-04T16:39:12.188" v="5895" actId="1036"/>
          <ac:spMkLst>
            <pc:docMk/>
            <pc:sldMk cId="3443846200" sldId="269"/>
            <ac:spMk id="14" creationId="{C64312A8-AE5C-DB0C-CBFC-AC07A97E9E6E}"/>
          </ac:spMkLst>
        </pc:spChg>
        <pc:spChg chg="mod">
          <ac:chgData name="John Burke" userId="6aa7ac9d-1481-4eb3-bba6-d1142c83d8d1" providerId="ADAL" clId="{22399DAE-D634-4E57-8CE9-6B65241521C5}" dt="2026-03-04T16:39:12.188" v="5895" actId="1036"/>
          <ac:spMkLst>
            <pc:docMk/>
            <pc:sldMk cId="3443846200" sldId="269"/>
            <ac:spMk id="15" creationId="{80E62947-BF6F-7FE4-0A6F-E64F39B53BDA}"/>
          </ac:spMkLst>
        </pc:spChg>
        <pc:spChg chg="mod">
          <ac:chgData name="John Burke" userId="6aa7ac9d-1481-4eb3-bba6-d1142c83d8d1" providerId="ADAL" clId="{22399DAE-D634-4E57-8CE9-6B65241521C5}" dt="2026-03-04T16:39:12.188" v="5895" actId="1036"/>
          <ac:spMkLst>
            <pc:docMk/>
            <pc:sldMk cId="3443846200" sldId="269"/>
            <ac:spMk id="16" creationId="{183F811C-E563-1299-C0BD-AF1637354456}"/>
          </ac:spMkLst>
        </pc:spChg>
        <pc:spChg chg="mod">
          <ac:chgData name="John Burke" userId="6aa7ac9d-1481-4eb3-bba6-d1142c83d8d1" providerId="ADAL" clId="{22399DAE-D634-4E57-8CE9-6B65241521C5}" dt="2026-03-04T16:37:16.371" v="5721" actId="20577"/>
          <ac:spMkLst>
            <pc:docMk/>
            <pc:sldMk cId="3443846200" sldId="269"/>
            <ac:spMk id="18" creationId="{74C13BE5-ABEB-4B6C-F5CD-717695EEBFFE}"/>
          </ac:spMkLst>
        </pc:spChg>
        <pc:spChg chg="del">
          <ac:chgData name="John Burke" userId="6aa7ac9d-1481-4eb3-bba6-d1142c83d8d1" providerId="ADAL" clId="{22399DAE-D634-4E57-8CE9-6B65241521C5}" dt="2026-03-04T16:39:28.474" v="5919" actId="478"/>
          <ac:spMkLst>
            <pc:docMk/>
            <pc:sldMk cId="3443846200" sldId="269"/>
            <ac:spMk id="19" creationId="{2D172F22-13A4-B167-5A2F-4487C52484BA}"/>
          </ac:spMkLst>
        </pc:spChg>
        <pc:spChg chg="del">
          <ac:chgData name="John Burke" userId="6aa7ac9d-1481-4eb3-bba6-d1142c83d8d1" providerId="ADAL" clId="{22399DAE-D634-4E57-8CE9-6B65241521C5}" dt="2026-03-04T16:39:24.262" v="5917" actId="478"/>
          <ac:spMkLst>
            <pc:docMk/>
            <pc:sldMk cId="3443846200" sldId="269"/>
            <ac:spMk id="20" creationId="{A6E22FED-1610-C1C4-D0BF-AF3F7F42CA7A}"/>
          </ac:spMkLst>
        </pc:spChg>
        <pc:spChg chg="del">
          <ac:chgData name="John Burke" userId="6aa7ac9d-1481-4eb3-bba6-d1142c83d8d1" providerId="ADAL" clId="{22399DAE-D634-4E57-8CE9-6B65241521C5}" dt="2026-03-04T16:39:26.484" v="5918" actId="478"/>
          <ac:spMkLst>
            <pc:docMk/>
            <pc:sldMk cId="3443846200" sldId="269"/>
            <ac:spMk id="21" creationId="{439399E7-E957-81CB-FAA3-0ADF025A9773}"/>
          </ac:spMkLst>
        </pc:spChg>
        <pc:spChg chg="mod">
          <ac:chgData name="John Burke" userId="6aa7ac9d-1481-4eb3-bba6-d1142c83d8d1" providerId="ADAL" clId="{22399DAE-D634-4E57-8CE9-6B65241521C5}" dt="2026-03-04T16:39:19.117" v="5916" actId="1036"/>
          <ac:spMkLst>
            <pc:docMk/>
            <pc:sldMk cId="3443846200" sldId="269"/>
            <ac:spMk id="22" creationId="{4853319C-196B-B05D-5F0A-F02E1F5BE1E5}"/>
          </ac:spMkLst>
        </pc:spChg>
        <pc:spChg chg="del">
          <ac:chgData name="John Burke" userId="6aa7ac9d-1481-4eb3-bba6-d1142c83d8d1" providerId="ADAL" clId="{22399DAE-D634-4E57-8CE9-6B65241521C5}" dt="2026-03-04T16:37:31.376" v="5722" actId="478"/>
          <ac:spMkLst>
            <pc:docMk/>
            <pc:sldMk cId="3443846200" sldId="269"/>
            <ac:spMk id="23" creationId="{A055C00D-CFFA-E996-27C9-B1F8AA089138}"/>
          </ac:spMkLst>
        </pc:spChg>
      </pc:sldChg>
      <pc:sldChg chg="addSp delSp modSp add mod ord modNotesTx">
        <pc:chgData name="John Burke" userId="6aa7ac9d-1481-4eb3-bba6-d1142c83d8d1" providerId="ADAL" clId="{22399DAE-D634-4E57-8CE9-6B65241521C5}" dt="2026-03-04T16:43:42.042" v="6054" actId="1076"/>
        <pc:sldMkLst>
          <pc:docMk/>
          <pc:sldMk cId="3484651579" sldId="270"/>
        </pc:sldMkLst>
        <pc:spChg chg="del">
          <ac:chgData name="John Burke" userId="6aa7ac9d-1481-4eb3-bba6-d1142c83d8d1" providerId="ADAL" clId="{22399DAE-D634-4E57-8CE9-6B65241521C5}" dt="2026-03-04T16:07:17.250" v="2463" actId="478"/>
          <ac:spMkLst>
            <pc:docMk/>
            <pc:sldMk cId="3484651579" sldId="270"/>
            <ac:spMk id="21" creationId="{0159E533-CC2C-A9C6-622F-2D2E5D37C10B}"/>
          </ac:spMkLst>
        </pc:spChg>
        <pc:spChg chg="del">
          <ac:chgData name="John Burke" userId="6aa7ac9d-1481-4eb3-bba6-d1142c83d8d1" providerId="ADAL" clId="{22399DAE-D634-4E57-8CE9-6B65241521C5}" dt="2026-03-04T16:07:14.616" v="2462" actId="478"/>
          <ac:spMkLst>
            <pc:docMk/>
            <pc:sldMk cId="3484651579" sldId="270"/>
            <ac:spMk id="35" creationId="{8051B677-218D-7E47-5ACF-39CF5EC99E8D}"/>
          </ac:spMkLst>
        </pc:spChg>
        <pc:spChg chg="mod">
          <ac:chgData name="John Burke" userId="6aa7ac9d-1481-4eb3-bba6-d1142c83d8d1" providerId="ADAL" clId="{22399DAE-D634-4E57-8CE9-6B65241521C5}" dt="2026-03-04T16:41:42.504" v="6007" actId="1038"/>
          <ac:spMkLst>
            <pc:docMk/>
            <pc:sldMk cId="3484651579" sldId="270"/>
            <ac:spMk id="36" creationId="{941452EB-7834-B14C-3D88-4AB9872F1336}"/>
          </ac:spMkLst>
        </pc:spChg>
        <pc:spChg chg="add del mod">
          <ac:chgData name="John Burke" userId="6aa7ac9d-1481-4eb3-bba6-d1142c83d8d1" providerId="ADAL" clId="{22399DAE-D634-4E57-8CE9-6B65241521C5}" dt="2026-03-04T16:07:51.570" v="2554" actId="478"/>
          <ac:spMkLst>
            <pc:docMk/>
            <pc:sldMk cId="3484651579" sldId="270"/>
            <ac:spMk id="37" creationId="{386A91BE-7EA0-B090-5B07-E7CD78272881}"/>
          </ac:spMkLst>
        </pc:spChg>
        <pc:spChg chg="del">
          <ac:chgData name="John Burke" userId="6aa7ac9d-1481-4eb3-bba6-d1142c83d8d1" providerId="ADAL" clId="{22399DAE-D634-4E57-8CE9-6B65241521C5}" dt="2026-03-04T16:07:19.340" v="2464" actId="478"/>
          <ac:spMkLst>
            <pc:docMk/>
            <pc:sldMk cId="3484651579" sldId="270"/>
            <ac:spMk id="38" creationId="{94DC76B2-F7D1-EB5F-2DD4-37743E64C309}"/>
          </ac:spMkLst>
        </pc:spChg>
        <pc:spChg chg="add del">
          <ac:chgData name="John Burke" userId="6aa7ac9d-1481-4eb3-bba6-d1142c83d8d1" providerId="ADAL" clId="{22399DAE-D634-4E57-8CE9-6B65241521C5}" dt="2026-03-04T16:07:57.090" v="2556" actId="22"/>
          <ac:spMkLst>
            <pc:docMk/>
            <pc:sldMk cId="3484651579" sldId="270"/>
            <ac:spMk id="40" creationId="{BD1A5A6B-399F-BBCB-4A57-86D2D0A1ED80}"/>
          </ac:spMkLst>
        </pc:spChg>
        <pc:spChg chg="add mod">
          <ac:chgData name="John Burke" userId="6aa7ac9d-1481-4eb3-bba6-d1142c83d8d1" providerId="ADAL" clId="{22399DAE-D634-4E57-8CE9-6B65241521C5}" dt="2026-03-04T16:43:42.042" v="6054" actId="1076"/>
          <ac:spMkLst>
            <pc:docMk/>
            <pc:sldMk cId="3484651579" sldId="270"/>
            <ac:spMk id="41" creationId="{AEDA5174-47A1-494D-26CB-9ACC40C23931}"/>
          </ac:spMkLst>
        </pc:spChg>
        <pc:grpChg chg="del">
          <ac:chgData name="John Burke" userId="6aa7ac9d-1481-4eb3-bba6-d1142c83d8d1" providerId="ADAL" clId="{22399DAE-D634-4E57-8CE9-6B65241521C5}" dt="2026-03-04T16:07:13.117" v="2461" actId="478"/>
          <ac:grpSpMkLst>
            <pc:docMk/>
            <pc:sldMk cId="3484651579" sldId="270"/>
            <ac:grpSpMk id="20" creationId="{BDC8B7E6-F9A6-B38A-5C1D-2937E6B7A172}"/>
          </ac:grpSpMkLst>
        </pc:grpChg>
        <pc:grpChg chg="mod">
          <ac:chgData name="John Burke" userId="6aa7ac9d-1481-4eb3-bba6-d1142c83d8d1" providerId="ADAL" clId="{22399DAE-D634-4E57-8CE9-6B65241521C5}" dt="2026-03-04T16:07:29.451" v="2507" actId="1036"/>
          <ac:grpSpMkLst>
            <pc:docMk/>
            <pc:sldMk cId="3484651579" sldId="270"/>
            <ac:grpSpMk id="33" creationId="{9B83E967-3C19-ABD0-467F-50114A4CBE5E}"/>
          </ac:grpSpMkLst>
        </pc:grpChg>
      </pc:sldChg>
      <pc:sldChg chg="addSp delSp modSp new del mod">
        <pc:chgData name="John Burke" userId="6aa7ac9d-1481-4eb3-bba6-d1142c83d8d1" providerId="ADAL" clId="{22399DAE-D634-4E57-8CE9-6B65241521C5}" dt="2026-03-04T17:19:13.853" v="6457" actId="47"/>
        <pc:sldMkLst>
          <pc:docMk/>
          <pc:sldMk cId="826365600" sldId="271"/>
        </pc:sldMkLst>
        <pc:spChg chg="add del mod">
          <ac:chgData name="John Burke" userId="6aa7ac9d-1481-4eb3-bba6-d1142c83d8d1" providerId="ADAL" clId="{22399DAE-D634-4E57-8CE9-6B65241521C5}" dt="2026-03-04T17:18:05.199" v="6444" actId="21"/>
          <ac:spMkLst>
            <pc:docMk/>
            <pc:sldMk cId="826365600" sldId="271"/>
            <ac:spMk id="2" creationId="{3D837D48-3ECD-0281-CFCC-F7A73903D12F}"/>
          </ac:spMkLst>
        </pc:spChg>
      </pc:sldChg>
      <pc:sldChg chg="new del ord">
        <pc:chgData name="John Burke" userId="6aa7ac9d-1481-4eb3-bba6-d1142c83d8d1" providerId="ADAL" clId="{22399DAE-D634-4E57-8CE9-6B65241521C5}" dt="2026-03-05T13:18:03.370" v="6768"/>
        <pc:sldMkLst>
          <pc:docMk/>
          <pc:sldMk cId="3272269436" sldId="271"/>
        </pc:sldMkLst>
      </pc:sldChg>
      <pc:sldChg chg="new del">
        <pc:chgData name="John Burke" userId="6aa7ac9d-1481-4eb3-bba6-d1142c83d8d1" providerId="ADAL" clId="{22399DAE-D634-4E57-8CE9-6B65241521C5}" dt="2026-03-04T17:41:02.820" v="6761" actId="47"/>
        <pc:sldMkLst>
          <pc:docMk/>
          <pc:sldMk cId="3467904018" sldId="271"/>
        </pc:sldMkLst>
      </pc:sldChg>
      <pc:sldChg chg="add del">
        <pc:chgData name="John Burke" userId="6aa7ac9d-1481-4eb3-bba6-d1142c83d8d1" providerId="ADAL" clId="{22399DAE-D634-4E57-8CE9-6B65241521C5}" dt="2026-03-05T13:18:57.693" v="6770"/>
        <pc:sldMkLst>
          <pc:docMk/>
          <pc:sldMk cId="1993116027" sldId="272"/>
        </pc:sldMkLst>
      </pc:sldChg>
      <pc:sldChg chg="add del">
        <pc:chgData name="John Burke" userId="6aa7ac9d-1481-4eb3-bba6-d1142c83d8d1" providerId="ADAL" clId="{22399DAE-D634-4E57-8CE9-6B65241521C5}" dt="2026-03-05T13:19:51.361" v="6772"/>
        <pc:sldMkLst>
          <pc:docMk/>
          <pc:sldMk cId="696217528" sldId="273"/>
        </pc:sldMkLst>
      </pc:sldChg>
      <pc:sldChg chg="add del">
        <pc:chgData name="John Burke" userId="6aa7ac9d-1481-4eb3-bba6-d1142c83d8d1" providerId="ADAL" clId="{22399DAE-D634-4E57-8CE9-6B65241521C5}" dt="2026-03-05T13:20:40.397" v="6774"/>
        <pc:sldMkLst>
          <pc:docMk/>
          <pc:sldMk cId="4019517741" sldId="274"/>
        </pc:sldMkLst>
      </pc:sldChg>
      <pc:sldChg chg="add del">
        <pc:chgData name="John Burke" userId="6aa7ac9d-1481-4eb3-bba6-d1142c83d8d1" providerId="ADAL" clId="{22399DAE-D634-4E57-8CE9-6B65241521C5}" dt="2026-03-05T13:21:31.970" v="6776"/>
        <pc:sldMkLst>
          <pc:docMk/>
          <pc:sldMk cId="765453988" sldId="275"/>
        </pc:sldMkLst>
      </pc:sldChg>
      <pc:sldChg chg="modSp add mod ord modNotesTx">
        <pc:chgData name="John Burke" userId="6aa7ac9d-1481-4eb3-bba6-d1142c83d8d1" providerId="ADAL" clId="{22399DAE-D634-4E57-8CE9-6B65241521C5}" dt="2026-03-05T16:02:10.854" v="13476" actId="20577"/>
        <pc:sldMkLst>
          <pc:docMk/>
          <pc:sldMk cId="3122432112" sldId="276"/>
        </pc:sldMkLst>
        <pc:spChg chg="mod">
          <ac:chgData name="John Burke" userId="6aa7ac9d-1481-4eb3-bba6-d1142c83d8d1" providerId="ADAL" clId="{22399DAE-D634-4E57-8CE9-6B65241521C5}" dt="2026-03-05T16:02:10.854" v="13476" actId="20577"/>
          <ac:spMkLst>
            <pc:docMk/>
            <pc:sldMk cId="3122432112" sldId="276"/>
            <ac:spMk id="223" creationId="{00000000-0000-0000-0000-000000000000}"/>
          </ac:spMkLst>
        </pc:spChg>
      </pc:sldChg>
      <pc:sldChg chg="new del ord">
        <pc:chgData name="John Burke" userId="6aa7ac9d-1481-4eb3-bba6-d1142c83d8d1" providerId="ADAL" clId="{22399DAE-D634-4E57-8CE9-6B65241521C5}" dt="2026-03-05T13:53:53.626" v="6807"/>
        <pc:sldMkLst>
          <pc:docMk/>
          <pc:sldMk cId="1146966179" sldId="277"/>
        </pc:sldMkLst>
      </pc:sldChg>
      <pc:sldChg chg="new del ord">
        <pc:chgData name="John Burke" userId="6aa7ac9d-1481-4eb3-bba6-d1142c83d8d1" providerId="ADAL" clId="{22399DAE-D634-4E57-8CE9-6B65241521C5}" dt="2026-03-05T13:54:30.307" v="6809"/>
        <pc:sldMkLst>
          <pc:docMk/>
          <pc:sldMk cId="4135351369" sldId="278"/>
        </pc:sldMkLst>
      </pc:sldChg>
      <pc:sldChg chg="new del ord">
        <pc:chgData name="John Burke" userId="6aa7ac9d-1481-4eb3-bba6-d1142c83d8d1" providerId="ADAL" clId="{22399DAE-D634-4E57-8CE9-6B65241521C5}" dt="2026-03-05T13:55:08.196" v="6811"/>
        <pc:sldMkLst>
          <pc:docMk/>
          <pc:sldMk cId="403867174" sldId="279"/>
        </pc:sldMkLst>
      </pc:sldChg>
      <pc:sldChg chg="new del ord">
        <pc:chgData name="John Burke" userId="6aa7ac9d-1481-4eb3-bba6-d1142c83d8d1" providerId="ADAL" clId="{22399DAE-D634-4E57-8CE9-6B65241521C5}" dt="2026-03-05T13:55:58.567" v="6813"/>
        <pc:sldMkLst>
          <pc:docMk/>
          <pc:sldMk cId="4238590553" sldId="280"/>
        </pc:sldMkLst>
      </pc:sldChg>
      <pc:sldChg chg="new del ord">
        <pc:chgData name="John Burke" userId="6aa7ac9d-1481-4eb3-bba6-d1142c83d8d1" providerId="ADAL" clId="{22399DAE-D634-4E57-8CE9-6B65241521C5}" dt="2026-03-05T13:56:42.933" v="6815"/>
        <pc:sldMkLst>
          <pc:docMk/>
          <pc:sldMk cId="3568632870" sldId="281"/>
        </pc:sldMkLst>
      </pc:sldChg>
      <pc:sldChg chg="new del ord">
        <pc:chgData name="John Burke" userId="6aa7ac9d-1481-4eb3-bba6-d1142c83d8d1" providerId="ADAL" clId="{22399DAE-D634-4E57-8CE9-6B65241521C5}" dt="2026-03-05T13:57:29.906" v="6817"/>
        <pc:sldMkLst>
          <pc:docMk/>
          <pc:sldMk cId="3980178389" sldId="282"/>
        </pc:sldMkLst>
      </pc:sldChg>
      <pc:sldChg chg="new del ord">
        <pc:chgData name="John Burke" userId="6aa7ac9d-1481-4eb3-bba6-d1142c83d8d1" providerId="ADAL" clId="{22399DAE-D634-4E57-8CE9-6B65241521C5}" dt="2026-03-05T13:58:08.601" v="6819"/>
        <pc:sldMkLst>
          <pc:docMk/>
          <pc:sldMk cId="1160601486" sldId="283"/>
        </pc:sldMkLst>
      </pc:sldChg>
      <pc:sldChg chg="new del ord">
        <pc:chgData name="John Burke" userId="6aa7ac9d-1481-4eb3-bba6-d1142c83d8d1" providerId="ADAL" clId="{22399DAE-D634-4E57-8CE9-6B65241521C5}" dt="2026-03-05T13:58:40.682" v="6821"/>
        <pc:sldMkLst>
          <pc:docMk/>
          <pc:sldMk cId="1268943969" sldId="284"/>
        </pc:sldMkLst>
      </pc:sldChg>
      <pc:sldChg chg="new del ord">
        <pc:chgData name="John Burke" userId="6aa7ac9d-1481-4eb3-bba6-d1142c83d8d1" providerId="ADAL" clId="{22399DAE-D634-4E57-8CE9-6B65241521C5}" dt="2026-03-05T13:59:10.525" v="6823"/>
        <pc:sldMkLst>
          <pc:docMk/>
          <pc:sldMk cId="383618286" sldId="285"/>
        </pc:sldMkLst>
      </pc:sldChg>
      <pc:sldChg chg="new del ord">
        <pc:chgData name="John Burke" userId="6aa7ac9d-1481-4eb3-bba6-d1142c83d8d1" providerId="ADAL" clId="{22399DAE-D634-4E57-8CE9-6B65241521C5}" dt="2026-03-05T13:59:38.029" v="6825"/>
        <pc:sldMkLst>
          <pc:docMk/>
          <pc:sldMk cId="337606175" sldId="286"/>
        </pc:sldMkLst>
      </pc:sldChg>
      <pc:sldChg chg="new del ord">
        <pc:chgData name="John Burke" userId="6aa7ac9d-1481-4eb3-bba6-d1142c83d8d1" providerId="ADAL" clId="{22399DAE-D634-4E57-8CE9-6B65241521C5}" dt="2026-03-05T14:00:21.065" v="6827"/>
        <pc:sldMkLst>
          <pc:docMk/>
          <pc:sldMk cId="1088742783" sldId="287"/>
        </pc:sldMkLst>
      </pc:sldChg>
      <pc:sldChg chg="new del ord">
        <pc:chgData name="John Burke" userId="6aa7ac9d-1481-4eb3-bba6-d1142c83d8d1" providerId="ADAL" clId="{22399DAE-D634-4E57-8CE9-6B65241521C5}" dt="2026-03-05T14:00:56.461" v="6829"/>
        <pc:sldMkLst>
          <pc:docMk/>
          <pc:sldMk cId="950628257" sldId="288"/>
        </pc:sldMkLst>
      </pc:sldChg>
      <pc:sldChg chg="new del ord">
        <pc:chgData name="John Burke" userId="6aa7ac9d-1481-4eb3-bba6-d1142c83d8d1" providerId="ADAL" clId="{22399DAE-D634-4E57-8CE9-6B65241521C5}" dt="2026-03-05T14:01:31.088" v="6831"/>
        <pc:sldMkLst>
          <pc:docMk/>
          <pc:sldMk cId="3067555354" sldId="289"/>
        </pc:sldMkLst>
      </pc:sldChg>
      <pc:sldChg chg="new del ord">
        <pc:chgData name="John Burke" userId="6aa7ac9d-1481-4eb3-bba6-d1142c83d8d1" providerId="ADAL" clId="{22399DAE-D634-4E57-8CE9-6B65241521C5}" dt="2026-03-05T14:02:02.170" v="6833"/>
        <pc:sldMkLst>
          <pc:docMk/>
          <pc:sldMk cId="845682311" sldId="290"/>
        </pc:sldMkLst>
      </pc:sldChg>
      <pc:sldChg chg="modSp add del mod modNotesTx">
        <pc:chgData name="John Burke" userId="6aa7ac9d-1481-4eb3-bba6-d1142c83d8d1" providerId="ADAL" clId="{22399DAE-D634-4E57-8CE9-6B65241521C5}" dt="2026-03-05T14:50:32.643" v="10005" actId="47"/>
        <pc:sldMkLst>
          <pc:docMk/>
          <pc:sldMk cId="201399760" sldId="291"/>
        </pc:sldMkLst>
        <pc:spChg chg="mod">
          <ac:chgData name="John Burke" userId="6aa7ac9d-1481-4eb3-bba6-d1142c83d8d1" providerId="ADAL" clId="{22399DAE-D634-4E57-8CE9-6B65241521C5}" dt="2026-03-05T14:47:57.304" v="9991"/>
          <ac:spMkLst>
            <pc:docMk/>
            <pc:sldMk cId="201399760" sldId="291"/>
            <ac:spMk id="5" creationId="{00000000-0000-0000-0000-000000000000}"/>
          </ac:spMkLst>
        </pc:spChg>
      </pc:sldChg>
      <pc:sldChg chg="add modNotesTx">
        <pc:chgData name="John Burke" userId="6aa7ac9d-1481-4eb3-bba6-d1142c83d8d1" providerId="ADAL" clId="{22399DAE-D634-4E57-8CE9-6B65241521C5}" dt="2026-03-05T14:53:11.559" v="10373" actId="20577"/>
        <pc:sldMkLst>
          <pc:docMk/>
          <pc:sldMk cId="3642017345" sldId="292"/>
        </pc:sldMkLst>
      </pc:sldChg>
      <pc:sldChg chg="modSp add mod ord modNotesTx">
        <pc:chgData name="John Burke" userId="6aa7ac9d-1481-4eb3-bba6-d1142c83d8d1" providerId="ADAL" clId="{22399DAE-D634-4E57-8CE9-6B65241521C5}" dt="2026-03-05T14:52:12.346" v="10306" actId="313"/>
        <pc:sldMkLst>
          <pc:docMk/>
          <pc:sldMk cId="826927738" sldId="293"/>
        </pc:sldMkLst>
        <pc:spChg chg="mod">
          <ac:chgData name="John Burke" userId="6aa7ac9d-1481-4eb3-bba6-d1142c83d8d1" providerId="ADAL" clId="{22399DAE-D634-4E57-8CE9-6B65241521C5}" dt="2026-03-05T14:50:13.306" v="10004" actId="20577"/>
          <ac:spMkLst>
            <pc:docMk/>
            <pc:sldMk cId="826927738" sldId="293"/>
            <ac:spMk id="60" creationId="{00000000-0000-0000-0000-000000000000}"/>
          </ac:spMkLst>
        </pc:spChg>
      </pc:sldChg>
      <pc:sldChg chg="modSp add mod modNotesTx">
        <pc:chgData name="John Burke" userId="6aa7ac9d-1481-4eb3-bba6-d1142c83d8d1" providerId="ADAL" clId="{22399DAE-D634-4E57-8CE9-6B65241521C5}" dt="2026-03-05T14:54:34.918" v="10538" actId="1076"/>
        <pc:sldMkLst>
          <pc:docMk/>
          <pc:sldMk cId="1765729332" sldId="294"/>
        </pc:sldMkLst>
        <pc:spChg chg="mod">
          <ac:chgData name="John Burke" userId="6aa7ac9d-1481-4eb3-bba6-d1142c83d8d1" providerId="ADAL" clId="{22399DAE-D634-4E57-8CE9-6B65241521C5}" dt="2026-03-05T14:54:34.918" v="10538" actId="1076"/>
          <ac:spMkLst>
            <pc:docMk/>
            <pc:sldMk cId="1765729332" sldId="294"/>
            <ac:spMk id="200" creationId="{00000000-0000-0000-0000-000000000000}"/>
          </ac:spMkLst>
        </pc:spChg>
      </pc:sldChg>
      <pc:sldChg chg="add modNotesTx">
        <pc:chgData name="John Burke" userId="6aa7ac9d-1481-4eb3-bba6-d1142c83d8d1" providerId="ADAL" clId="{22399DAE-D634-4E57-8CE9-6B65241521C5}" dt="2026-03-05T15:00:01.305" v="11403" actId="20577"/>
        <pc:sldMkLst>
          <pc:docMk/>
          <pc:sldMk cId="2114258638" sldId="295"/>
        </pc:sldMkLst>
      </pc:sldChg>
      <pc:sldChg chg="modSp add mod modNotesTx">
        <pc:chgData name="John Burke" userId="6aa7ac9d-1481-4eb3-bba6-d1142c83d8d1" providerId="ADAL" clId="{22399DAE-D634-4E57-8CE9-6B65241521C5}" dt="2026-03-05T15:02:46.309" v="11751" actId="20577"/>
        <pc:sldMkLst>
          <pc:docMk/>
          <pc:sldMk cId="1654247650" sldId="296"/>
        </pc:sldMkLst>
        <pc:spChg chg="mod">
          <ac:chgData name="John Burke" userId="6aa7ac9d-1481-4eb3-bba6-d1142c83d8d1" providerId="ADAL" clId="{22399DAE-D634-4E57-8CE9-6B65241521C5}" dt="2026-03-05T15:01:09.208" v="11497" actId="20577"/>
          <ac:spMkLst>
            <pc:docMk/>
            <pc:sldMk cId="1654247650" sldId="296"/>
            <ac:spMk id="22" creationId="{00000000-0000-0000-0000-000000000000}"/>
          </ac:spMkLst>
        </pc:spChg>
        <pc:spChg chg="mod">
          <ac:chgData name="John Burke" userId="6aa7ac9d-1481-4eb3-bba6-d1142c83d8d1" providerId="ADAL" clId="{22399DAE-D634-4E57-8CE9-6B65241521C5}" dt="2026-03-05T15:01:17.015" v="11512" actId="20577"/>
          <ac:spMkLst>
            <pc:docMk/>
            <pc:sldMk cId="1654247650" sldId="296"/>
            <ac:spMk id="32" creationId="{00000000-0000-0000-0000-000000000000}"/>
          </ac:spMkLst>
        </pc:spChg>
        <pc:spChg chg="mod">
          <ac:chgData name="John Burke" userId="6aa7ac9d-1481-4eb3-bba6-d1142c83d8d1" providerId="ADAL" clId="{22399DAE-D634-4E57-8CE9-6B65241521C5}" dt="2026-03-05T15:01:27.449" v="11524" actId="20577"/>
          <ac:spMkLst>
            <pc:docMk/>
            <pc:sldMk cId="1654247650" sldId="296"/>
            <ac:spMk id="42" creationId="{00000000-0000-0000-0000-000000000000}"/>
          </ac:spMkLst>
        </pc:spChg>
        <pc:spChg chg="mod">
          <ac:chgData name="John Burke" userId="6aa7ac9d-1481-4eb3-bba6-d1142c83d8d1" providerId="ADAL" clId="{22399DAE-D634-4E57-8CE9-6B65241521C5}" dt="2026-03-05T15:01:53.580" v="11567" actId="20577"/>
          <ac:spMkLst>
            <pc:docMk/>
            <pc:sldMk cId="1654247650" sldId="296"/>
            <ac:spMk id="80" creationId="{00000000-0000-0000-0000-000000000000}"/>
          </ac:spMkLst>
        </pc:spChg>
        <pc:spChg chg="mod">
          <ac:chgData name="John Burke" userId="6aa7ac9d-1481-4eb3-bba6-d1142c83d8d1" providerId="ADAL" clId="{22399DAE-D634-4E57-8CE9-6B65241521C5}" dt="2026-03-05T15:01:41.610" v="11549" actId="20577"/>
          <ac:spMkLst>
            <pc:docMk/>
            <pc:sldMk cId="1654247650" sldId="296"/>
            <ac:spMk id="90" creationId="{00000000-0000-0000-0000-000000000000}"/>
          </ac:spMkLst>
        </pc:spChg>
        <pc:spChg chg="mod">
          <ac:chgData name="John Burke" userId="6aa7ac9d-1481-4eb3-bba6-d1142c83d8d1" providerId="ADAL" clId="{22399DAE-D634-4E57-8CE9-6B65241521C5}" dt="2026-03-05T15:01:34.703" v="11536" actId="20577"/>
          <ac:spMkLst>
            <pc:docMk/>
            <pc:sldMk cId="1654247650" sldId="296"/>
            <ac:spMk id="100" creationId="{00000000-0000-0000-0000-000000000000}"/>
          </ac:spMkLst>
        </pc:spChg>
      </pc:sldChg>
      <pc:sldChg chg="addSp delSp modSp add del mod modNotesTx">
        <pc:chgData name="John Burke" userId="6aa7ac9d-1481-4eb3-bba6-d1142c83d8d1" providerId="ADAL" clId="{22399DAE-D634-4E57-8CE9-6B65241521C5}" dt="2026-03-05T16:05:45.872" v="13729" actId="20577"/>
        <pc:sldMkLst>
          <pc:docMk/>
          <pc:sldMk cId="1375031554" sldId="297"/>
        </pc:sldMkLst>
        <pc:spChg chg="mod">
          <ac:chgData name="John Burke" userId="6aa7ac9d-1481-4eb3-bba6-d1142c83d8d1" providerId="ADAL" clId="{22399DAE-D634-4E57-8CE9-6B65241521C5}" dt="2026-03-05T15:13:30.431" v="11971" actId="14100"/>
          <ac:spMkLst>
            <pc:docMk/>
            <pc:sldMk cId="1375031554" sldId="297"/>
            <ac:spMk id="5" creationId="{00000000-0000-0000-0000-000000000000}"/>
          </ac:spMkLst>
        </pc:spChg>
        <pc:spChg chg="mod">
          <ac:chgData name="John Burke" userId="6aa7ac9d-1481-4eb3-bba6-d1142c83d8d1" providerId="ADAL" clId="{22399DAE-D634-4E57-8CE9-6B65241521C5}" dt="2026-03-05T15:13:40.640" v="11974" actId="1076"/>
          <ac:spMkLst>
            <pc:docMk/>
            <pc:sldMk cId="1375031554" sldId="297"/>
            <ac:spMk id="7" creationId="{00000000-0000-0000-0000-000000000000}"/>
          </ac:spMkLst>
        </pc:spChg>
        <pc:spChg chg="mod">
          <ac:chgData name="John Burke" userId="6aa7ac9d-1481-4eb3-bba6-d1142c83d8d1" providerId="ADAL" clId="{22399DAE-D634-4E57-8CE9-6B65241521C5}" dt="2026-03-05T15:13:48.040" v="11975" actId="1076"/>
          <ac:spMkLst>
            <pc:docMk/>
            <pc:sldMk cId="1375031554" sldId="297"/>
            <ac:spMk id="8" creationId="{00000000-0000-0000-0000-000000000000}"/>
          </ac:spMkLst>
        </pc:spChg>
        <pc:spChg chg="add mod">
          <ac:chgData name="John Burke" userId="6aa7ac9d-1481-4eb3-bba6-d1142c83d8d1" providerId="ADAL" clId="{22399DAE-D634-4E57-8CE9-6B65241521C5}" dt="2026-03-05T15:13:33.903" v="11972" actId="1076"/>
          <ac:spMkLst>
            <pc:docMk/>
            <pc:sldMk cId="1375031554" sldId="297"/>
            <ac:spMk id="9" creationId="{3CA4CFD1-C22B-AAEA-68B9-24240A0C85A3}"/>
          </ac:spMkLst>
        </pc:spChg>
        <pc:spChg chg="mod">
          <ac:chgData name="John Burke" userId="6aa7ac9d-1481-4eb3-bba6-d1142c83d8d1" providerId="ADAL" clId="{22399DAE-D634-4E57-8CE9-6B65241521C5}" dt="2026-03-05T15:14:01.014" v="11976" actId="1076"/>
          <ac:spMkLst>
            <pc:docMk/>
            <pc:sldMk cId="1375031554" sldId="297"/>
            <ac:spMk id="20" creationId="{00000000-0000-0000-0000-000000000000}"/>
          </ac:spMkLst>
        </pc:spChg>
        <pc:spChg chg="del mod">
          <ac:chgData name="John Burke" userId="6aa7ac9d-1481-4eb3-bba6-d1142c83d8d1" providerId="ADAL" clId="{22399DAE-D634-4E57-8CE9-6B65241521C5}" dt="2026-03-05T15:08:29.912" v="11759" actId="478"/>
          <ac:spMkLst>
            <pc:docMk/>
            <pc:sldMk cId="1375031554" sldId="297"/>
            <ac:spMk id="30" creationId="{00000000-0000-0000-0000-000000000000}"/>
          </ac:spMkLst>
        </pc:spChg>
        <pc:spChg chg="mod">
          <ac:chgData name="John Burke" userId="6aa7ac9d-1481-4eb3-bba6-d1142c83d8d1" providerId="ADAL" clId="{22399DAE-D634-4E57-8CE9-6B65241521C5}" dt="2026-03-05T15:14:05.088" v="11977" actId="1076"/>
          <ac:spMkLst>
            <pc:docMk/>
            <pc:sldMk cId="1375031554" sldId="297"/>
            <ac:spMk id="40" creationId="{00000000-0000-0000-0000-000000000000}"/>
          </ac:spMkLst>
        </pc:spChg>
        <pc:spChg chg="mod">
          <ac:chgData name="John Burke" userId="6aa7ac9d-1481-4eb3-bba6-d1142c83d8d1" providerId="ADAL" clId="{22399DAE-D634-4E57-8CE9-6B65241521C5}" dt="2026-03-05T15:12:37.667" v="11916" actId="242"/>
          <ac:spMkLst>
            <pc:docMk/>
            <pc:sldMk cId="1375031554" sldId="297"/>
            <ac:spMk id="50" creationId="{00000000-0000-0000-0000-000000000000}"/>
          </ac:spMkLst>
        </pc:spChg>
      </pc:sldChg>
      <pc:sldChg chg="add del">
        <pc:chgData name="John Burke" userId="6aa7ac9d-1481-4eb3-bba6-d1142c83d8d1" providerId="ADAL" clId="{22399DAE-D634-4E57-8CE9-6B65241521C5}" dt="2026-03-05T14:03:19.597" v="6835"/>
        <pc:sldMkLst>
          <pc:docMk/>
          <pc:sldMk cId="1744955563" sldId="298"/>
        </pc:sldMkLst>
      </pc:sldChg>
      <pc:sldChg chg="modSp add mod modNotesTx">
        <pc:chgData name="John Burke" userId="6aa7ac9d-1481-4eb3-bba6-d1142c83d8d1" providerId="ADAL" clId="{22399DAE-D634-4E57-8CE9-6B65241521C5}" dt="2026-03-05T15:25:40.782" v="13061" actId="20577"/>
        <pc:sldMkLst>
          <pc:docMk/>
          <pc:sldMk cId="1273880540" sldId="299"/>
        </pc:sldMkLst>
        <pc:spChg chg="mod">
          <ac:chgData name="John Burke" userId="6aa7ac9d-1481-4eb3-bba6-d1142c83d8d1" providerId="ADAL" clId="{22399DAE-D634-4E57-8CE9-6B65241521C5}" dt="2026-03-05T15:24:42.697" v="12996" actId="242"/>
          <ac:spMkLst>
            <pc:docMk/>
            <pc:sldMk cId="1273880540" sldId="299"/>
            <ac:spMk id="120" creationId="{00000000-0000-0000-0000-000000000000}"/>
          </ac:spMkLst>
        </pc:spChg>
      </pc:sldChg>
      <pc:sldChg chg="modSp add mod modNotesTx">
        <pc:chgData name="John Burke" userId="6aa7ac9d-1481-4eb3-bba6-d1142c83d8d1" providerId="ADAL" clId="{22399DAE-D634-4E57-8CE9-6B65241521C5}" dt="2026-03-05T15:26:34.864" v="13119" actId="242"/>
        <pc:sldMkLst>
          <pc:docMk/>
          <pc:sldMk cId="196006978" sldId="300"/>
        </pc:sldMkLst>
        <pc:spChg chg="mod">
          <ac:chgData name="John Burke" userId="6aa7ac9d-1481-4eb3-bba6-d1142c83d8d1" providerId="ADAL" clId="{22399DAE-D634-4E57-8CE9-6B65241521C5}" dt="2026-03-05T15:25:54.718" v="13062" actId="20577"/>
          <ac:spMkLst>
            <pc:docMk/>
            <pc:sldMk cId="196006978" sldId="300"/>
            <ac:spMk id="3" creationId="{00000000-0000-0000-0000-000000000000}"/>
          </ac:spMkLst>
        </pc:spChg>
        <pc:spChg chg="mod">
          <ac:chgData name="John Burke" userId="6aa7ac9d-1481-4eb3-bba6-d1142c83d8d1" providerId="ADAL" clId="{22399DAE-D634-4E57-8CE9-6B65241521C5}" dt="2026-03-05T15:26:34.864" v="13119" actId="242"/>
          <ac:spMkLst>
            <pc:docMk/>
            <pc:sldMk cId="196006978" sldId="300"/>
            <ac:spMk id="120" creationId="{00000000-0000-0000-0000-000000000000}"/>
          </ac:spMkLst>
        </pc:spChg>
      </pc:sldChg>
      <pc:sldChg chg="modSp add mod modNotesTx">
        <pc:chgData name="John Burke" userId="6aa7ac9d-1481-4eb3-bba6-d1142c83d8d1" providerId="ADAL" clId="{22399DAE-D634-4E57-8CE9-6B65241521C5}" dt="2026-03-05T17:39:10.168" v="14468" actId="20577"/>
        <pc:sldMkLst>
          <pc:docMk/>
          <pc:sldMk cId="2214432605" sldId="301"/>
        </pc:sldMkLst>
        <pc:spChg chg="mod">
          <ac:chgData name="John Burke" userId="6aa7ac9d-1481-4eb3-bba6-d1142c83d8d1" providerId="ADAL" clId="{22399DAE-D634-4E57-8CE9-6B65241521C5}" dt="2026-03-05T15:28:02.945" v="13216" actId="20577"/>
          <ac:spMkLst>
            <pc:docMk/>
            <pc:sldMk cId="2214432605" sldId="301"/>
            <ac:spMk id="10" creationId="{00000000-0000-0000-0000-000000000000}"/>
          </ac:spMkLst>
        </pc:spChg>
        <pc:spChg chg="mod">
          <ac:chgData name="John Burke" userId="6aa7ac9d-1481-4eb3-bba6-d1142c83d8d1" providerId="ADAL" clId="{22399DAE-D634-4E57-8CE9-6B65241521C5}" dt="2026-03-05T15:27:13.562" v="13177" actId="1036"/>
          <ac:spMkLst>
            <pc:docMk/>
            <pc:sldMk cId="2214432605" sldId="301"/>
            <ac:spMk id="12" creationId="{00000000-0000-0000-0000-000000000000}"/>
          </ac:spMkLst>
        </pc:spChg>
        <pc:spChg chg="mod">
          <ac:chgData name="John Burke" userId="6aa7ac9d-1481-4eb3-bba6-d1142c83d8d1" providerId="ADAL" clId="{22399DAE-D634-4E57-8CE9-6B65241521C5}" dt="2026-03-05T15:27:13.562" v="13177" actId="1036"/>
          <ac:spMkLst>
            <pc:docMk/>
            <pc:sldMk cId="2214432605" sldId="301"/>
            <ac:spMk id="13" creationId="{00000000-0000-0000-0000-000000000000}"/>
          </ac:spMkLst>
        </pc:spChg>
        <pc:spChg chg="mod">
          <ac:chgData name="John Burke" userId="6aa7ac9d-1481-4eb3-bba6-d1142c83d8d1" providerId="ADAL" clId="{22399DAE-D634-4E57-8CE9-6B65241521C5}" dt="2026-03-05T15:28:07.991" v="13220" actId="20577"/>
          <ac:spMkLst>
            <pc:docMk/>
            <pc:sldMk cId="2214432605" sldId="301"/>
            <ac:spMk id="20" creationId="{00000000-0000-0000-0000-000000000000}"/>
          </ac:spMkLst>
        </pc:spChg>
        <pc:spChg chg="mod">
          <ac:chgData name="John Burke" userId="6aa7ac9d-1481-4eb3-bba6-d1142c83d8d1" providerId="ADAL" clId="{22399DAE-D634-4E57-8CE9-6B65241521C5}" dt="2026-03-05T15:28:12.498" v="13223" actId="20577"/>
          <ac:spMkLst>
            <pc:docMk/>
            <pc:sldMk cId="2214432605" sldId="301"/>
            <ac:spMk id="24" creationId="{00000000-0000-0000-0000-000000000000}"/>
          </ac:spMkLst>
        </pc:spChg>
        <pc:spChg chg="mod">
          <ac:chgData name="John Burke" userId="6aa7ac9d-1481-4eb3-bba6-d1142c83d8d1" providerId="ADAL" clId="{22399DAE-D634-4E57-8CE9-6B65241521C5}" dt="2026-03-05T15:27:13.562" v="13177" actId="1036"/>
          <ac:spMkLst>
            <pc:docMk/>
            <pc:sldMk cId="2214432605" sldId="301"/>
            <ac:spMk id="25" creationId="{00000000-0000-0000-0000-000000000000}"/>
          </ac:spMkLst>
        </pc:spChg>
        <pc:spChg chg="mod">
          <ac:chgData name="John Burke" userId="6aa7ac9d-1481-4eb3-bba6-d1142c83d8d1" providerId="ADAL" clId="{22399DAE-D634-4E57-8CE9-6B65241521C5}" dt="2026-03-05T15:27:13.562" v="13177" actId="1036"/>
          <ac:spMkLst>
            <pc:docMk/>
            <pc:sldMk cId="2214432605" sldId="301"/>
            <ac:spMk id="27" creationId="{00000000-0000-0000-0000-000000000000}"/>
          </ac:spMkLst>
        </pc:spChg>
        <pc:spChg chg="mod">
          <ac:chgData name="John Burke" userId="6aa7ac9d-1481-4eb3-bba6-d1142c83d8d1" providerId="ADAL" clId="{22399DAE-D634-4E57-8CE9-6B65241521C5}" dt="2026-03-05T15:28:19.583" v="13236" actId="20577"/>
          <ac:spMkLst>
            <pc:docMk/>
            <pc:sldMk cId="2214432605" sldId="301"/>
            <ac:spMk id="28" creationId="{00000000-0000-0000-0000-000000000000}"/>
          </ac:spMkLst>
        </pc:spChg>
        <pc:spChg chg="mod">
          <ac:chgData name="John Burke" userId="6aa7ac9d-1481-4eb3-bba6-d1142c83d8d1" providerId="ADAL" clId="{22399DAE-D634-4E57-8CE9-6B65241521C5}" dt="2026-03-05T15:27:13.562" v="13177" actId="1036"/>
          <ac:spMkLst>
            <pc:docMk/>
            <pc:sldMk cId="2214432605" sldId="301"/>
            <ac:spMk id="32" creationId="{00000000-0000-0000-0000-000000000000}"/>
          </ac:spMkLst>
        </pc:spChg>
        <pc:spChg chg="mod">
          <ac:chgData name="John Burke" userId="6aa7ac9d-1481-4eb3-bba6-d1142c83d8d1" providerId="ADAL" clId="{22399DAE-D634-4E57-8CE9-6B65241521C5}" dt="2026-03-05T15:27:13.562" v="13177" actId="1036"/>
          <ac:spMkLst>
            <pc:docMk/>
            <pc:sldMk cId="2214432605" sldId="301"/>
            <ac:spMk id="34" creationId="{00000000-0000-0000-0000-000000000000}"/>
          </ac:spMkLst>
        </pc:spChg>
        <pc:spChg chg="mod">
          <ac:chgData name="John Burke" userId="6aa7ac9d-1481-4eb3-bba6-d1142c83d8d1" providerId="ADAL" clId="{22399DAE-D634-4E57-8CE9-6B65241521C5}" dt="2026-03-05T15:28:30.102" v="13240" actId="20577"/>
          <ac:spMkLst>
            <pc:docMk/>
            <pc:sldMk cId="2214432605" sldId="301"/>
            <ac:spMk id="71" creationId="{00000000-0000-0000-0000-000000000000}"/>
          </ac:spMkLst>
        </pc:spChg>
        <pc:spChg chg="mod">
          <ac:chgData name="John Burke" userId="6aa7ac9d-1481-4eb3-bba6-d1142c83d8d1" providerId="ADAL" clId="{22399DAE-D634-4E57-8CE9-6B65241521C5}" dt="2026-03-05T15:28:33.919" v="13243" actId="20577"/>
          <ac:spMkLst>
            <pc:docMk/>
            <pc:sldMk cId="2214432605" sldId="301"/>
            <ac:spMk id="72" creationId="{00000000-0000-0000-0000-000000000000}"/>
          </ac:spMkLst>
        </pc:spChg>
        <pc:spChg chg="mod">
          <ac:chgData name="John Burke" userId="6aa7ac9d-1481-4eb3-bba6-d1142c83d8d1" providerId="ADAL" clId="{22399DAE-D634-4E57-8CE9-6B65241521C5}" dt="2026-03-05T15:28:39.035" v="13247" actId="20577"/>
          <ac:spMkLst>
            <pc:docMk/>
            <pc:sldMk cId="2214432605" sldId="301"/>
            <ac:spMk id="73" creationId="{00000000-0000-0000-0000-000000000000}"/>
          </ac:spMkLst>
        </pc:spChg>
        <pc:spChg chg="mod">
          <ac:chgData name="John Burke" userId="6aa7ac9d-1481-4eb3-bba6-d1142c83d8d1" providerId="ADAL" clId="{22399DAE-D634-4E57-8CE9-6B65241521C5}" dt="2026-03-05T15:27:13.562" v="13177" actId="1036"/>
          <ac:spMkLst>
            <pc:docMk/>
            <pc:sldMk cId="2214432605" sldId="301"/>
            <ac:spMk id="82" creationId="{00000000-0000-0000-0000-000000000000}"/>
          </ac:spMkLst>
        </pc:spChg>
        <pc:spChg chg="mod">
          <ac:chgData name="John Burke" userId="6aa7ac9d-1481-4eb3-bba6-d1142c83d8d1" providerId="ADAL" clId="{22399DAE-D634-4E57-8CE9-6B65241521C5}" dt="2026-03-05T15:27:13.562" v="13177" actId="1036"/>
          <ac:spMkLst>
            <pc:docMk/>
            <pc:sldMk cId="2214432605" sldId="301"/>
            <ac:spMk id="84" creationId="{00000000-0000-0000-0000-000000000000}"/>
          </ac:spMkLst>
        </pc:spChg>
        <pc:spChg chg="mod">
          <ac:chgData name="John Burke" userId="6aa7ac9d-1481-4eb3-bba6-d1142c83d8d1" providerId="ADAL" clId="{22399DAE-D634-4E57-8CE9-6B65241521C5}" dt="2026-03-05T15:27:13.562" v="13177" actId="1036"/>
          <ac:spMkLst>
            <pc:docMk/>
            <pc:sldMk cId="2214432605" sldId="301"/>
            <ac:spMk id="88" creationId="{00000000-0000-0000-0000-000000000000}"/>
          </ac:spMkLst>
        </pc:spChg>
        <pc:spChg chg="mod">
          <ac:chgData name="John Burke" userId="6aa7ac9d-1481-4eb3-bba6-d1142c83d8d1" providerId="ADAL" clId="{22399DAE-D634-4E57-8CE9-6B65241521C5}" dt="2026-03-05T15:28:58.020" v="13261" actId="20577"/>
          <ac:spMkLst>
            <pc:docMk/>
            <pc:sldMk cId="2214432605" sldId="301"/>
            <ac:spMk id="130" creationId="{00000000-0000-0000-0000-000000000000}"/>
          </ac:spMkLst>
        </pc:spChg>
      </pc:sldChg>
      <pc:sldChg chg="add del">
        <pc:chgData name="John Burke" userId="6aa7ac9d-1481-4eb3-bba6-d1142c83d8d1" providerId="ADAL" clId="{22399DAE-D634-4E57-8CE9-6B65241521C5}" dt="2026-03-05T14:03:55.826" v="6837"/>
        <pc:sldMkLst>
          <pc:docMk/>
          <pc:sldMk cId="2309088760" sldId="302"/>
        </pc:sldMkLst>
      </pc:sldChg>
      <pc:sldChg chg="add modNotesTx">
        <pc:chgData name="John Burke" userId="6aa7ac9d-1481-4eb3-bba6-d1142c83d8d1" providerId="ADAL" clId="{22399DAE-D634-4E57-8CE9-6B65241521C5}" dt="2026-03-05T17:44:39.561" v="15300" actId="20577"/>
        <pc:sldMkLst>
          <pc:docMk/>
          <pc:sldMk cId="838870616" sldId="303"/>
        </pc:sldMkLst>
      </pc:sldChg>
      <pc:sldChg chg="addSp modSp add del mod">
        <pc:chgData name="John Burke" userId="6aa7ac9d-1481-4eb3-bba6-d1142c83d8d1" providerId="ADAL" clId="{22399DAE-D634-4E57-8CE9-6B65241521C5}" dt="2026-03-05T17:54:54.547" v="15856"/>
        <pc:sldMkLst>
          <pc:docMk/>
          <pc:sldMk cId="2974475885" sldId="304"/>
        </pc:sldMkLst>
        <pc:spChg chg="mod">
          <ac:chgData name="John Burke" userId="6aa7ac9d-1481-4eb3-bba6-d1142c83d8d1" providerId="ADAL" clId="{22399DAE-D634-4E57-8CE9-6B65241521C5}" dt="2026-03-05T17:45:08.851" v="15301" actId="20577"/>
          <ac:spMkLst>
            <pc:docMk/>
            <pc:sldMk cId="2974475885" sldId="304"/>
            <ac:spMk id="3" creationId="{00000000-0000-0000-0000-000000000000}"/>
          </ac:spMkLst>
        </pc:spChg>
        <pc:spChg chg="add mod">
          <ac:chgData name="John Burke" userId="6aa7ac9d-1481-4eb3-bba6-d1142c83d8d1" providerId="ADAL" clId="{22399DAE-D634-4E57-8CE9-6B65241521C5}" dt="2026-03-05T17:52:21.997" v="15825" actId="1076"/>
          <ac:spMkLst>
            <pc:docMk/>
            <pc:sldMk cId="2974475885" sldId="304"/>
            <ac:spMk id="4" creationId="{6C225D36-8CA7-00F2-5240-8A41118915FE}"/>
          </ac:spMkLst>
        </pc:spChg>
        <pc:spChg chg="add mod">
          <ac:chgData name="John Burke" userId="6aa7ac9d-1481-4eb3-bba6-d1142c83d8d1" providerId="ADAL" clId="{22399DAE-D634-4E57-8CE9-6B65241521C5}" dt="2026-03-05T17:52:21.997" v="15825" actId="1076"/>
          <ac:spMkLst>
            <pc:docMk/>
            <pc:sldMk cId="2974475885" sldId="304"/>
            <ac:spMk id="5" creationId="{1D314D27-E3D7-8C0A-8D72-6AED50246C2A}"/>
          </ac:spMkLst>
        </pc:spChg>
        <pc:spChg chg="add mod">
          <ac:chgData name="John Burke" userId="6aa7ac9d-1481-4eb3-bba6-d1142c83d8d1" providerId="ADAL" clId="{22399DAE-D634-4E57-8CE9-6B65241521C5}" dt="2026-03-05T17:52:21.997" v="15825" actId="1076"/>
          <ac:spMkLst>
            <pc:docMk/>
            <pc:sldMk cId="2974475885" sldId="304"/>
            <ac:spMk id="6" creationId="{8C9D9ED3-E405-D437-D5AE-FFAC1703C171}"/>
          </ac:spMkLst>
        </pc:spChg>
        <pc:spChg chg="add mod">
          <ac:chgData name="John Burke" userId="6aa7ac9d-1481-4eb3-bba6-d1142c83d8d1" providerId="ADAL" clId="{22399DAE-D634-4E57-8CE9-6B65241521C5}" dt="2026-03-05T17:52:21.997" v="15825" actId="1076"/>
          <ac:spMkLst>
            <pc:docMk/>
            <pc:sldMk cId="2974475885" sldId="304"/>
            <ac:spMk id="7" creationId="{46D4C308-7A08-C6E1-C78B-FA30E224BF3D}"/>
          </ac:spMkLst>
        </pc:spChg>
        <pc:spChg chg="mod">
          <ac:chgData name="John Burke" userId="6aa7ac9d-1481-4eb3-bba6-d1142c83d8d1" providerId="ADAL" clId="{22399DAE-D634-4E57-8CE9-6B65241521C5}" dt="2026-03-05T17:45:13.447" v="15309" actId="20577"/>
          <ac:spMkLst>
            <pc:docMk/>
            <pc:sldMk cId="2974475885" sldId="304"/>
            <ac:spMk id="12" creationId="{00000000-0000-0000-0000-000000000000}"/>
          </ac:spMkLst>
        </pc:spChg>
        <pc:spChg chg="mod">
          <ac:chgData name="John Burke" userId="6aa7ac9d-1481-4eb3-bba6-d1142c83d8d1" providerId="ADAL" clId="{22399DAE-D634-4E57-8CE9-6B65241521C5}" dt="2026-03-05T17:46:57.188" v="15416" actId="313"/>
          <ac:spMkLst>
            <pc:docMk/>
            <pc:sldMk cId="2974475885" sldId="304"/>
            <ac:spMk id="13" creationId="{00000000-0000-0000-0000-000000000000}"/>
          </ac:spMkLst>
        </pc:spChg>
        <pc:spChg chg="mod">
          <ac:chgData name="John Burke" userId="6aa7ac9d-1481-4eb3-bba6-d1142c83d8d1" providerId="ADAL" clId="{22399DAE-D634-4E57-8CE9-6B65241521C5}" dt="2026-03-05T17:51:17.166" v="15732" actId="1036"/>
          <ac:spMkLst>
            <pc:docMk/>
            <pc:sldMk cId="2974475885" sldId="304"/>
            <ac:spMk id="20" creationId="{00000000-0000-0000-0000-000000000000}"/>
          </ac:spMkLst>
        </pc:spChg>
        <pc:spChg chg="mod">
          <ac:chgData name="John Burke" userId="6aa7ac9d-1481-4eb3-bba6-d1142c83d8d1" providerId="ADAL" clId="{22399DAE-D634-4E57-8CE9-6B65241521C5}" dt="2026-03-05T17:51:17.166" v="15732" actId="1036"/>
          <ac:spMkLst>
            <pc:docMk/>
            <pc:sldMk cId="2974475885" sldId="304"/>
            <ac:spMk id="21" creationId="{00000000-0000-0000-0000-000000000000}"/>
          </ac:spMkLst>
        </pc:spChg>
        <pc:spChg chg="mod">
          <ac:chgData name="John Burke" userId="6aa7ac9d-1481-4eb3-bba6-d1142c83d8d1" providerId="ADAL" clId="{22399DAE-D634-4E57-8CE9-6B65241521C5}" dt="2026-03-05T17:51:17.166" v="15732" actId="1036"/>
          <ac:spMkLst>
            <pc:docMk/>
            <pc:sldMk cId="2974475885" sldId="304"/>
            <ac:spMk id="22" creationId="{00000000-0000-0000-0000-000000000000}"/>
          </ac:spMkLst>
        </pc:spChg>
        <pc:spChg chg="mod">
          <ac:chgData name="John Burke" userId="6aa7ac9d-1481-4eb3-bba6-d1142c83d8d1" providerId="ADAL" clId="{22399DAE-D634-4E57-8CE9-6B65241521C5}" dt="2026-03-05T17:51:17.166" v="15732" actId="1036"/>
          <ac:spMkLst>
            <pc:docMk/>
            <pc:sldMk cId="2974475885" sldId="304"/>
            <ac:spMk id="23" creationId="{00000000-0000-0000-0000-000000000000}"/>
          </ac:spMkLst>
        </pc:spChg>
        <pc:spChg chg="mod">
          <ac:chgData name="John Burke" userId="6aa7ac9d-1481-4eb3-bba6-d1142c83d8d1" providerId="ADAL" clId="{22399DAE-D634-4E57-8CE9-6B65241521C5}" dt="2026-03-05T17:52:32.984" v="15854" actId="1035"/>
          <ac:spMkLst>
            <pc:docMk/>
            <pc:sldMk cId="2974475885" sldId="304"/>
            <ac:spMk id="30" creationId="{00000000-0000-0000-0000-000000000000}"/>
          </ac:spMkLst>
        </pc:spChg>
        <pc:spChg chg="mod">
          <ac:chgData name="John Burke" userId="6aa7ac9d-1481-4eb3-bba6-d1142c83d8d1" providerId="ADAL" clId="{22399DAE-D634-4E57-8CE9-6B65241521C5}" dt="2026-03-05T17:52:32.984" v="15854" actId="1035"/>
          <ac:spMkLst>
            <pc:docMk/>
            <pc:sldMk cId="2974475885" sldId="304"/>
            <ac:spMk id="31" creationId="{00000000-0000-0000-0000-000000000000}"/>
          </ac:spMkLst>
        </pc:spChg>
        <pc:spChg chg="mod">
          <ac:chgData name="John Burke" userId="6aa7ac9d-1481-4eb3-bba6-d1142c83d8d1" providerId="ADAL" clId="{22399DAE-D634-4E57-8CE9-6B65241521C5}" dt="2026-03-05T17:52:32.984" v="15854" actId="1035"/>
          <ac:spMkLst>
            <pc:docMk/>
            <pc:sldMk cId="2974475885" sldId="304"/>
            <ac:spMk id="32" creationId="{00000000-0000-0000-0000-000000000000}"/>
          </ac:spMkLst>
        </pc:spChg>
        <pc:spChg chg="mod">
          <ac:chgData name="John Burke" userId="6aa7ac9d-1481-4eb3-bba6-d1142c83d8d1" providerId="ADAL" clId="{22399DAE-D634-4E57-8CE9-6B65241521C5}" dt="2026-03-05T17:52:32.984" v="15854" actId="1035"/>
          <ac:spMkLst>
            <pc:docMk/>
            <pc:sldMk cId="2974475885" sldId="304"/>
            <ac:spMk id="33" creationId="{00000000-0000-0000-0000-000000000000}"/>
          </ac:spMkLst>
        </pc:spChg>
        <pc:spChg chg="mod">
          <ac:chgData name="John Burke" userId="6aa7ac9d-1481-4eb3-bba6-d1142c83d8d1" providerId="ADAL" clId="{22399DAE-D634-4E57-8CE9-6B65241521C5}" dt="2026-03-05T17:49:11.222" v="15620" actId="20577"/>
          <ac:spMkLst>
            <pc:docMk/>
            <pc:sldMk cId="2974475885" sldId="304"/>
            <ac:spMk id="41" creationId="{00000000-0000-0000-0000-000000000000}"/>
          </ac:spMkLst>
        </pc:spChg>
        <pc:spChg chg="mod">
          <ac:chgData name="John Burke" userId="6aa7ac9d-1481-4eb3-bba6-d1142c83d8d1" providerId="ADAL" clId="{22399DAE-D634-4E57-8CE9-6B65241521C5}" dt="2026-03-05T17:49:16.156" v="15625" actId="20577"/>
          <ac:spMkLst>
            <pc:docMk/>
            <pc:sldMk cId="2974475885" sldId="304"/>
            <ac:spMk id="42" creationId="{00000000-0000-0000-0000-000000000000}"/>
          </ac:spMkLst>
        </pc:spChg>
        <pc:spChg chg="mod">
          <ac:chgData name="John Burke" userId="6aa7ac9d-1481-4eb3-bba6-d1142c83d8d1" providerId="ADAL" clId="{22399DAE-D634-4E57-8CE9-6B65241521C5}" dt="2026-03-05T17:49:41.097" v="15674" actId="20577"/>
          <ac:spMkLst>
            <pc:docMk/>
            <pc:sldMk cId="2974475885" sldId="304"/>
            <ac:spMk id="43" creationId="{00000000-0000-0000-0000-000000000000}"/>
          </ac:spMkLst>
        </pc:spChg>
        <pc:spChg chg="mod">
          <ac:chgData name="John Burke" userId="6aa7ac9d-1481-4eb3-bba6-d1142c83d8d1" providerId="ADAL" clId="{22399DAE-D634-4E57-8CE9-6B65241521C5}" dt="2026-03-05T17:50:26.585" v="15698" actId="14100"/>
          <ac:spMkLst>
            <pc:docMk/>
            <pc:sldMk cId="2974475885" sldId="304"/>
            <ac:spMk id="50" creationId="{00000000-0000-0000-0000-000000000000}"/>
          </ac:spMkLst>
        </pc:spChg>
        <pc:spChg chg="mod">
          <ac:chgData name="John Burke" userId="6aa7ac9d-1481-4eb3-bba6-d1142c83d8d1" providerId="ADAL" clId="{22399DAE-D634-4E57-8CE9-6B65241521C5}" dt="2026-03-05T17:49:48.674" v="15676" actId="20577"/>
          <ac:spMkLst>
            <pc:docMk/>
            <pc:sldMk cId="2974475885" sldId="304"/>
            <ac:spMk id="51" creationId="{00000000-0000-0000-0000-000000000000}"/>
          </ac:spMkLst>
        </pc:spChg>
        <pc:spChg chg="mod">
          <ac:chgData name="John Burke" userId="6aa7ac9d-1481-4eb3-bba6-d1142c83d8d1" providerId="ADAL" clId="{22399DAE-D634-4E57-8CE9-6B65241521C5}" dt="2026-03-05T17:50:18.858" v="15697"/>
          <ac:spMkLst>
            <pc:docMk/>
            <pc:sldMk cId="2974475885" sldId="304"/>
            <ac:spMk id="53" creationId="{00000000-0000-0000-0000-000000000000}"/>
          </ac:spMkLst>
        </pc:spChg>
      </pc:sldChg>
      <pc:sldChg chg="modSp add mod modNotesTx">
        <pc:chgData name="John Burke" userId="6aa7ac9d-1481-4eb3-bba6-d1142c83d8d1" providerId="ADAL" clId="{22399DAE-D634-4E57-8CE9-6B65241521C5}" dt="2026-03-05T15:24:25.771" v="12994" actId="20577"/>
        <pc:sldMkLst>
          <pc:docMk/>
          <pc:sldMk cId="3730123948" sldId="305"/>
        </pc:sldMkLst>
        <pc:spChg chg="mod">
          <ac:chgData name="John Burke" userId="6aa7ac9d-1481-4eb3-bba6-d1142c83d8d1" providerId="ADAL" clId="{22399DAE-D634-4E57-8CE9-6B65241521C5}" dt="2026-03-05T15:23:30.545" v="12810" actId="20577"/>
          <ac:spMkLst>
            <pc:docMk/>
            <pc:sldMk cId="3730123948" sldId="305"/>
            <ac:spMk id="50" creationId="{00000000-0000-0000-0000-000000000000}"/>
          </ac:spMkLst>
        </pc:spChg>
      </pc:sldChg>
      <pc:sldChg chg="add del">
        <pc:chgData name="John Burke" userId="6aa7ac9d-1481-4eb3-bba6-d1142c83d8d1" providerId="ADAL" clId="{22399DAE-D634-4E57-8CE9-6B65241521C5}" dt="2026-03-05T15:49:15.683" v="13263"/>
        <pc:sldMkLst>
          <pc:docMk/>
          <pc:sldMk cId="3469686483" sldId="306"/>
        </pc:sldMkLst>
      </pc:sldChg>
      <pc:sldChg chg="add del">
        <pc:chgData name="John Burke" userId="6aa7ac9d-1481-4eb3-bba6-d1142c83d8d1" providerId="ADAL" clId="{22399DAE-D634-4E57-8CE9-6B65241521C5}" dt="2026-03-05T15:50:15.642" v="13265"/>
        <pc:sldMkLst>
          <pc:docMk/>
          <pc:sldMk cId="1584565448" sldId="307"/>
        </pc:sldMkLst>
      </pc:sldChg>
      <pc:sldChg chg="add del">
        <pc:chgData name="John Burke" userId="6aa7ac9d-1481-4eb3-bba6-d1142c83d8d1" providerId="ADAL" clId="{22399DAE-D634-4E57-8CE9-6B65241521C5}" dt="2026-03-05T15:52:02.633" v="13267"/>
        <pc:sldMkLst>
          <pc:docMk/>
          <pc:sldMk cId="2447386418" sldId="308"/>
        </pc:sldMkLst>
      </pc:sldChg>
      <pc:sldChg chg="add del">
        <pc:chgData name="John Burke" userId="6aa7ac9d-1481-4eb3-bba6-d1142c83d8d1" providerId="ADAL" clId="{22399DAE-D634-4E57-8CE9-6B65241521C5}" dt="2026-03-05T15:53:01.992" v="13269"/>
        <pc:sldMkLst>
          <pc:docMk/>
          <pc:sldMk cId="3476879548" sldId="309"/>
        </pc:sldMkLst>
      </pc:sldChg>
      <pc:sldChg chg="delSp modSp add mod ord modNotesTx">
        <pc:chgData name="John Burke" userId="6aa7ac9d-1481-4eb3-bba6-d1142c83d8d1" providerId="ADAL" clId="{22399DAE-D634-4E57-8CE9-6B65241521C5}" dt="2026-03-05T17:15:29.393" v="14329" actId="20577"/>
        <pc:sldMkLst>
          <pc:docMk/>
          <pc:sldMk cId="45810463" sldId="310"/>
        </pc:sldMkLst>
        <pc:spChg chg="mod">
          <ac:chgData name="John Burke" userId="6aa7ac9d-1481-4eb3-bba6-d1142c83d8d1" providerId="ADAL" clId="{22399DAE-D634-4E57-8CE9-6B65241521C5}" dt="2026-03-05T15:56:42.383" v="13321" actId="20577"/>
          <ac:spMkLst>
            <pc:docMk/>
            <pc:sldMk cId="45810463" sldId="310"/>
            <ac:spMk id="21" creationId="{00000000-0000-0000-0000-000000000000}"/>
          </ac:spMkLst>
        </pc:spChg>
        <pc:spChg chg="mod">
          <ac:chgData name="John Burke" userId="6aa7ac9d-1481-4eb3-bba6-d1142c83d8d1" providerId="ADAL" clId="{22399DAE-D634-4E57-8CE9-6B65241521C5}" dt="2026-03-05T15:56:03.895" v="13279" actId="20577"/>
          <ac:spMkLst>
            <pc:docMk/>
            <pc:sldMk cId="45810463" sldId="310"/>
            <ac:spMk id="29" creationId="{00000000-0000-0000-0000-000000000000}"/>
          </ac:spMkLst>
        </pc:spChg>
        <pc:spChg chg="mod">
          <ac:chgData name="John Burke" userId="6aa7ac9d-1481-4eb3-bba6-d1142c83d8d1" providerId="ADAL" clId="{22399DAE-D634-4E57-8CE9-6B65241521C5}" dt="2026-03-05T15:56:22.400" v="13319" actId="20577"/>
          <ac:spMkLst>
            <pc:docMk/>
            <pc:sldMk cId="45810463" sldId="310"/>
            <ac:spMk id="31" creationId="{00000000-0000-0000-0000-000000000000}"/>
          </ac:spMkLst>
        </pc:spChg>
        <pc:spChg chg="del">
          <ac:chgData name="John Burke" userId="6aa7ac9d-1481-4eb3-bba6-d1142c83d8d1" providerId="ADAL" clId="{22399DAE-D634-4E57-8CE9-6B65241521C5}" dt="2026-03-05T15:56:48.760" v="13322" actId="478"/>
          <ac:spMkLst>
            <pc:docMk/>
            <pc:sldMk cId="45810463" sldId="310"/>
            <ac:spMk id="32" creationId="{00000000-0000-0000-0000-000000000000}"/>
          </ac:spMkLst>
        </pc:spChg>
        <pc:spChg chg="del">
          <ac:chgData name="John Burke" userId="6aa7ac9d-1481-4eb3-bba6-d1142c83d8d1" providerId="ADAL" clId="{22399DAE-D634-4E57-8CE9-6B65241521C5}" dt="2026-03-05T15:56:49.496" v="13323" actId="478"/>
          <ac:spMkLst>
            <pc:docMk/>
            <pc:sldMk cId="45810463" sldId="310"/>
            <ac:spMk id="33" creationId="{00000000-0000-0000-0000-000000000000}"/>
          </ac:spMkLst>
        </pc:spChg>
        <pc:spChg chg="del mod">
          <ac:chgData name="John Burke" userId="6aa7ac9d-1481-4eb3-bba6-d1142c83d8d1" providerId="ADAL" clId="{22399DAE-D634-4E57-8CE9-6B65241521C5}" dt="2026-03-05T15:56:52.109" v="13325" actId="478"/>
          <ac:spMkLst>
            <pc:docMk/>
            <pc:sldMk cId="45810463" sldId="310"/>
            <ac:spMk id="34" creationId="{00000000-0000-0000-0000-000000000000}"/>
          </ac:spMkLst>
        </pc:spChg>
        <pc:spChg chg="mod">
          <ac:chgData name="John Burke" userId="6aa7ac9d-1481-4eb3-bba6-d1142c83d8d1" providerId="ADAL" clId="{22399DAE-D634-4E57-8CE9-6B65241521C5}" dt="2026-03-05T15:59:01.041" v="13422" actId="14100"/>
          <ac:spMkLst>
            <pc:docMk/>
            <pc:sldMk cId="45810463" sldId="310"/>
            <ac:spMk id="60" creationId="{00000000-0000-0000-0000-000000000000}"/>
          </ac:spMkLst>
        </pc:spChg>
        <pc:spChg chg="mod">
          <ac:chgData name="John Burke" userId="6aa7ac9d-1481-4eb3-bba6-d1142c83d8d1" providerId="ADAL" clId="{22399DAE-D634-4E57-8CE9-6B65241521C5}" dt="2026-03-05T15:59:05.930" v="13423" actId="14100"/>
          <ac:spMkLst>
            <pc:docMk/>
            <pc:sldMk cId="45810463" sldId="310"/>
            <ac:spMk id="61" creationId="{00000000-0000-0000-0000-000000000000}"/>
          </ac:spMkLst>
        </pc:spChg>
        <pc:spChg chg="mod">
          <ac:chgData name="John Burke" userId="6aa7ac9d-1481-4eb3-bba6-d1142c83d8d1" providerId="ADAL" clId="{22399DAE-D634-4E57-8CE9-6B65241521C5}" dt="2026-03-05T15:59:26.820" v="13426" actId="20577"/>
          <ac:spMkLst>
            <pc:docMk/>
            <pc:sldMk cId="45810463" sldId="310"/>
            <ac:spMk id="62" creationId="{00000000-0000-0000-0000-000000000000}"/>
          </ac:spMkLst>
        </pc:spChg>
      </pc:sldChg>
      <pc:sldChg chg="add del">
        <pc:chgData name="John Burke" userId="6aa7ac9d-1481-4eb3-bba6-d1142c83d8d1" providerId="ADAL" clId="{22399DAE-D634-4E57-8CE9-6B65241521C5}" dt="2026-03-05T17:56:18.282" v="15858"/>
        <pc:sldMkLst>
          <pc:docMk/>
          <pc:sldMk cId="3299319845" sldId="311"/>
        </pc:sldMkLst>
      </pc:sldChg>
      <pc:sldChg chg="add del">
        <pc:chgData name="John Burke" userId="6aa7ac9d-1481-4eb3-bba6-d1142c83d8d1" providerId="ADAL" clId="{22399DAE-D634-4E57-8CE9-6B65241521C5}" dt="2026-03-05T17:57:28.246" v="15860"/>
        <pc:sldMkLst>
          <pc:docMk/>
          <pc:sldMk cId="3020947903" sldId="312"/>
        </pc:sldMkLst>
      </pc:sldChg>
      <pc:sldChg chg="add del">
        <pc:chgData name="John Burke" userId="6aa7ac9d-1481-4eb3-bba6-d1142c83d8d1" providerId="ADAL" clId="{22399DAE-D634-4E57-8CE9-6B65241521C5}" dt="2026-03-05T17:58:30.858" v="15862"/>
        <pc:sldMkLst>
          <pc:docMk/>
          <pc:sldMk cId="1428726671" sldId="313"/>
        </pc:sldMkLst>
      </pc:sldChg>
      <pc:sldChg chg="add del">
        <pc:chgData name="John Burke" userId="6aa7ac9d-1481-4eb3-bba6-d1142c83d8d1" providerId="ADAL" clId="{22399DAE-D634-4E57-8CE9-6B65241521C5}" dt="2026-03-05T17:59:36.081" v="15864"/>
        <pc:sldMkLst>
          <pc:docMk/>
          <pc:sldMk cId="240027931" sldId="314"/>
        </pc:sldMkLst>
      </pc:sldChg>
      <pc:sldChg chg="add del">
        <pc:chgData name="John Burke" userId="6aa7ac9d-1481-4eb3-bba6-d1142c83d8d1" providerId="ADAL" clId="{22399DAE-D634-4E57-8CE9-6B65241521C5}" dt="2026-03-05T18:00:45.957" v="15866"/>
        <pc:sldMkLst>
          <pc:docMk/>
          <pc:sldMk cId="1556472628" sldId="315"/>
        </pc:sldMkLst>
      </pc:sldChg>
      <pc:sldChg chg="modSp add mod">
        <pc:chgData name="John Burke" userId="6aa7ac9d-1481-4eb3-bba6-d1142c83d8d1" providerId="ADAL" clId="{22399DAE-D634-4E57-8CE9-6B65241521C5}" dt="2026-03-05T18:01:22.904" v="15880"/>
        <pc:sldMkLst>
          <pc:docMk/>
          <pc:sldMk cId="4221758190" sldId="316"/>
        </pc:sldMkLst>
        <pc:spChg chg="mod">
          <ac:chgData name="John Burke" userId="6aa7ac9d-1481-4eb3-bba6-d1142c83d8d1" providerId="ADAL" clId="{22399DAE-D634-4E57-8CE9-6B65241521C5}" dt="2026-03-05T18:01:22.871" v="15868"/>
          <ac:spMkLst>
            <pc:docMk/>
            <pc:sldMk cId="4221758190" sldId="316"/>
            <ac:spMk id="50" creationId="{00000000-0000-0000-0000-000000000000}"/>
          </ac:spMkLst>
        </pc:spChg>
        <pc:spChg chg="mod">
          <ac:chgData name="John Burke" userId="6aa7ac9d-1481-4eb3-bba6-d1142c83d8d1" providerId="ADAL" clId="{22399DAE-D634-4E57-8CE9-6B65241521C5}" dt="2026-03-05T18:01:22.871" v="15870"/>
          <ac:spMkLst>
            <pc:docMk/>
            <pc:sldMk cId="4221758190" sldId="316"/>
            <ac:spMk id="51" creationId="{00000000-0000-0000-0000-000000000000}"/>
          </ac:spMkLst>
        </pc:spChg>
        <pc:spChg chg="mod">
          <ac:chgData name="John Burke" userId="6aa7ac9d-1481-4eb3-bba6-d1142c83d8d1" providerId="ADAL" clId="{22399DAE-D634-4E57-8CE9-6B65241521C5}" dt="2026-03-05T18:01:22.871" v="15871"/>
          <ac:spMkLst>
            <pc:docMk/>
            <pc:sldMk cId="4221758190" sldId="316"/>
            <ac:spMk id="52" creationId="{00000000-0000-0000-0000-000000000000}"/>
          </ac:spMkLst>
        </pc:spChg>
        <pc:spChg chg="mod">
          <ac:chgData name="John Burke" userId="6aa7ac9d-1481-4eb3-bba6-d1142c83d8d1" providerId="ADAL" clId="{22399DAE-D634-4E57-8CE9-6B65241521C5}" dt="2026-03-05T18:01:22.887" v="15873"/>
          <ac:spMkLst>
            <pc:docMk/>
            <pc:sldMk cId="4221758190" sldId="316"/>
            <ac:spMk id="53" creationId="{00000000-0000-0000-0000-000000000000}"/>
          </ac:spMkLst>
        </pc:spChg>
        <pc:spChg chg="mod">
          <ac:chgData name="John Burke" userId="6aa7ac9d-1481-4eb3-bba6-d1142c83d8d1" providerId="ADAL" clId="{22399DAE-D634-4E57-8CE9-6B65241521C5}" dt="2026-03-05T18:01:22.887" v="15875"/>
          <ac:spMkLst>
            <pc:docMk/>
            <pc:sldMk cId="4221758190" sldId="316"/>
            <ac:spMk id="54" creationId="{00000000-0000-0000-0000-000000000000}"/>
          </ac:spMkLst>
        </pc:spChg>
        <pc:spChg chg="mod">
          <ac:chgData name="John Burke" userId="6aa7ac9d-1481-4eb3-bba6-d1142c83d8d1" providerId="ADAL" clId="{22399DAE-D634-4E57-8CE9-6B65241521C5}" dt="2026-03-05T18:01:22.887" v="15877"/>
          <ac:spMkLst>
            <pc:docMk/>
            <pc:sldMk cId="4221758190" sldId="316"/>
            <ac:spMk id="55" creationId="{00000000-0000-0000-0000-000000000000}"/>
          </ac:spMkLst>
        </pc:spChg>
        <pc:spChg chg="mod">
          <ac:chgData name="John Burke" userId="6aa7ac9d-1481-4eb3-bba6-d1142c83d8d1" providerId="ADAL" clId="{22399DAE-D634-4E57-8CE9-6B65241521C5}" dt="2026-03-05T18:01:22.887" v="15878"/>
          <ac:spMkLst>
            <pc:docMk/>
            <pc:sldMk cId="4221758190" sldId="316"/>
            <ac:spMk id="56" creationId="{00000000-0000-0000-0000-000000000000}"/>
          </ac:spMkLst>
        </pc:spChg>
        <pc:spChg chg="mod">
          <ac:chgData name="John Burke" userId="6aa7ac9d-1481-4eb3-bba6-d1142c83d8d1" providerId="ADAL" clId="{22399DAE-D634-4E57-8CE9-6B65241521C5}" dt="2026-03-05T18:01:22.904" v="15880"/>
          <ac:spMkLst>
            <pc:docMk/>
            <pc:sldMk cId="4221758190" sldId="316"/>
            <ac:spMk id="57" creationId="{00000000-0000-0000-0000-000000000000}"/>
          </ac:spMkLst>
        </pc:spChg>
      </pc:sldChg>
      <pc:sldChg chg="add del ord">
        <pc:chgData name="John Burke" userId="6aa7ac9d-1481-4eb3-bba6-d1142c83d8d1" providerId="ADAL" clId="{22399DAE-D634-4E57-8CE9-6B65241521C5}" dt="2026-03-05T18:05:47.193" v="15890"/>
        <pc:sldMkLst>
          <pc:docMk/>
          <pc:sldMk cId="3873924562" sldId="317"/>
        </pc:sldMkLst>
      </pc:sldChg>
      <pc:sldChg chg="add del">
        <pc:chgData name="John Burke" userId="6aa7ac9d-1481-4eb3-bba6-d1142c83d8d1" providerId="ADAL" clId="{22399DAE-D634-4E57-8CE9-6B65241521C5}" dt="2026-03-05T18:05:52.197" v="15892"/>
        <pc:sldMkLst>
          <pc:docMk/>
          <pc:sldMk cId="2286693734" sldId="318"/>
        </pc:sldMkLst>
      </pc:sldChg>
      <pc:sldChg chg="add del">
        <pc:chgData name="John Burke" userId="6aa7ac9d-1481-4eb3-bba6-d1142c83d8d1" providerId="ADAL" clId="{22399DAE-D634-4E57-8CE9-6B65241521C5}" dt="2026-03-05T18:05:57.512" v="15894"/>
        <pc:sldMkLst>
          <pc:docMk/>
          <pc:sldMk cId="1693626172" sldId="319"/>
        </pc:sldMkLst>
      </pc:sldChg>
      <pc:sldChg chg="add del">
        <pc:chgData name="John Burke" userId="6aa7ac9d-1481-4eb3-bba6-d1142c83d8d1" providerId="ADAL" clId="{22399DAE-D634-4E57-8CE9-6B65241521C5}" dt="2026-03-05T18:06:22.301" v="15896"/>
        <pc:sldMkLst>
          <pc:docMk/>
          <pc:sldMk cId="1972524539" sldId="320"/>
        </pc:sldMkLst>
      </pc:sldChg>
      <pc:sldChg chg="add del">
        <pc:chgData name="John Burke" userId="6aa7ac9d-1481-4eb3-bba6-d1142c83d8d1" providerId="ADAL" clId="{22399DAE-D634-4E57-8CE9-6B65241521C5}" dt="2026-03-05T18:06:26.940" v="15898"/>
        <pc:sldMkLst>
          <pc:docMk/>
          <pc:sldMk cId="1857374960" sldId="321"/>
        </pc:sldMkLst>
      </pc:sldChg>
      <pc:sldChg chg="addSp delSp modSp add mod">
        <pc:chgData name="John Burke" userId="6aa7ac9d-1481-4eb3-bba6-d1142c83d8d1" providerId="ADAL" clId="{22399DAE-D634-4E57-8CE9-6B65241521C5}" dt="2026-03-05T18:08:05.342" v="15900"/>
        <pc:sldMkLst>
          <pc:docMk/>
          <pc:sldMk cId="148211822" sldId="322"/>
        </pc:sldMkLst>
        <pc:spChg chg="del">
          <ac:chgData name="John Burke" userId="6aa7ac9d-1481-4eb3-bba6-d1142c83d8d1" providerId="ADAL" clId="{22399DAE-D634-4E57-8CE9-6B65241521C5}" dt="2026-03-05T18:08:04.918" v="15899" actId="478"/>
          <ac:spMkLst>
            <pc:docMk/>
            <pc:sldMk cId="148211822" sldId="322"/>
            <ac:spMk id="6" creationId="{00000000-0000-0000-0000-000000000000}"/>
          </ac:spMkLst>
        </pc:spChg>
        <pc:spChg chg="add mod">
          <ac:chgData name="John Burke" userId="6aa7ac9d-1481-4eb3-bba6-d1142c83d8d1" providerId="ADAL" clId="{22399DAE-D634-4E57-8CE9-6B65241521C5}" dt="2026-03-05T18:08:05.342" v="15900"/>
          <ac:spMkLst>
            <pc:docMk/>
            <pc:sldMk cId="148211822" sldId="322"/>
            <ac:spMk id="7" creationId="{D6A456ED-14E6-A010-F3F7-B5211C89910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6504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all familiar with the housing challenges here in Arlington. A few highlights</a:t>
            </a:r>
          </a:p>
          <a:p>
            <a:pPr marL="171450" indent="-171450">
              <a:buFont typeface="Arial" panose="020B0604020202020204" pitchFamily="34" charset="0"/>
              <a:buChar char="•"/>
            </a:pPr>
            <a:r>
              <a:rPr lang="en-US" dirty="0"/>
              <a:t>When older homes are torn down and replaced, they are replaced with huge expensive homes.</a:t>
            </a:r>
          </a:p>
          <a:p>
            <a:pPr marL="171450" indent="-171450">
              <a:buFont typeface="Arial" panose="020B0604020202020204" pitchFamily="34" charset="0"/>
              <a:buChar char="•"/>
            </a:pPr>
            <a:r>
              <a:rPr lang="en-US" dirty="0"/>
              <a:t>Even smaller single family homes are out of reach for many households.</a:t>
            </a:r>
          </a:p>
          <a:p>
            <a:pPr marL="171450" indent="-171450">
              <a:buFont typeface="Arial" panose="020B0604020202020204" pitchFamily="34" charset="0"/>
              <a:buChar char="•"/>
            </a:pPr>
            <a:r>
              <a:rPr lang="en-US" dirty="0"/>
              <a:t>New housing in the commercial corridors requires a lengthy and uncertain site plan process</a:t>
            </a:r>
          </a:p>
          <a:p>
            <a:pPr marL="171450" indent="-171450">
              <a:buFont typeface="Arial" panose="020B0604020202020204" pitchFamily="34" charset="0"/>
              <a:buChar char="•"/>
            </a:pP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This project focuses on analyzing a policy tool that could help create lower priced single family detached homes, without displacing current residents.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To understand  the opportunity, first we have to understand what goes into the price of a home.</a:t>
            </a:r>
          </a:p>
          <a:p>
            <a:endParaRPr lang="en-US" dirty="0"/>
          </a:p>
          <a:p>
            <a:r>
              <a:rPr lang="en-US" dirty="0"/>
              <a:t>First – there is the land.  How much land and where it is located determine how desirable it is, and drive the price.</a:t>
            </a:r>
          </a:p>
          <a:p>
            <a:r>
              <a:rPr lang="en-US" dirty="0"/>
              <a:t>Next – there are the buildings, or “improvements” to the land.  How big is the house?  How many bedrooms and bathrooms, etc.</a:t>
            </a:r>
          </a:p>
          <a:p>
            <a:endParaRPr lang="en-US" dirty="0"/>
          </a:p>
          <a:p>
            <a:r>
              <a:rPr lang="en-US" dirty="0"/>
              <a:t>Adding these two together, you get the total price of a home.</a:t>
            </a:r>
          </a:p>
        </p:txBody>
      </p:sp>
    </p:spTree>
    <p:extLst>
      <p:ext uri="{BB962C8B-B14F-4D97-AF65-F5344CB8AC3E}">
        <p14:creationId xmlns:p14="http://schemas.microsoft.com/office/powerpoint/2010/main" val="25745189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If we look a little closer at the land, it’s not just the size of the land that matters.  The zoning sets limits on what COULD be built.  When you buy a property you’re not just buying the land and the current building.  You’re also buying the Right to develop that property based on the maximum the zoning currently allows.  We call these “Development Rights.”</a:t>
            </a:r>
          </a:p>
        </p:txBody>
      </p:sp>
    </p:spTree>
    <p:extLst>
      <p:ext uri="{BB962C8B-B14F-4D97-AF65-F5344CB8AC3E}">
        <p14:creationId xmlns:p14="http://schemas.microsoft.com/office/powerpoint/2010/main" val="546622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Returning to our sales price components, we can now see that the price of the land includes the development potential.</a:t>
            </a:r>
          </a:p>
        </p:txBody>
      </p:sp>
    </p:spTree>
    <p:extLst>
      <p:ext uri="{BB962C8B-B14F-4D97-AF65-F5344CB8AC3E}">
        <p14:creationId xmlns:p14="http://schemas.microsoft.com/office/powerpoint/2010/main" val="10255539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If you subtract what is currently built, from the maximum development potential, you’re left with unused development rights.  </a:t>
            </a:r>
          </a:p>
          <a:p>
            <a:endParaRPr lang="en-US" dirty="0"/>
          </a:p>
          <a:p>
            <a:r>
              <a:rPr lang="en-US" dirty="0"/>
              <a:t>What if current property owners could sell these rights without having to sell the entire property?</a:t>
            </a:r>
          </a:p>
        </p:txBody>
      </p:sp>
    </p:spTree>
    <p:extLst>
      <p:ext uri="{BB962C8B-B14F-4D97-AF65-F5344CB8AC3E}">
        <p14:creationId xmlns:p14="http://schemas.microsoft.com/office/powerpoint/2010/main" val="3543536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novel concept - Selling the unused development potential is called “Transfer of Development Rights.”  </a:t>
            </a:r>
          </a:p>
          <a:p>
            <a:endParaRPr lang="en-US" dirty="0"/>
          </a:p>
          <a:p>
            <a:pPr marL="171450" indent="-171450">
              <a:buFont typeface="Arial" panose="020B0604020202020204" pitchFamily="34" charset="0"/>
              <a:buChar char="•"/>
            </a:pPr>
            <a:r>
              <a:rPr lang="en-US" dirty="0"/>
              <a:t>The County could enable this through an ordinance that, among other things, determines which properties can sell and which properties can buy.  I am suggesting that the sellers or “sending sites” be the residential neighborhoods and the buyers or “receiving sites” be the existing commercial corridors.  Many programs also include a “Bank” or exchange to facilitate transactions.</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In theory if a property owner sells unused development potential, their land value would be reduced meaning that property would sell for less in the future.  If enough homeowners took advantage of this, it would create an inventory of lower priced single-family homes.  An added benefit would be speeding the creation of housing in commercial corridors by adding a parallel pathway for developers to acquire bonus density.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88F08-324B-6A10-0D9F-7C0EDE235E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0F6246-D1AE-263F-719C-D1C10A840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7EE58C-DF21-3A24-E067-767CF40D8221}"/>
              </a:ext>
            </a:extLst>
          </p:cNvPr>
          <p:cNvSpPr>
            <a:spLocks noGrp="1"/>
          </p:cNvSpPr>
          <p:nvPr>
            <p:ph type="body" idx="1"/>
          </p:nvPr>
        </p:nvSpPr>
        <p:spPr/>
        <p:txBody>
          <a:bodyPr/>
          <a:lstStyle/>
          <a:p>
            <a:r>
              <a:rPr lang="en-US" dirty="0"/>
              <a:t>When discussing this idea with folks a couple of questions kept coming up:</a:t>
            </a:r>
          </a:p>
          <a:p>
            <a:pPr marL="228600" indent="-228600">
              <a:buFont typeface="+mj-lt"/>
              <a:buAutoNum type="arabicPeriod"/>
            </a:pPr>
            <a:r>
              <a:rPr lang="en-US" dirty="0"/>
              <a:t>Are there even homes with unused development potential left?  I see tear downs all the time!  I thought everything was already built out?</a:t>
            </a:r>
          </a:p>
          <a:p>
            <a:pPr marL="228600" indent="-228600">
              <a:buFont typeface="+mj-lt"/>
              <a:buAutoNum type="arabicPeriod"/>
            </a:pPr>
            <a:r>
              <a:rPr lang="en-US" dirty="0"/>
              <a:t>How much money are we talking about here?  Would this even put a dent in the overall problem?</a:t>
            </a:r>
          </a:p>
          <a:p>
            <a:pPr marL="228600" indent="-228600">
              <a:buFont typeface="+mj-lt"/>
              <a:buAutoNum type="arabicPeriod"/>
            </a:pPr>
            <a:r>
              <a:rPr lang="en-US" dirty="0"/>
              <a:t>Is there enough square footage for developers to care about?</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This analysis project attempts to answer those questions.  It does not attempt to design a fully implementable program, rather it attempts to evaluate if the County should invest time and energy in pursuing this policy option.  I wanted to quantify the size of the opportunity.</a:t>
            </a:r>
          </a:p>
        </p:txBody>
      </p:sp>
      <p:sp>
        <p:nvSpPr>
          <p:cNvPr id="4" name="Slide Number Placeholder 3">
            <a:extLst>
              <a:ext uri="{FF2B5EF4-FFF2-40B4-BE49-F238E27FC236}">
                <a16:creationId xmlns:a16="http://schemas.microsoft.com/office/drawing/2014/main" id="{F8931BFE-6FDF-5B89-59EE-9AF2FDAF2FC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9786501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Zoning sets the limit on what you can build in relation to the size of the lot.  So the analysis approach is straight forward – </a:t>
            </a:r>
          </a:p>
          <a:p>
            <a:pPr marL="228600" indent="-228600">
              <a:buFont typeface="+mj-lt"/>
              <a:buAutoNum type="arabicPeriod"/>
            </a:pPr>
            <a:r>
              <a:rPr lang="en-US" dirty="0"/>
              <a:t>Pull the parcel data, calculate the lot area, estimate the maximum and currently built sizes of buildings, and subtract the two to get the unused development rights.</a:t>
            </a:r>
          </a:p>
          <a:p>
            <a:pPr marL="228600" indent="-228600">
              <a:buFont typeface="+mj-lt"/>
              <a:buAutoNum type="arabicPeriod"/>
            </a:pPr>
            <a:r>
              <a:rPr lang="en-US" dirty="0"/>
              <a:t>Then we have to estimate the value of those rights.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estimate the value of the unused rights I analyzed the economic motivations of the buyers and sellers:</a:t>
            </a:r>
          </a:p>
          <a:p>
            <a:pPr marL="228600" indent="-228600">
              <a:buFont typeface="+mj-lt"/>
              <a:buAutoNum type="arabicPeriod"/>
            </a:pPr>
            <a:r>
              <a:rPr lang="en-US" dirty="0"/>
              <a:t>The sellers can currently sell their land in the existing market and the prices are reflected in the assessments.  The more the price is discounted from what they could receive when they sell it, the less likely they are to sell.</a:t>
            </a:r>
          </a:p>
          <a:p>
            <a:pPr marL="228600" indent="-228600">
              <a:buFont typeface="+mj-lt"/>
              <a:buAutoNum type="arabicPeriod"/>
            </a:pPr>
            <a:r>
              <a:rPr lang="en-US" dirty="0"/>
              <a:t>The buyers can currently go through the site plan process to gain bonus density.  They’re only likely to buy if this density costs less than the site plan process.</a:t>
            </a:r>
          </a:p>
          <a:p>
            <a:pPr marL="228600" indent="-228600">
              <a:buFont typeface="+mj-lt"/>
              <a:buAutoNum type="arabicPeriod"/>
            </a:pPr>
            <a:r>
              <a:rPr lang="en-US" dirty="0"/>
              <a:t>We would have a functioning market if there is an overlap between these ranges.</a:t>
            </a:r>
          </a:p>
          <a:p>
            <a:pPr marL="228600" indent="-228600">
              <a:buFont typeface="+mj-lt"/>
              <a:buAutoNum type="arabicPeriod"/>
            </a:pPr>
            <a:r>
              <a:rPr lang="en-US" dirty="0"/>
              <a:t>As you can imagine, buyers and sellers aren’t always in the market at the same time and in the same quantity so a TDR bank or exchange would be key to providing liquidity and aiding in price discovery.</a:t>
            </a:r>
          </a:p>
          <a:p>
            <a:pPr marL="228600" indent="-228600">
              <a:buFont typeface="+mj-lt"/>
              <a:buAutoNum type="arabicPeriod"/>
            </a:pP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So what did the analysis find?</a:t>
            </a:r>
          </a:p>
          <a:p>
            <a:endParaRPr lang="en-US" dirty="0"/>
          </a:p>
          <a:p>
            <a:pPr marL="228600" indent="-228600">
              <a:buFont typeface="+mj-lt"/>
              <a:buAutoNum type="arabicPeriod"/>
            </a:pPr>
            <a:r>
              <a:rPr lang="en-US" dirty="0"/>
              <a:t>There are PLENTY of parcels with PLENTY of unused development rights to make an impact on the housing market.</a:t>
            </a:r>
          </a:p>
          <a:p>
            <a:pPr marL="228600" indent="-228600">
              <a:buFont typeface="+mj-lt"/>
              <a:buAutoNum type="arabicPeriod"/>
            </a:pPr>
            <a:r>
              <a:rPr lang="en-US" dirty="0"/>
              <a:t>The money is meaningful to the homeowners.  We’re not talking about a few hundred bucks.  This could provide a major source of liquidity to homeowners and a significant reduction in land prices for future buyers.</a:t>
            </a:r>
          </a:p>
          <a:p>
            <a:pPr marL="228600" indent="-228600">
              <a:buFont typeface="+mj-lt"/>
              <a:buAutoNum type="arabicPeriod"/>
            </a:pPr>
            <a:r>
              <a:rPr lang="en-US" dirty="0"/>
              <a:t>The economics work for commercial developers.  This density is likely less expensive than the site plan process.</a:t>
            </a:r>
          </a:p>
        </p:txBody>
      </p:sp>
    </p:spTree>
    <p:extLst>
      <p:ext uri="{BB962C8B-B14F-4D97-AF65-F5344CB8AC3E}">
        <p14:creationId xmlns:p14="http://schemas.microsoft.com/office/powerpoint/2010/main" val="33178717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Now it’s time to show my work.  The entire data pipeline and supporting analysis is documented in a public </a:t>
            </a:r>
            <a:r>
              <a:rPr lang="en-US" dirty="0" err="1"/>
              <a:t>github</a:t>
            </a:r>
            <a:r>
              <a:rPr lang="en-US" dirty="0"/>
              <a:t> repository and the output maps are hosted on a GitHub pages site.</a:t>
            </a:r>
          </a:p>
        </p:txBody>
      </p:sp>
    </p:spTree>
    <p:extLst>
      <p:ext uri="{BB962C8B-B14F-4D97-AF65-F5344CB8AC3E}">
        <p14:creationId xmlns:p14="http://schemas.microsoft.com/office/powerpoint/2010/main" val="24802854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My data sources were the county open data portal and datahub API.</a:t>
            </a:r>
          </a:p>
        </p:txBody>
      </p:sp>
    </p:spTree>
    <p:extLst>
      <p:ext uri="{BB962C8B-B14F-4D97-AF65-F5344CB8AC3E}">
        <p14:creationId xmlns:p14="http://schemas.microsoft.com/office/powerpoint/2010/main" val="26646317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To calculate the maximum buildable home, I calculated the maximum footprint allowed by zoning for the parcel and assumed two and a half stories.</a:t>
            </a:r>
          </a:p>
        </p:txBody>
      </p:sp>
    </p:spTree>
    <p:extLst>
      <p:ext uri="{BB962C8B-B14F-4D97-AF65-F5344CB8AC3E}">
        <p14:creationId xmlns:p14="http://schemas.microsoft.com/office/powerpoint/2010/main" val="20764159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The current built wasn’t available in the data so I had to estimate it.  For each neighborhood I estimated the per square foot value of improvements.  I assumed recent construction (built in the last 10 years) was built at or near the lot maximum, and calculated the per square foot value of the improvements, and averaged those to create a neighborhood level estimate.  If there isn’t enough data, the pipeline falls back to $185 per square foot.  Then we divide the assed value of improvements by the neighborhood rate to estimate the square footage of the improvements on that lot.  </a:t>
            </a:r>
          </a:p>
          <a:p>
            <a:endParaRPr lang="en-US" dirty="0"/>
          </a:p>
          <a:p>
            <a:r>
              <a:rPr lang="en-US" dirty="0"/>
              <a:t>This is a source of uncertainty in the analysis and one of the data quality issues I’ve documented.</a:t>
            </a:r>
          </a:p>
        </p:txBody>
      </p:sp>
    </p:spTree>
    <p:extLst>
      <p:ext uri="{BB962C8B-B14F-4D97-AF65-F5344CB8AC3E}">
        <p14:creationId xmlns:p14="http://schemas.microsoft.com/office/powerpoint/2010/main" val="10362524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Stage three is pretty simple – subtract the estimated currently built from the max to estimate the available unused development rights.  </a:t>
            </a:r>
          </a:p>
        </p:txBody>
      </p:sp>
    </p:spTree>
    <p:extLst>
      <p:ext uri="{BB962C8B-B14F-4D97-AF65-F5344CB8AC3E}">
        <p14:creationId xmlns:p14="http://schemas.microsoft.com/office/powerpoint/2010/main" val="27781870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Figuring out how much these rights will sell for was the trickiest part because there aren’t any good examples of this.  The arithmetic is easy, but determining the range of likely discount factors deserves some further attention.  Sellers are likely willing to accept a discount over current market pricing because they’re able to able to liquidate just a portion of the property, and they can access it NOW, rather than at some point in the future.  I’ve documented my research and assumptions, but would value any feedback or input into the valuation model.  Anything from, “Hey, great job.  You nailed it!” to “You’re crazy and completely missed these obvious things.”</a:t>
            </a:r>
          </a:p>
        </p:txBody>
      </p:sp>
    </p:spTree>
    <p:extLst>
      <p:ext uri="{BB962C8B-B14F-4D97-AF65-F5344CB8AC3E}">
        <p14:creationId xmlns:p14="http://schemas.microsoft.com/office/powerpoint/2010/main" val="12033243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As a cross check, I also developed a cost model for the site plan process based on publicly available data from the last twenty or so major site plan redevelopments.  This analysis indicates that there is likely an overlap between buyer and seller price points.  The publicly available data is sparse, so I would appreciate any additional insight into the demand side of the market.</a:t>
            </a:r>
          </a:p>
        </p:txBody>
      </p:sp>
    </p:spTree>
    <p:extLst>
      <p:ext uri="{BB962C8B-B14F-4D97-AF65-F5344CB8AC3E}">
        <p14:creationId xmlns:p14="http://schemas.microsoft.com/office/powerpoint/2010/main" val="22474578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Let’s dive into some of the findings.  At the county level I’ve estimated that there are some seventy-five million square feet of unused development potential with a potential high valuation of eight billion dollars.  About eighty five percent of parcels analyzed are utilizing less than 80% of their development potential so this is not just a handful of empty lots or small homes.</a:t>
            </a:r>
          </a:p>
        </p:txBody>
      </p:sp>
    </p:spTree>
    <p:extLst>
      <p:ext uri="{BB962C8B-B14F-4D97-AF65-F5344CB8AC3E}">
        <p14:creationId xmlns:p14="http://schemas.microsoft.com/office/powerpoint/2010/main" val="35125226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Here are our top ten neighborhoods by available square footage.</a:t>
            </a:r>
          </a:p>
        </p:txBody>
      </p:sp>
    </p:spTree>
    <p:extLst>
      <p:ext uri="{BB962C8B-B14F-4D97-AF65-F5344CB8AC3E}">
        <p14:creationId xmlns:p14="http://schemas.microsoft.com/office/powerpoint/2010/main" val="1303982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Here are our top neighborhoods by estimated value</a:t>
            </a:r>
          </a:p>
        </p:txBody>
      </p:sp>
    </p:spTree>
    <p:extLst>
      <p:ext uri="{BB962C8B-B14F-4D97-AF65-F5344CB8AC3E}">
        <p14:creationId xmlns:p14="http://schemas.microsoft.com/office/powerpoint/2010/main" val="11026909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Here we have a breakdown of parcels by utilization.  Most neighborhoods have the vast majority of parcels using less than 80% of development potential.</a:t>
            </a:r>
          </a:p>
        </p:txBody>
      </p:sp>
    </p:spTree>
    <p:extLst>
      <p:ext uri="{BB962C8B-B14F-4D97-AF65-F5344CB8AC3E}">
        <p14:creationId xmlns:p14="http://schemas.microsoft.com/office/powerpoint/2010/main" val="23301269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There are some notable data quality issues.  </a:t>
            </a:r>
          </a:p>
          <a:p>
            <a:endParaRPr lang="en-US" dirty="0"/>
          </a:p>
          <a:p>
            <a:r>
              <a:rPr lang="en-US" dirty="0"/>
              <a:t>First, the publicly available data is incomplete.  You’ll notice on the map plenty of parcels where you know there’s a single family home, but it’s been excluded.  The data available in the API is just missing some parcels.</a:t>
            </a:r>
          </a:p>
          <a:p>
            <a:endParaRPr lang="en-US" dirty="0"/>
          </a:p>
          <a:p>
            <a:r>
              <a:rPr lang="en-US" dirty="0"/>
              <a:t>Second, the analysis was simplified and didn’t look at any of the MANY exceptions that are available in the zoning ordinance.  I just looked at the standard R district lots and coverage ratios.  </a:t>
            </a:r>
          </a:p>
          <a:p>
            <a:endParaRPr lang="en-US" dirty="0"/>
          </a:p>
          <a:p>
            <a:r>
              <a:rPr lang="en-US" dirty="0"/>
              <a:t>Finally, as previously mentioned, the valuation assumptions are supported, but more detailed parcel by parcel assessments and actual market transactions are needed to determine pricing.  </a:t>
            </a:r>
          </a:p>
        </p:txBody>
      </p:sp>
    </p:spTree>
    <p:extLst>
      <p:ext uri="{BB962C8B-B14F-4D97-AF65-F5344CB8AC3E}">
        <p14:creationId xmlns:p14="http://schemas.microsoft.com/office/powerpoint/2010/main" val="17919816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32505564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ithub.com/joburke1/tdranalysis" TargetMode="External"/><Relationship Id="rId3" Type="http://schemas.openxmlformats.org/officeDocument/2006/relationships/hyperlink" Target="http://www.im-pulse.io/" TargetMode="External"/><Relationship Id="rId7" Type="http://schemas.openxmlformats.org/officeDocument/2006/relationships/image" Target="../media/image4.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svg"/><Relationship Id="rId10" Type="http://schemas.openxmlformats.org/officeDocument/2006/relationships/hyperlink" Target="https://creativecommons.org/publicdomain/zero/1.0/%22" TargetMode="External"/><Relationship Id="rId4" Type="http://schemas.openxmlformats.org/officeDocument/2006/relationships/image" Target="../media/image1.png"/><Relationship Id="rId9" Type="http://schemas.openxmlformats.org/officeDocument/2006/relationships/hyperlink" Target="https://www.linkedin.com/in/john-burke-arlingtonva/"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joburke1/tdranalysis/"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hyperlink" Target="https://joburke1.github.io/tdranalysis/"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joburke1/tdranalysis/blob/main/supporting%20documentation/Valuation%20of%20Development%20Rights.md"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joburke1/tdranalysis/blob/main/supporting%20documentation/Arlington%20site%20plan%20process%20costs.md"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hyperlink" Target="https://www.linkedin.com/in/john-burke-arlingtonva/" TargetMode="External"/><Relationship Id="rId3" Type="http://schemas.openxmlformats.org/officeDocument/2006/relationships/image" Target="../media/image1.png"/><Relationship Id="rId7" Type="http://schemas.openxmlformats.org/officeDocument/2006/relationships/hyperlink" Target="https://github.com/joburke1/tdranalysis"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hyperlink" Target="http://www.im-pulse.io/" TargetMode="External"/><Relationship Id="rId4" Type="http://schemas.openxmlformats.org/officeDocument/2006/relationships/image" Target="../media/image2.svg"/><Relationship Id="rId9" Type="http://schemas.openxmlformats.org/officeDocument/2006/relationships/hyperlink" Target="https://creativecommons.org/publicdomain/zero/1.0/%22"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A7A6B"/>
          </a:solidFill>
          <a:ln w="12700">
            <a:solidFill>
              <a:srgbClr val="1A7A6B"/>
            </a:solidFill>
            <a:prstDash val="solid"/>
          </a:ln>
        </p:spPr>
        <p:txBody>
          <a:bodyPr/>
          <a:lstStyle/>
          <a:p>
            <a:endParaRPr lang="en-US"/>
          </a:p>
        </p:txBody>
      </p:sp>
      <p:sp>
        <p:nvSpPr>
          <p:cNvPr id="3" name="Text 1"/>
          <p:cNvSpPr/>
          <p:nvPr/>
        </p:nvSpPr>
        <p:spPr>
          <a:xfrm>
            <a:off x="411480" y="822960"/>
            <a:ext cx="7772400" cy="2011680"/>
          </a:xfrm>
          <a:prstGeom prst="rect">
            <a:avLst/>
          </a:prstGeom>
          <a:noFill/>
          <a:ln/>
        </p:spPr>
        <p:txBody>
          <a:bodyPr wrap="square" rtlCol="0" anchor="t"/>
          <a:lstStyle/>
          <a:p>
            <a:pPr marL="0" indent="0" algn="l">
              <a:spcAft>
                <a:spcPts val="600"/>
              </a:spcAft>
              <a:buNone/>
            </a:pPr>
            <a:r>
              <a:rPr lang="en-US" sz="5200" b="1" dirty="0">
                <a:solidFill>
                  <a:srgbClr val="FFFFFF"/>
                </a:solidFill>
                <a:latin typeface="Georgia" pitchFamily="34" charset="0"/>
                <a:ea typeface="Georgia" pitchFamily="34" charset="-122"/>
                <a:cs typeface="Georgia" pitchFamily="34" charset="-120"/>
              </a:rPr>
              <a:t>Workforce Housing</a:t>
            </a:r>
            <a:endParaRPr lang="en-US" sz="5200" dirty="0"/>
          </a:p>
          <a:p>
            <a:pPr marL="0" indent="0" algn="l">
              <a:spcAft>
                <a:spcPts val="600"/>
              </a:spcAft>
              <a:buNone/>
            </a:pPr>
            <a:r>
              <a:rPr lang="en-US" sz="5200" b="1" dirty="0">
                <a:solidFill>
                  <a:srgbClr val="FFFFFF"/>
                </a:solidFill>
                <a:latin typeface="Georgia" pitchFamily="34" charset="0"/>
                <a:ea typeface="Georgia" pitchFamily="34" charset="-122"/>
                <a:cs typeface="Georgia" pitchFamily="34" charset="-120"/>
              </a:rPr>
              <a:t>for Arlington</a:t>
            </a:r>
            <a:endParaRPr lang="en-US" sz="5200" dirty="0"/>
          </a:p>
        </p:txBody>
      </p:sp>
      <p:sp>
        <p:nvSpPr>
          <p:cNvPr id="4" name="Text 2"/>
          <p:cNvSpPr/>
          <p:nvPr/>
        </p:nvSpPr>
        <p:spPr>
          <a:xfrm>
            <a:off x="411480" y="2926080"/>
            <a:ext cx="7772400" cy="640080"/>
          </a:xfrm>
          <a:prstGeom prst="rect">
            <a:avLst/>
          </a:prstGeom>
          <a:noFill/>
          <a:ln/>
        </p:spPr>
        <p:txBody>
          <a:bodyPr wrap="square" rtlCol="0" anchor="ctr"/>
          <a:lstStyle/>
          <a:p>
            <a:pPr marL="0" indent="0" algn="l">
              <a:buNone/>
            </a:pPr>
            <a:r>
              <a:rPr lang="en-US" sz="2000" i="1" dirty="0">
                <a:solidFill>
                  <a:srgbClr val="A8C4D8"/>
                </a:solidFill>
                <a:latin typeface="Calibri" pitchFamily="34" charset="0"/>
                <a:ea typeface="Calibri" pitchFamily="34" charset="-122"/>
                <a:cs typeface="Calibri" pitchFamily="34" charset="-120"/>
              </a:rPr>
              <a:t>A Transfer of Development Rights Policy Analysis</a:t>
            </a:r>
            <a:endParaRPr lang="en-US" sz="2000" dirty="0"/>
          </a:p>
        </p:txBody>
      </p:sp>
      <p:sp>
        <p:nvSpPr>
          <p:cNvPr id="5" name="Shape 3"/>
          <p:cNvSpPr/>
          <p:nvPr/>
        </p:nvSpPr>
        <p:spPr>
          <a:xfrm>
            <a:off x="0" y="4480560"/>
            <a:ext cx="9144000" cy="662940"/>
          </a:xfrm>
          <a:prstGeom prst="rect">
            <a:avLst/>
          </a:prstGeom>
          <a:solidFill>
            <a:srgbClr val="1A7A6B"/>
          </a:solidFill>
          <a:ln w="12700">
            <a:solidFill>
              <a:srgbClr val="1A7A6B"/>
            </a:solidFill>
            <a:prstDash val="solid"/>
          </a:ln>
        </p:spPr>
        <p:txBody>
          <a:bodyPr/>
          <a:lstStyle/>
          <a:p>
            <a:endParaRPr lang="en-US" dirty="0"/>
          </a:p>
        </p:txBody>
      </p:sp>
      <p:sp>
        <p:nvSpPr>
          <p:cNvPr id="6" name="Text 4"/>
          <p:cNvSpPr/>
          <p:nvPr/>
        </p:nvSpPr>
        <p:spPr>
          <a:xfrm>
            <a:off x="411480" y="4526280"/>
            <a:ext cx="3977640" cy="548640"/>
          </a:xfrm>
          <a:prstGeom prst="rect">
            <a:avLst/>
          </a:prstGeom>
          <a:noFill/>
          <a:ln/>
        </p:spPr>
        <p:txBody>
          <a:bodyPr wrap="square" rtlCol="0" anchor="ctr"/>
          <a:lstStyle/>
          <a:p>
            <a:pPr marL="0" indent="0" algn="l">
              <a:buNone/>
            </a:pPr>
            <a:r>
              <a:rPr lang="en-US" sz="1200" dirty="0">
                <a:solidFill>
                  <a:srgbClr val="FFFFFF"/>
                </a:solidFill>
                <a:latin typeface="Calibri" pitchFamily="34" charset="0"/>
                <a:ea typeface="Calibri" pitchFamily="34" charset="-122"/>
                <a:cs typeface="Calibri" pitchFamily="34" charset="-120"/>
              </a:rPr>
              <a:t>A project of Impulse Consulting | </a:t>
            </a:r>
            <a:r>
              <a:rPr lang="en-US" sz="1200" dirty="0">
                <a:solidFill>
                  <a:schemeClr val="bg1"/>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www.im-pulse.io</a:t>
            </a:r>
            <a:r>
              <a:rPr lang="en-US" sz="1200" dirty="0">
                <a:solidFill>
                  <a:schemeClr val="bg1"/>
                </a:solidFill>
                <a:latin typeface="Calibri" pitchFamily="34" charset="0"/>
                <a:ea typeface="Calibri" pitchFamily="34" charset="-122"/>
                <a:cs typeface="Calibri" pitchFamily="34" charset="-120"/>
              </a:rPr>
              <a:t> </a:t>
            </a:r>
            <a:endParaRPr lang="en-US" sz="1200" dirty="0">
              <a:solidFill>
                <a:schemeClr val="bg1"/>
              </a:solidFill>
            </a:endParaRPr>
          </a:p>
        </p:txBody>
      </p:sp>
      <p:grpSp>
        <p:nvGrpSpPr>
          <p:cNvPr id="11" name="Group 10" descr="This work is marked CC0 1.0 https://creativecommons.org/publicdomain/zero/1.0/">
            <a:extLst>
              <a:ext uri="{FF2B5EF4-FFF2-40B4-BE49-F238E27FC236}">
                <a16:creationId xmlns:a16="http://schemas.microsoft.com/office/drawing/2014/main" id="{1925227B-D2F0-7FC8-5D97-2AD124E180C9}"/>
              </a:ext>
            </a:extLst>
          </p:cNvPr>
          <p:cNvGrpSpPr/>
          <p:nvPr/>
        </p:nvGrpSpPr>
        <p:grpSpPr>
          <a:xfrm>
            <a:off x="8503920" y="4678680"/>
            <a:ext cx="533400" cy="243840"/>
            <a:chOff x="8503920" y="4690110"/>
            <a:chExt cx="533400" cy="243840"/>
          </a:xfrm>
        </p:grpSpPr>
        <p:pic>
          <p:nvPicPr>
            <p:cNvPr id="8" name="Graphic 7">
              <a:extLst>
                <a:ext uri="{FF2B5EF4-FFF2-40B4-BE49-F238E27FC236}">
                  <a16:creationId xmlns:a16="http://schemas.microsoft.com/office/drawing/2014/main" id="{306096C7-1CA8-A2A8-8B91-8CF345A6BF8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793480" y="4690110"/>
              <a:ext cx="243840" cy="243840"/>
            </a:xfrm>
            <a:prstGeom prst="rect">
              <a:avLst/>
            </a:prstGeom>
          </p:spPr>
        </p:pic>
        <p:pic>
          <p:nvPicPr>
            <p:cNvPr id="10" name="Graphic 9">
              <a:extLst>
                <a:ext uri="{FF2B5EF4-FFF2-40B4-BE49-F238E27FC236}">
                  <a16:creationId xmlns:a16="http://schemas.microsoft.com/office/drawing/2014/main" id="{2136FD58-A917-DCA0-410D-2C94A64A493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503920" y="4690110"/>
              <a:ext cx="243840" cy="243840"/>
            </a:xfrm>
            <a:prstGeom prst="rect">
              <a:avLst/>
            </a:prstGeom>
          </p:spPr>
        </p:pic>
      </p:grpSp>
      <p:sp>
        <p:nvSpPr>
          <p:cNvPr id="12" name="Shape 3">
            <a:extLst>
              <a:ext uri="{FF2B5EF4-FFF2-40B4-BE49-F238E27FC236}">
                <a16:creationId xmlns:a16="http://schemas.microsoft.com/office/drawing/2014/main" id="{3D837D48-3ECD-0281-CFCC-F7A73903D12F}"/>
              </a:ext>
            </a:extLst>
          </p:cNvPr>
          <p:cNvSpPr/>
          <p:nvPr/>
        </p:nvSpPr>
        <p:spPr>
          <a:xfrm>
            <a:off x="5984748" y="4591050"/>
            <a:ext cx="2580132" cy="662940"/>
          </a:xfrm>
          <a:prstGeom prst="rect">
            <a:avLst/>
          </a:prstGeom>
          <a:noFill/>
          <a:ln w="12700">
            <a:noFill/>
            <a:prstDash val="solid"/>
          </a:ln>
        </p:spPr>
        <p:txBody>
          <a:bodyPr/>
          <a:lstStyle/>
          <a:p>
            <a:r>
              <a:rPr lang="en-US" sz="900" dirty="0">
                <a:solidFill>
                  <a:schemeClr val="bg1"/>
                </a:solidFill>
                <a:hlinkClick r:id="rId8">
                  <a:extLst>
                    <a:ext uri="{A12FA001-AC4F-418D-AE19-62706E023703}">
                      <ahyp:hlinkClr xmlns:ahyp="http://schemas.microsoft.com/office/drawing/2018/hyperlinkcolor" val="tx"/>
                    </a:ext>
                  </a:extLst>
                </a:hlinkClick>
              </a:rPr>
              <a:t>Arlington Transfer of Development Rights Analysis</a:t>
            </a:r>
            <a:r>
              <a:rPr lang="en-US" sz="900" dirty="0">
                <a:solidFill>
                  <a:schemeClr val="bg1"/>
                </a:solidFill>
              </a:rPr>
              <a:t> by </a:t>
            </a:r>
            <a:r>
              <a:rPr lang="en-US" sz="900" dirty="0">
                <a:solidFill>
                  <a:schemeClr val="bg1"/>
                </a:solidFill>
                <a:hlinkClick r:id="rId9">
                  <a:extLst>
                    <a:ext uri="{A12FA001-AC4F-418D-AE19-62706E023703}">
                      <ahyp:hlinkClr xmlns:ahyp="http://schemas.microsoft.com/office/drawing/2018/hyperlinkcolor" val="tx"/>
                    </a:ext>
                  </a:extLst>
                </a:hlinkClick>
              </a:rPr>
              <a:t>John Burke</a:t>
            </a:r>
            <a:r>
              <a:rPr lang="en-US" sz="900" dirty="0">
                <a:solidFill>
                  <a:schemeClr val="bg1"/>
                </a:solidFill>
              </a:rPr>
              <a:t> is marked </a:t>
            </a:r>
            <a:r>
              <a:rPr lang="en-US" sz="900" dirty="0">
                <a:solidFill>
                  <a:schemeClr val="bg1"/>
                </a:solidFill>
                <a:hlinkClick r:id="rId10">
                  <a:extLst>
                    <a:ext uri="{A12FA001-AC4F-418D-AE19-62706E023703}">
                      <ahyp:hlinkClr xmlns:ahyp="http://schemas.microsoft.com/office/drawing/2018/hyperlinkcolor" val="tx"/>
                    </a:ext>
                  </a:extLst>
                </a:hlinkClick>
              </a:rPr>
              <a:t>CC0 1.0 Universal</a:t>
            </a:r>
            <a:endParaRPr lang="en-US" sz="9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5C"/>
          </a:solidFill>
          <a:ln w="12700">
            <a:solidFill>
              <a:srgbClr val="1B3A5C"/>
            </a:solidFill>
            <a:prstDash val="solid"/>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The Housing Challenge</a:t>
            </a:r>
            <a:endParaRPr lang="en-US" sz="2800" dirty="0"/>
          </a:p>
        </p:txBody>
      </p:sp>
      <p:sp>
        <p:nvSpPr>
          <p:cNvPr id="4" name="Shape 2"/>
          <p:cNvSpPr/>
          <p:nvPr/>
        </p:nvSpPr>
        <p:spPr>
          <a:xfrm>
            <a:off x="365760" y="1005840"/>
            <a:ext cx="2651760" cy="1828800"/>
          </a:xfrm>
          <a:prstGeom prst="rect">
            <a:avLst/>
          </a:prstGeom>
          <a:solidFill>
            <a:srgbClr val="1B3A5C"/>
          </a:solidFill>
          <a:ln w="12700">
            <a:solidFill>
              <a:srgbClr val="1B3A5C"/>
            </a:solidFill>
            <a:prstDash val="solid"/>
          </a:ln>
          <a:effectLst>
            <a:outerShdw blurRad="101600" dist="25400" dir="8100000" algn="bl" rotWithShape="0">
              <a:srgbClr val="000000">
                <a:alpha val="15000"/>
              </a:srgbClr>
            </a:outerShdw>
          </a:effectLst>
        </p:spPr>
        <p:txBody>
          <a:bodyPr/>
          <a:lstStyle/>
          <a:p>
            <a:endParaRPr lang="en-US"/>
          </a:p>
        </p:txBody>
      </p:sp>
      <p:sp>
        <p:nvSpPr>
          <p:cNvPr id="5" name="Text 3"/>
          <p:cNvSpPr/>
          <p:nvPr/>
        </p:nvSpPr>
        <p:spPr>
          <a:xfrm>
            <a:off x="365760" y="1097280"/>
            <a:ext cx="2651760" cy="731520"/>
          </a:xfrm>
          <a:prstGeom prst="rect">
            <a:avLst/>
          </a:prstGeom>
          <a:noFill/>
          <a:ln/>
        </p:spPr>
        <p:txBody>
          <a:bodyPr wrap="square" rtlCol="0" anchor="ctr"/>
          <a:lstStyle/>
          <a:p>
            <a:pPr marL="0" indent="0" algn="ctr">
              <a:buNone/>
            </a:pPr>
            <a:r>
              <a:rPr lang="en-US" sz="3200" b="1" dirty="0">
                <a:solidFill>
                  <a:srgbClr val="C8962E"/>
                </a:solidFill>
                <a:latin typeface="Georgia" pitchFamily="34" charset="0"/>
                <a:ea typeface="Georgia" pitchFamily="34" charset="-122"/>
                <a:cs typeface="Georgia" pitchFamily="34" charset="-120"/>
              </a:rPr>
              <a:t>3X</a:t>
            </a:r>
            <a:endParaRPr lang="en-US" sz="3200" dirty="0"/>
          </a:p>
        </p:txBody>
      </p:sp>
      <p:sp>
        <p:nvSpPr>
          <p:cNvPr id="6" name="Text 4"/>
          <p:cNvSpPr/>
          <p:nvPr/>
        </p:nvSpPr>
        <p:spPr>
          <a:xfrm>
            <a:off x="365760" y="1828800"/>
            <a:ext cx="2651760" cy="64008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Tear downs result in homes 3x the size</a:t>
            </a:r>
            <a:endParaRPr lang="en-US" sz="1200" dirty="0"/>
          </a:p>
        </p:txBody>
      </p:sp>
      <p:sp>
        <p:nvSpPr>
          <p:cNvPr id="7" name="Text 5"/>
          <p:cNvSpPr/>
          <p:nvPr/>
        </p:nvSpPr>
        <p:spPr>
          <a:xfrm>
            <a:off x="365760" y="2468880"/>
            <a:ext cx="2651760" cy="320040"/>
          </a:xfrm>
          <a:prstGeom prst="rect">
            <a:avLst/>
          </a:prstGeom>
          <a:noFill/>
          <a:ln/>
        </p:spPr>
        <p:txBody>
          <a:bodyPr wrap="square" rtlCol="0" anchor="ctr"/>
          <a:lstStyle/>
          <a:p>
            <a:pPr marL="0" indent="0" algn="ctr">
              <a:buNone/>
            </a:pPr>
            <a:r>
              <a:rPr lang="en-US" sz="1000" i="1" dirty="0">
                <a:solidFill>
                  <a:srgbClr val="A8C4D8"/>
                </a:solidFill>
                <a:latin typeface="Calibri" pitchFamily="34" charset="0"/>
                <a:ea typeface="Calibri" pitchFamily="34" charset="-122"/>
                <a:cs typeface="Calibri" pitchFamily="34" charset="-120"/>
              </a:rPr>
              <a:t>MMHS Research Compendium, 2020</a:t>
            </a:r>
            <a:endParaRPr lang="en-US" sz="1000" dirty="0"/>
          </a:p>
        </p:txBody>
      </p:sp>
      <p:sp>
        <p:nvSpPr>
          <p:cNvPr id="8" name="Shape 6"/>
          <p:cNvSpPr/>
          <p:nvPr/>
        </p:nvSpPr>
        <p:spPr>
          <a:xfrm>
            <a:off x="3200400" y="1005840"/>
            <a:ext cx="2651760" cy="1828800"/>
          </a:xfrm>
          <a:prstGeom prst="rect">
            <a:avLst/>
          </a:prstGeom>
          <a:solidFill>
            <a:srgbClr val="1B3A5C"/>
          </a:solidFill>
          <a:ln w="12700">
            <a:solidFill>
              <a:srgbClr val="1B3A5C"/>
            </a:solidFill>
            <a:prstDash val="solid"/>
          </a:ln>
          <a:effectLst>
            <a:outerShdw blurRad="101600" dist="25400" dir="8100000" algn="bl" rotWithShape="0">
              <a:srgbClr val="000000">
                <a:alpha val="15000"/>
              </a:srgbClr>
            </a:outerShdw>
          </a:effectLst>
        </p:spPr>
        <p:txBody>
          <a:bodyPr/>
          <a:lstStyle/>
          <a:p>
            <a:endParaRPr lang="en-US"/>
          </a:p>
        </p:txBody>
      </p:sp>
      <p:sp>
        <p:nvSpPr>
          <p:cNvPr id="9" name="Text 7"/>
          <p:cNvSpPr/>
          <p:nvPr/>
        </p:nvSpPr>
        <p:spPr>
          <a:xfrm>
            <a:off x="3200400" y="1097280"/>
            <a:ext cx="2651760" cy="731520"/>
          </a:xfrm>
          <a:prstGeom prst="rect">
            <a:avLst/>
          </a:prstGeom>
          <a:noFill/>
          <a:ln/>
        </p:spPr>
        <p:txBody>
          <a:bodyPr wrap="square" rtlCol="0" anchor="ctr"/>
          <a:lstStyle/>
          <a:p>
            <a:pPr marL="0" indent="0" algn="ctr">
              <a:buNone/>
            </a:pPr>
            <a:r>
              <a:rPr lang="en-US" sz="3200" b="1" dirty="0">
                <a:solidFill>
                  <a:srgbClr val="C8962E"/>
                </a:solidFill>
                <a:latin typeface="Georgia" pitchFamily="34" charset="0"/>
                <a:ea typeface="Georgia" pitchFamily="34" charset="-122"/>
                <a:cs typeface="Georgia" pitchFamily="34" charset="-120"/>
              </a:rPr>
              <a:t>45%</a:t>
            </a:r>
            <a:endParaRPr lang="en-US" sz="3200" dirty="0"/>
          </a:p>
        </p:txBody>
      </p:sp>
      <p:sp>
        <p:nvSpPr>
          <p:cNvPr id="10" name="Text 8"/>
          <p:cNvSpPr/>
          <p:nvPr/>
        </p:nvSpPr>
        <p:spPr>
          <a:xfrm>
            <a:off x="3200400" y="1828800"/>
            <a:ext cx="2651760" cy="64008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Single Family Home prices increase</a:t>
            </a:r>
          </a:p>
          <a:p>
            <a:pPr marL="0" indent="0" algn="ctr">
              <a:buNone/>
            </a:pPr>
            <a:r>
              <a:rPr lang="en-US" sz="1200" dirty="0">
                <a:solidFill>
                  <a:srgbClr val="FFFFFF"/>
                </a:solidFill>
                <a:latin typeface="Calibri" pitchFamily="34" charset="0"/>
                <a:ea typeface="Calibri" pitchFamily="34" charset="-122"/>
                <a:cs typeface="Calibri" pitchFamily="34" charset="-120"/>
              </a:rPr>
              <a:t>2010 - 2019</a:t>
            </a:r>
            <a:endParaRPr lang="en-US" sz="1200" dirty="0"/>
          </a:p>
        </p:txBody>
      </p:sp>
      <p:sp>
        <p:nvSpPr>
          <p:cNvPr id="11" name="Text 9"/>
          <p:cNvSpPr/>
          <p:nvPr/>
        </p:nvSpPr>
        <p:spPr>
          <a:xfrm>
            <a:off x="3200400" y="2468880"/>
            <a:ext cx="2651760" cy="320040"/>
          </a:xfrm>
          <a:prstGeom prst="rect">
            <a:avLst/>
          </a:prstGeom>
          <a:noFill/>
          <a:ln/>
        </p:spPr>
        <p:txBody>
          <a:bodyPr wrap="square" rtlCol="0" anchor="ctr"/>
          <a:lstStyle/>
          <a:p>
            <a:pPr algn="ctr"/>
            <a:r>
              <a:rPr lang="en-US" sz="1000" i="1" dirty="0">
                <a:solidFill>
                  <a:srgbClr val="A8C4D8"/>
                </a:solidFill>
                <a:latin typeface="Calibri" pitchFamily="34" charset="0"/>
                <a:ea typeface="Calibri" pitchFamily="34" charset="-122"/>
                <a:cs typeface="Calibri" pitchFamily="34" charset="-120"/>
              </a:rPr>
              <a:t>MMHS Research Compendium, 2020</a:t>
            </a:r>
            <a:endParaRPr lang="en-US" sz="1000" dirty="0"/>
          </a:p>
        </p:txBody>
      </p:sp>
      <p:sp>
        <p:nvSpPr>
          <p:cNvPr id="12" name="Shape 10"/>
          <p:cNvSpPr/>
          <p:nvPr/>
        </p:nvSpPr>
        <p:spPr>
          <a:xfrm>
            <a:off x="6035040" y="1005840"/>
            <a:ext cx="2651760" cy="1828800"/>
          </a:xfrm>
          <a:prstGeom prst="rect">
            <a:avLst/>
          </a:prstGeom>
          <a:solidFill>
            <a:srgbClr val="1B3A5C"/>
          </a:solidFill>
          <a:ln w="12700">
            <a:solidFill>
              <a:srgbClr val="1B3A5C"/>
            </a:solidFill>
            <a:prstDash val="solid"/>
          </a:ln>
          <a:effectLst>
            <a:outerShdw blurRad="101600" dist="25400" dir="8100000" algn="bl" rotWithShape="0">
              <a:srgbClr val="000000">
                <a:alpha val="15000"/>
              </a:srgbClr>
            </a:outerShdw>
          </a:effectLst>
        </p:spPr>
        <p:txBody>
          <a:bodyPr/>
          <a:lstStyle/>
          <a:p>
            <a:endParaRPr lang="en-US"/>
          </a:p>
        </p:txBody>
      </p:sp>
      <p:sp>
        <p:nvSpPr>
          <p:cNvPr id="13" name="Text 11"/>
          <p:cNvSpPr/>
          <p:nvPr/>
        </p:nvSpPr>
        <p:spPr>
          <a:xfrm>
            <a:off x="6035040" y="1097280"/>
            <a:ext cx="2651760" cy="731520"/>
          </a:xfrm>
          <a:prstGeom prst="rect">
            <a:avLst/>
          </a:prstGeom>
          <a:noFill/>
          <a:ln/>
        </p:spPr>
        <p:txBody>
          <a:bodyPr wrap="square" rtlCol="0" anchor="ctr"/>
          <a:lstStyle/>
          <a:p>
            <a:pPr marL="0" indent="0" algn="ctr">
              <a:buNone/>
            </a:pPr>
            <a:r>
              <a:rPr lang="en-US" sz="3200" b="1" dirty="0">
                <a:solidFill>
                  <a:srgbClr val="C8962E"/>
                </a:solidFill>
                <a:latin typeface="Georgia" pitchFamily="34" charset="0"/>
                <a:ea typeface="Georgia" pitchFamily="34" charset="-122"/>
                <a:cs typeface="Georgia" pitchFamily="34" charset="-120"/>
              </a:rPr>
              <a:t>1-2 Years</a:t>
            </a:r>
            <a:endParaRPr lang="en-US" sz="3200" dirty="0"/>
          </a:p>
        </p:txBody>
      </p:sp>
      <p:sp>
        <p:nvSpPr>
          <p:cNvPr id="14" name="Text 12"/>
          <p:cNvSpPr/>
          <p:nvPr/>
        </p:nvSpPr>
        <p:spPr>
          <a:xfrm>
            <a:off x="6035040" y="1828800"/>
            <a:ext cx="2651760" cy="64008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Site plan approval</a:t>
            </a:r>
            <a:endParaRPr lang="en-US" sz="1200" dirty="0"/>
          </a:p>
          <a:p>
            <a:pPr marL="0" indent="0" algn="ctr">
              <a:buNone/>
            </a:pPr>
            <a:r>
              <a:rPr lang="en-US" sz="1200" dirty="0">
                <a:solidFill>
                  <a:srgbClr val="FFFFFF"/>
                </a:solidFill>
                <a:latin typeface="Calibri" pitchFamily="34" charset="0"/>
                <a:ea typeface="Calibri" pitchFamily="34" charset="-122"/>
                <a:cs typeface="Calibri" pitchFamily="34" charset="-120"/>
              </a:rPr>
              <a:t>timeline for bonus density</a:t>
            </a:r>
            <a:endParaRPr lang="en-US" sz="1200" dirty="0"/>
          </a:p>
        </p:txBody>
      </p:sp>
      <p:sp>
        <p:nvSpPr>
          <p:cNvPr id="15" name="Text 13"/>
          <p:cNvSpPr/>
          <p:nvPr/>
        </p:nvSpPr>
        <p:spPr>
          <a:xfrm>
            <a:off x="6035040" y="2468880"/>
            <a:ext cx="2651760" cy="320040"/>
          </a:xfrm>
          <a:prstGeom prst="rect">
            <a:avLst/>
          </a:prstGeom>
          <a:noFill/>
          <a:ln/>
        </p:spPr>
        <p:txBody>
          <a:bodyPr wrap="square" rtlCol="0" anchor="ctr"/>
          <a:lstStyle/>
          <a:p>
            <a:pPr marL="0" indent="0" algn="ctr">
              <a:buNone/>
            </a:pPr>
            <a:r>
              <a:rPr lang="en-US" sz="1000" i="1" dirty="0">
                <a:solidFill>
                  <a:srgbClr val="A8C4D8"/>
                </a:solidFill>
                <a:latin typeface="Calibri" pitchFamily="34" charset="0"/>
                <a:ea typeface="Calibri" pitchFamily="34" charset="-122"/>
                <a:cs typeface="Calibri" pitchFamily="34" charset="-120"/>
              </a:rPr>
              <a:t>TDR Analysis Project, 2026</a:t>
            </a:r>
            <a:endParaRPr lang="en-US" sz="1000" dirty="0"/>
          </a:p>
        </p:txBody>
      </p:sp>
      <p:sp>
        <p:nvSpPr>
          <p:cNvPr id="16" name="Shape 14"/>
          <p:cNvSpPr/>
          <p:nvPr/>
        </p:nvSpPr>
        <p:spPr>
          <a:xfrm>
            <a:off x="365760" y="3131820"/>
            <a:ext cx="8412480" cy="54864"/>
          </a:xfrm>
          <a:prstGeom prst="rect">
            <a:avLst/>
          </a:prstGeom>
          <a:solidFill>
            <a:srgbClr val="1A7A6B"/>
          </a:solidFill>
          <a:ln w="12700">
            <a:solidFill>
              <a:srgbClr val="1A7A6B"/>
            </a:solidFill>
            <a:prstDash val="solid"/>
          </a:ln>
        </p:spPr>
        <p:txBody>
          <a:bodyPr/>
          <a:lstStyle/>
          <a:p>
            <a:endParaRPr lang="en-US"/>
          </a:p>
        </p:txBody>
      </p:sp>
      <p:sp>
        <p:nvSpPr>
          <p:cNvPr id="17" name="Text 15"/>
          <p:cNvSpPr/>
          <p:nvPr/>
        </p:nvSpPr>
        <p:spPr>
          <a:xfrm>
            <a:off x="1497330" y="3566160"/>
            <a:ext cx="6149340" cy="731520"/>
          </a:xfrm>
          <a:prstGeom prst="rect">
            <a:avLst/>
          </a:prstGeom>
          <a:noFill/>
          <a:ln/>
        </p:spPr>
        <p:txBody>
          <a:bodyPr wrap="square" rtlCol="0" anchor="ctr"/>
          <a:lstStyle/>
          <a:p>
            <a:pPr marL="0" indent="0" algn="ctr">
              <a:buNone/>
            </a:pPr>
            <a:r>
              <a:rPr lang="en-US" sz="1600" b="1" dirty="0">
                <a:solidFill>
                  <a:srgbClr val="1B3A5C"/>
                </a:solidFill>
                <a:latin typeface="Calibri" pitchFamily="34" charset="0"/>
                <a:ea typeface="Calibri" pitchFamily="34" charset="-122"/>
                <a:cs typeface="Calibri" pitchFamily="34" charset="-120"/>
              </a:rPr>
              <a:t>Arlington needs a tool that creates lower priced single-family homes without displacing current residents.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3" name="Land">
            <a:extLst>
              <a:ext uri="{FF2B5EF4-FFF2-40B4-BE49-F238E27FC236}">
                <a16:creationId xmlns:a16="http://schemas.microsoft.com/office/drawing/2014/main" id="{A3D342C1-C99C-3FB3-21DF-DBC1BBA10627}"/>
              </a:ext>
            </a:extLst>
          </p:cNvPr>
          <p:cNvSpPr/>
          <p:nvPr/>
        </p:nvSpPr>
        <p:spPr>
          <a:xfrm>
            <a:off x="4190846" y="1921832"/>
            <a:ext cx="3407568" cy="1707193"/>
          </a:xfrm>
          <a:custGeom>
            <a:avLst/>
            <a:gdLst>
              <a:gd name="csX0" fmla="*/ 0 w 3407568"/>
              <a:gd name="csY0" fmla="*/ 0 h 1700212"/>
              <a:gd name="csX1" fmla="*/ 3407568 w 3407568"/>
              <a:gd name="csY1" fmla="*/ 0 h 1700212"/>
              <a:gd name="csX2" fmla="*/ 3407568 w 3407568"/>
              <a:gd name="csY2" fmla="*/ 1700212 h 1700212"/>
              <a:gd name="csX3" fmla="*/ 0 w 3407568"/>
              <a:gd name="csY3" fmla="*/ 1700212 h 1700212"/>
              <a:gd name="csX4" fmla="*/ 0 w 3407568"/>
              <a:gd name="csY4" fmla="*/ 0 h 1700212"/>
              <a:gd name="csX0" fmla="*/ 642174 w 3407568"/>
              <a:gd name="csY0" fmla="*/ 0 h 1707193"/>
              <a:gd name="csX1" fmla="*/ 3407568 w 3407568"/>
              <a:gd name="csY1" fmla="*/ 6981 h 1707193"/>
              <a:gd name="csX2" fmla="*/ 3407568 w 3407568"/>
              <a:gd name="csY2" fmla="*/ 1707193 h 1707193"/>
              <a:gd name="csX3" fmla="*/ 0 w 3407568"/>
              <a:gd name="csY3" fmla="*/ 1707193 h 1707193"/>
              <a:gd name="csX4" fmla="*/ 642174 w 3407568"/>
              <a:gd name="csY4" fmla="*/ 0 h 1707193"/>
              <a:gd name="csX0" fmla="*/ 642174 w 3407568"/>
              <a:gd name="csY0" fmla="*/ 0 h 1707193"/>
              <a:gd name="csX1" fmla="*/ 2562969 w 3407568"/>
              <a:gd name="csY1" fmla="*/ 1 h 1707193"/>
              <a:gd name="csX2" fmla="*/ 3407568 w 3407568"/>
              <a:gd name="csY2" fmla="*/ 1707193 h 1707193"/>
              <a:gd name="csX3" fmla="*/ 0 w 3407568"/>
              <a:gd name="csY3" fmla="*/ 1707193 h 1707193"/>
              <a:gd name="csX4" fmla="*/ 642174 w 3407568"/>
              <a:gd name="csY4" fmla="*/ 0 h 1707193"/>
              <a:gd name="csX0" fmla="*/ 642174 w 3407568"/>
              <a:gd name="csY0" fmla="*/ 0 h 1707193"/>
              <a:gd name="csX1" fmla="*/ 2562969 w 3407568"/>
              <a:gd name="csY1" fmla="*/ 6981 h 1707193"/>
              <a:gd name="csX2" fmla="*/ 3407568 w 3407568"/>
              <a:gd name="csY2" fmla="*/ 1707193 h 1707193"/>
              <a:gd name="csX3" fmla="*/ 0 w 3407568"/>
              <a:gd name="csY3" fmla="*/ 1707193 h 1707193"/>
              <a:gd name="csX4" fmla="*/ 642174 w 3407568"/>
              <a:gd name="csY4" fmla="*/ 0 h 1707193"/>
            </a:gdLst>
            <a:ahLst/>
            <a:cxnLst>
              <a:cxn ang="0">
                <a:pos x="csX0" y="csY0"/>
              </a:cxn>
              <a:cxn ang="0">
                <a:pos x="csX1" y="csY1"/>
              </a:cxn>
              <a:cxn ang="0">
                <a:pos x="csX2" y="csY2"/>
              </a:cxn>
              <a:cxn ang="0">
                <a:pos x="csX3" y="csY3"/>
              </a:cxn>
              <a:cxn ang="0">
                <a:pos x="csX4" y="csY4"/>
              </a:cxn>
            </a:cxnLst>
            <a:rect l="l" t="t" r="r" b="b"/>
            <a:pathLst>
              <a:path w="3407568" h="1707193">
                <a:moveTo>
                  <a:pt x="642174" y="0"/>
                </a:moveTo>
                <a:lnTo>
                  <a:pt x="2562969" y="6981"/>
                </a:lnTo>
                <a:lnTo>
                  <a:pt x="3407568" y="1707193"/>
                </a:lnTo>
                <a:lnTo>
                  <a:pt x="0" y="1707193"/>
                </a:lnTo>
                <a:lnTo>
                  <a:pt x="642174" y="0"/>
                </a:lnTo>
                <a:close/>
              </a:path>
            </a:pathLst>
          </a:cu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Tree">
            <a:extLst>
              <a:ext uri="{FF2B5EF4-FFF2-40B4-BE49-F238E27FC236}">
                <a16:creationId xmlns:a16="http://schemas.microsoft.com/office/drawing/2014/main" id="{7AC40EA7-B06B-CD6B-E525-A1952546F21A}"/>
              </a:ext>
            </a:extLst>
          </p:cNvPr>
          <p:cNvGrpSpPr/>
          <p:nvPr/>
        </p:nvGrpSpPr>
        <p:grpSpPr>
          <a:xfrm>
            <a:off x="4396651" y="2571750"/>
            <a:ext cx="635194" cy="825948"/>
            <a:chOff x="1619395" y="1095884"/>
            <a:chExt cx="635194" cy="825948"/>
          </a:xfrm>
        </p:grpSpPr>
        <p:sp>
          <p:nvSpPr>
            <p:cNvPr id="4" name="Rectangle 3">
              <a:extLst>
                <a:ext uri="{FF2B5EF4-FFF2-40B4-BE49-F238E27FC236}">
                  <a16:creationId xmlns:a16="http://schemas.microsoft.com/office/drawing/2014/main" id="{BA2C976B-A732-133A-E3A0-3C6FB1854FB9}"/>
                </a:ext>
              </a:extLst>
            </p:cNvPr>
            <p:cNvSpPr/>
            <p:nvPr/>
          </p:nvSpPr>
          <p:spPr>
            <a:xfrm>
              <a:off x="1912562" y="1354150"/>
              <a:ext cx="48861" cy="567682"/>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98AEB06B-D4DE-2B78-180C-3FA28BE55BC6}"/>
                </a:ext>
              </a:extLst>
            </p:cNvPr>
            <p:cNvSpPr/>
            <p:nvPr/>
          </p:nvSpPr>
          <p:spPr>
            <a:xfrm>
              <a:off x="1619395" y="1095884"/>
              <a:ext cx="635194" cy="328067"/>
            </a:xfrm>
            <a:prstGeom prst="ellipse">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Tree">
            <a:extLst>
              <a:ext uri="{FF2B5EF4-FFF2-40B4-BE49-F238E27FC236}">
                <a16:creationId xmlns:a16="http://schemas.microsoft.com/office/drawing/2014/main" id="{D5180B50-73E3-D45F-D268-D7EAB678CA03}"/>
              </a:ext>
            </a:extLst>
          </p:cNvPr>
          <p:cNvGrpSpPr/>
          <p:nvPr/>
        </p:nvGrpSpPr>
        <p:grpSpPr>
          <a:xfrm>
            <a:off x="6726858" y="2569442"/>
            <a:ext cx="635194" cy="825948"/>
            <a:chOff x="1619395" y="1095884"/>
            <a:chExt cx="635194" cy="825948"/>
          </a:xfrm>
        </p:grpSpPr>
        <p:sp>
          <p:nvSpPr>
            <p:cNvPr id="8" name="Rectangle 7">
              <a:extLst>
                <a:ext uri="{FF2B5EF4-FFF2-40B4-BE49-F238E27FC236}">
                  <a16:creationId xmlns:a16="http://schemas.microsoft.com/office/drawing/2014/main" id="{6D8DE5BC-2109-4917-1F15-09876C0131C6}"/>
                </a:ext>
              </a:extLst>
            </p:cNvPr>
            <p:cNvSpPr/>
            <p:nvPr/>
          </p:nvSpPr>
          <p:spPr>
            <a:xfrm>
              <a:off x="1912562" y="1354150"/>
              <a:ext cx="48861" cy="567682"/>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B639CB3-B8B3-1231-6F79-848AB61B525F}"/>
                </a:ext>
              </a:extLst>
            </p:cNvPr>
            <p:cNvSpPr/>
            <p:nvPr/>
          </p:nvSpPr>
          <p:spPr>
            <a:xfrm>
              <a:off x="1619395" y="1095884"/>
              <a:ext cx="635194" cy="328067"/>
            </a:xfrm>
            <a:prstGeom prst="ellipse">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Tree">
            <a:extLst>
              <a:ext uri="{FF2B5EF4-FFF2-40B4-BE49-F238E27FC236}">
                <a16:creationId xmlns:a16="http://schemas.microsoft.com/office/drawing/2014/main" id="{5C9EF9E5-2F56-CFFF-1DF5-549D176A3DB0}"/>
              </a:ext>
            </a:extLst>
          </p:cNvPr>
          <p:cNvGrpSpPr/>
          <p:nvPr/>
        </p:nvGrpSpPr>
        <p:grpSpPr>
          <a:xfrm>
            <a:off x="4803826" y="1591094"/>
            <a:ext cx="456037" cy="567682"/>
            <a:chOff x="1619395" y="1095884"/>
            <a:chExt cx="635194" cy="825948"/>
          </a:xfrm>
        </p:grpSpPr>
        <p:sp>
          <p:nvSpPr>
            <p:cNvPr id="11" name="Rectangle 10">
              <a:extLst>
                <a:ext uri="{FF2B5EF4-FFF2-40B4-BE49-F238E27FC236}">
                  <a16:creationId xmlns:a16="http://schemas.microsoft.com/office/drawing/2014/main" id="{E86C4584-2625-A825-7B67-219C1B96DBC2}"/>
                </a:ext>
              </a:extLst>
            </p:cNvPr>
            <p:cNvSpPr/>
            <p:nvPr/>
          </p:nvSpPr>
          <p:spPr>
            <a:xfrm>
              <a:off x="1912562" y="1354150"/>
              <a:ext cx="48861" cy="567682"/>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FD4792D-7F91-915B-C78F-6758D57E00AC}"/>
                </a:ext>
              </a:extLst>
            </p:cNvPr>
            <p:cNvSpPr/>
            <p:nvPr/>
          </p:nvSpPr>
          <p:spPr>
            <a:xfrm>
              <a:off x="1619395" y="1095884"/>
              <a:ext cx="635194" cy="328067"/>
            </a:xfrm>
            <a:prstGeom prst="ellipse">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Tree">
            <a:extLst>
              <a:ext uri="{FF2B5EF4-FFF2-40B4-BE49-F238E27FC236}">
                <a16:creationId xmlns:a16="http://schemas.microsoft.com/office/drawing/2014/main" id="{1F14FD52-09B2-AC7E-E7B9-2E633102C5D2}"/>
              </a:ext>
            </a:extLst>
          </p:cNvPr>
          <p:cNvGrpSpPr/>
          <p:nvPr/>
        </p:nvGrpSpPr>
        <p:grpSpPr>
          <a:xfrm>
            <a:off x="6465105" y="1591094"/>
            <a:ext cx="456037" cy="567682"/>
            <a:chOff x="1619395" y="1095884"/>
            <a:chExt cx="635194" cy="825948"/>
          </a:xfrm>
        </p:grpSpPr>
        <p:sp>
          <p:nvSpPr>
            <p:cNvPr id="14" name="Rectangle 13">
              <a:extLst>
                <a:ext uri="{FF2B5EF4-FFF2-40B4-BE49-F238E27FC236}">
                  <a16:creationId xmlns:a16="http://schemas.microsoft.com/office/drawing/2014/main" id="{4B28E8F9-9203-845B-23DC-9E20C82E695B}"/>
                </a:ext>
              </a:extLst>
            </p:cNvPr>
            <p:cNvSpPr/>
            <p:nvPr/>
          </p:nvSpPr>
          <p:spPr>
            <a:xfrm>
              <a:off x="1912562" y="1354150"/>
              <a:ext cx="48861" cy="567682"/>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16C2824A-82F6-055A-61FE-662ABDE432C0}"/>
                </a:ext>
              </a:extLst>
            </p:cNvPr>
            <p:cNvSpPr/>
            <p:nvPr/>
          </p:nvSpPr>
          <p:spPr>
            <a:xfrm>
              <a:off x="1619395" y="1095884"/>
              <a:ext cx="635194" cy="328067"/>
            </a:xfrm>
            <a:prstGeom prst="ellipse">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House">
            <a:extLst>
              <a:ext uri="{FF2B5EF4-FFF2-40B4-BE49-F238E27FC236}">
                <a16:creationId xmlns:a16="http://schemas.microsoft.com/office/drawing/2014/main" id="{386C8E75-0E36-63E8-5539-7C8962A85FDD}"/>
              </a:ext>
            </a:extLst>
          </p:cNvPr>
          <p:cNvGrpSpPr/>
          <p:nvPr/>
        </p:nvGrpSpPr>
        <p:grpSpPr>
          <a:xfrm>
            <a:off x="4995803" y="1888171"/>
            <a:ext cx="1714187" cy="1192727"/>
            <a:chOff x="3705320" y="1888171"/>
            <a:chExt cx="1714187" cy="1192727"/>
          </a:xfrm>
        </p:grpSpPr>
        <p:sp>
          <p:nvSpPr>
            <p:cNvPr id="2" name="House">
              <a:extLst>
                <a:ext uri="{FF2B5EF4-FFF2-40B4-BE49-F238E27FC236}">
                  <a16:creationId xmlns:a16="http://schemas.microsoft.com/office/drawing/2014/main" id="{CBAF7E76-F1B5-11E8-1CE8-0B25BE37D49A}"/>
                </a:ext>
              </a:extLst>
            </p:cNvPr>
            <p:cNvSpPr/>
            <p:nvPr/>
          </p:nvSpPr>
          <p:spPr>
            <a:xfrm>
              <a:off x="3950206" y="2386052"/>
              <a:ext cx="1224416" cy="6948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2A09409A-0501-B548-D45C-5C80E2655FFB}"/>
                </a:ext>
              </a:extLst>
            </p:cNvPr>
            <p:cNvSpPr/>
            <p:nvPr/>
          </p:nvSpPr>
          <p:spPr>
            <a:xfrm>
              <a:off x="3705320" y="1888171"/>
              <a:ext cx="1714187" cy="49728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FA93F13-DC37-AE2B-F24E-D5E908A650FF}"/>
                </a:ext>
              </a:extLst>
            </p:cNvPr>
            <p:cNvSpPr/>
            <p:nvPr/>
          </p:nvSpPr>
          <p:spPr>
            <a:xfrm>
              <a:off x="4144316" y="2569441"/>
              <a:ext cx="167523" cy="153563"/>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E528215-2353-824B-96F6-D26E876D6D6E}"/>
                </a:ext>
              </a:extLst>
            </p:cNvPr>
            <p:cNvSpPr/>
            <p:nvPr/>
          </p:nvSpPr>
          <p:spPr>
            <a:xfrm>
              <a:off x="4840994" y="2569442"/>
              <a:ext cx="167523" cy="153563"/>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C66CD23-9A4C-9AEC-1152-1E4FA3E01A2F}"/>
                </a:ext>
              </a:extLst>
            </p:cNvPr>
            <p:cNvSpPr/>
            <p:nvPr/>
          </p:nvSpPr>
          <p:spPr>
            <a:xfrm>
              <a:off x="4450256" y="2672234"/>
              <a:ext cx="228859" cy="407500"/>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Shape 0">
            <a:extLst>
              <a:ext uri="{FF2B5EF4-FFF2-40B4-BE49-F238E27FC236}">
                <a16:creationId xmlns:a16="http://schemas.microsoft.com/office/drawing/2014/main" id="{A4F20BA9-CC13-61EF-3274-59D4687EB370}"/>
              </a:ext>
            </a:extLst>
          </p:cNvPr>
          <p:cNvSpPr/>
          <p:nvPr/>
        </p:nvSpPr>
        <p:spPr>
          <a:xfrm>
            <a:off x="0" y="0"/>
            <a:ext cx="9144000" cy="640080"/>
          </a:xfrm>
          <a:prstGeom prst="rect">
            <a:avLst/>
          </a:prstGeom>
          <a:solidFill>
            <a:srgbClr val="1B3A5C"/>
          </a:solidFill>
          <a:ln w="12700">
            <a:solidFill>
              <a:srgbClr val="1B3A5C"/>
            </a:solidFill>
            <a:prstDash val="solid"/>
          </a:ln>
        </p:spPr>
        <p:txBody>
          <a:bodyPr anchor="ctr"/>
          <a:lstStyle/>
          <a:p>
            <a:pPr marL="346075"/>
            <a:r>
              <a:rPr lang="en-US" sz="2800" b="1" dirty="0">
                <a:solidFill>
                  <a:srgbClr val="FFFFFF"/>
                </a:solidFill>
                <a:latin typeface="Georgia" pitchFamily="34" charset="0"/>
                <a:ea typeface="Georgia" pitchFamily="34" charset="-122"/>
                <a:cs typeface="Georgia" pitchFamily="34" charset="-120"/>
              </a:rPr>
              <a:t>The Opportunity</a:t>
            </a:r>
            <a:endParaRPr lang="en-US" sz="2800" dirty="0"/>
          </a:p>
        </p:txBody>
      </p:sp>
      <p:sp>
        <p:nvSpPr>
          <p:cNvPr id="36" name="TextBox 35">
            <a:extLst>
              <a:ext uri="{FF2B5EF4-FFF2-40B4-BE49-F238E27FC236}">
                <a16:creationId xmlns:a16="http://schemas.microsoft.com/office/drawing/2014/main" id="{091718CD-D8A4-A6F9-7F96-C9A331FEE0FA}"/>
              </a:ext>
            </a:extLst>
          </p:cNvPr>
          <p:cNvSpPr txBox="1"/>
          <p:nvPr/>
        </p:nvSpPr>
        <p:spPr>
          <a:xfrm>
            <a:off x="1841652" y="2136812"/>
            <a:ext cx="1726316" cy="692497"/>
          </a:xfrm>
          <a:prstGeom prst="rect">
            <a:avLst/>
          </a:prstGeom>
          <a:noFill/>
        </p:spPr>
        <p:txBody>
          <a:bodyPr wrap="square" rtlCol="0">
            <a:spAutoFit/>
          </a:bodyPr>
          <a:lstStyle/>
          <a:p>
            <a:pPr algn="r"/>
            <a:r>
              <a:rPr lang="en-US" sz="1300" dirty="0"/>
              <a:t>Land</a:t>
            </a:r>
          </a:p>
          <a:p>
            <a:pPr algn="r"/>
            <a:r>
              <a:rPr lang="en-US" sz="1300" dirty="0"/>
              <a:t>   </a:t>
            </a:r>
            <a:r>
              <a:rPr lang="en-US" sz="1300" u="sng" dirty="0"/>
              <a:t>+   Improvements</a:t>
            </a:r>
          </a:p>
          <a:p>
            <a:pPr algn="r"/>
            <a:r>
              <a:rPr lang="en-US" sz="1300" dirty="0"/>
              <a:t>Total Price</a:t>
            </a:r>
          </a:p>
        </p:txBody>
      </p:sp>
      <p:sp>
        <p:nvSpPr>
          <p:cNvPr id="37" name="Text 2">
            <a:extLst>
              <a:ext uri="{FF2B5EF4-FFF2-40B4-BE49-F238E27FC236}">
                <a16:creationId xmlns:a16="http://schemas.microsoft.com/office/drawing/2014/main" id="{E98846A5-5193-C16E-7276-A7C76CD26D51}"/>
              </a:ext>
            </a:extLst>
          </p:cNvPr>
          <p:cNvSpPr/>
          <p:nvPr/>
        </p:nvSpPr>
        <p:spPr>
          <a:xfrm>
            <a:off x="-226656" y="1235155"/>
            <a:ext cx="3840480" cy="411480"/>
          </a:xfrm>
          <a:prstGeom prst="rect">
            <a:avLst/>
          </a:prstGeom>
          <a:noFill/>
          <a:ln/>
        </p:spPr>
        <p:txBody>
          <a:bodyPr wrap="square" rtlCol="0" anchor="ctr"/>
          <a:lstStyle/>
          <a:p>
            <a:pPr marL="0" indent="0" algn="r">
              <a:buNone/>
            </a:pPr>
            <a:r>
              <a:rPr lang="en-US" sz="1300" b="1" kern="0" spc="200" dirty="0">
                <a:solidFill>
                  <a:srgbClr val="1A7A6B"/>
                </a:solidFill>
                <a:latin typeface="Calibri" pitchFamily="34" charset="0"/>
                <a:ea typeface="Calibri" pitchFamily="34" charset="-122"/>
                <a:cs typeface="Calibri" pitchFamily="34" charset="-120"/>
              </a:rPr>
              <a:t>Components of Sales Price</a:t>
            </a:r>
            <a:endParaRPr lang="en-US" sz="1300" dirty="0"/>
          </a:p>
        </p:txBody>
      </p:sp>
    </p:spTree>
    <p:extLst>
      <p:ext uri="{BB962C8B-B14F-4D97-AF65-F5344CB8AC3E}">
        <p14:creationId xmlns:p14="http://schemas.microsoft.com/office/powerpoint/2010/main" val="610089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a:extLst>
            <a:ext uri="{FF2B5EF4-FFF2-40B4-BE49-F238E27FC236}">
              <a16:creationId xmlns:a16="http://schemas.microsoft.com/office/drawing/2014/main" id="{AD64FF8A-40A9-3FCB-783C-ED47AB114CA1}"/>
            </a:ext>
          </a:extLst>
        </p:cNvPr>
        <p:cNvGrpSpPr/>
        <p:nvPr/>
      </p:nvGrpSpPr>
      <p:grpSpPr>
        <a:xfrm>
          <a:off x="0" y="0"/>
          <a:ext cx="0" cy="0"/>
          <a:chOff x="0" y="0"/>
          <a:chExt cx="0" cy="0"/>
        </a:xfrm>
      </p:grpSpPr>
      <p:grpSp>
        <p:nvGrpSpPr>
          <p:cNvPr id="33" name="Group 32">
            <a:extLst>
              <a:ext uri="{FF2B5EF4-FFF2-40B4-BE49-F238E27FC236}">
                <a16:creationId xmlns:a16="http://schemas.microsoft.com/office/drawing/2014/main" id="{9B83E967-3C19-ABD0-467F-50114A4CBE5E}"/>
              </a:ext>
            </a:extLst>
          </p:cNvPr>
          <p:cNvGrpSpPr/>
          <p:nvPr/>
        </p:nvGrpSpPr>
        <p:grpSpPr>
          <a:xfrm>
            <a:off x="4199120" y="1521278"/>
            <a:ext cx="3407568" cy="2333846"/>
            <a:chOff x="3680546" y="2250296"/>
            <a:chExt cx="3407568" cy="2333846"/>
          </a:xfrm>
        </p:grpSpPr>
        <p:sp>
          <p:nvSpPr>
            <p:cNvPr id="3" name="Land">
              <a:extLst>
                <a:ext uri="{FF2B5EF4-FFF2-40B4-BE49-F238E27FC236}">
                  <a16:creationId xmlns:a16="http://schemas.microsoft.com/office/drawing/2014/main" id="{32A7EC98-5FAD-75AC-41A2-97482DE38293}"/>
                </a:ext>
              </a:extLst>
            </p:cNvPr>
            <p:cNvSpPr/>
            <p:nvPr/>
          </p:nvSpPr>
          <p:spPr>
            <a:xfrm>
              <a:off x="3680546" y="2876949"/>
              <a:ext cx="3407568" cy="1707193"/>
            </a:xfrm>
            <a:custGeom>
              <a:avLst/>
              <a:gdLst>
                <a:gd name="csX0" fmla="*/ 0 w 3407568"/>
                <a:gd name="csY0" fmla="*/ 0 h 1700212"/>
                <a:gd name="csX1" fmla="*/ 3407568 w 3407568"/>
                <a:gd name="csY1" fmla="*/ 0 h 1700212"/>
                <a:gd name="csX2" fmla="*/ 3407568 w 3407568"/>
                <a:gd name="csY2" fmla="*/ 1700212 h 1700212"/>
                <a:gd name="csX3" fmla="*/ 0 w 3407568"/>
                <a:gd name="csY3" fmla="*/ 1700212 h 1700212"/>
                <a:gd name="csX4" fmla="*/ 0 w 3407568"/>
                <a:gd name="csY4" fmla="*/ 0 h 1700212"/>
                <a:gd name="csX0" fmla="*/ 642174 w 3407568"/>
                <a:gd name="csY0" fmla="*/ 0 h 1707193"/>
                <a:gd name="csX1" fmla="*/ 3407568 w 3407568"/>
                <a:gd name="csY1" fmla="*/ 6981 h 1707193"/>
                <a:gd name="csX2" fmla="*/ 3407568 w 3407568"/>
                <a:gd name="csY2" fmla="*/ 1707193 h 1707193"/>
                <a:gd name="csX3" fmla="*/ 0 w 3407568"/>
                <a:gd name="csY3" fmla="*/ 1707193 h 1707193"/>
                <a:gd name="csX4" fmla="*/ 642174 w 3407568"/>
                <a:gd name="csY4" fmla="*/ 0 h 1707193"/>
                <a:gd name="csX0" fmla="*/ 642174 w 3407568"/>
                <a:gd name="csY0" fmla="*/ 0 h 1707193"/>
                <a:gd name="csX1" fmla="*/ 2562969 w 3407568"/>
                <a:gd name="csY1" fmla="*/ 1 h 1707193"/>
                <a:gd name="csX2" fmla="*/ 3407568 w 3407568"/>
                <a:gd name="csY2" fmla="*/ 1707193 h 1707193"/>
                <a:gd name="csX3" fmla="*/ 0 w 3407568"/>
                <a:gd name="csY3" fmla="*/ 1707193 h 1707193"/>
                <a:gd name="csX4" fmla="*/ 642174 w 3407568"/>
                <a:gd name="csY4" fmla="*/ 0 h 1707193"/>
                <a:gd name="csX0" fmla="*/ 642174 w 3407568"/>
                <a:gd name="csY0" fmla="*/ 0 h 1707193"/>
                <a:gd name="csX1" fmla="*/ 2562969 w 3407568"/>
                <a:gd name="csY1" fmla="*/ 6981 h 1707193"/>
                <a:gd name="csX2" fmla="*/ 3407568 w 3407568"/>
                <a:gd name="csY2" fmla="*/ 1707193 h 1707193"/>
                <a:gd name="csX3" fmla="*/ 0 w 3407568"/>
                <a:gd name="csY3" fmla="*/ 1707193 h 1707193"/>
                <a:gd name="csX4" fmla="*/ 642174 w 3407568"/>
                <a:gd name="csY4" fmla="*/ 0 h 1707193"/>
              </a:gdLst>
              <a:ahLst/>
              <a:cxnLst>
                <a:cxn ang="0">
                  <a:pos x="csX0" y="csY0"/>
                </a:cxn>
                <a:cxn ang="0">
                  <a:pos x="csX1" y="csY1"/>
                </a:cxn>
                <a:cxn ang="0">
                  <a:pos x="csX2" y="csY2"/>
                </a:cxn>
                <a:cxn ang="0">
                  <a:pos x="csX3" y="csY3"/>
                </a:cxn>
                <a:cxn ang="0">
                  <a:pos x="csX4" y="csY4"/>
                </a:cxn>
              </a:cxnLst>
              <a:rect l="l" t="t" r="r" b="b"/>
              <a:pathLst>
                <a:path w="3407568" h="1707193">
                  <a:moveTo>
                    <a:pt x="642174" y="0"/>
                  </a:moveTo>
                  <a:lnTo>
                    <a:pt x="2562969" y="6981"/>
                  </a:lnTo>
                  <a:lnTo>
                    <a:pt x="3407568" y="1707193"/>
                  </a:lnTo>
                  <a:lnTo>
                    <a:pt x="0" y="1707193"/>
                  </a:lnTo>
                  <a:lnTo>
                    <a:pt x="642174" y="0"/>
                  </a:lnTo>
                  <a:close/>
                </a:path>
              </a:pathLst>
            </a:cu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Tree">
              <a:extLst>
                <a:ext uri="{FF2B5EF4-FFF2-40B4-BE49-F238E27FC236}">
                  <a16:creationId xmlns:a16="http://schemas.microsoft.com/office/drawing/2014/main" id="{0AB62C7F-9BA9-A134-9D5C-6F4B6DF4BCA4}"/>
                </a:ext>
              </a:extLst>
            </p:cNvPr>
            <p:cNvGrpSpPr/>
            <p:nvPr/>
          </p:nvGrpSpPr>
          <p:grpSpPr>
            <a:xfrm>
              <a:off x="3779891" y="3575328"/>
              <a:ext cx="635194" cy="825948"/>
              <a:chOff x="1619395" y="1095884"/>
              <a:chExt cx="635194" cy="825948"/>
            </a:xfrm>
          </p:grpSpPr>
          <p:sp>
            <p:nvSpPr>
              <p:cNvPr id="4" name="Rectangle 3">
                <a:extLst>
                  <a:ext uri="{FF2B5EF4-FFF2-40B4-BE49-F238E27FC236}">
                    <a16:creationId xmlns:a16="http://schemas.microsoft.com/office/drawing/2014/main" id="{72416D1D-4AF1-42E8-5F70-E75AED55A3D3}"/>
                  </a:ext>
                </a:extLst>
              </p:cNvPr>
              <p:cNvSpPr/>
              <p:nvPr/>
            </p:nvSpPr>
            <p:spPr>
              <a:xfrm>
                <a:off x="1912562" y="1354150"/>
                <a:ext cx="48861" cy="567682"/>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E9F2F39E-F91E-026E-3126-F306A47BC08C}"/>
                  </a:ext>
                </a:extLst>
              </p:cNvPr>
              <p:cNvSpPr/>
              <p:nvPr/>
            </p:nvSpPr>
            <p:spPr>
              <a:xfrm>
                <a:off x="1619395" y="1095884"/>
                <a:ext cx="635194" cy="328067"/>
              </a:xfrm>
              <a:prstGeom prst="ellipse">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Tree">
              <a:extLst>
                <a:ext uri="{FF2B5EF4-FFF2-40B4-BE49-F238E27FC236}">
                  <a16:creationId xmlns:a16="http://schemas.microsoft.com/office/drawing/2014/main" id="{FEB91E80-B23B-0C71-FBBB-0C985014E9DC}"/>
                </a:ext>
              </a:extLst>
            </p:cNvPr>
            <p:cNvGrpSpPr/>
            <p:nvPr/>
          </p:nvGrpSpPr>
          <p:grpSpPr>
            <a:xfrm>
              <a:off x="6370562" y="3575328"/>
              <a:ext cx="635194" cy="825948"/>
              <a:chOff x="1619395" y="1095884"/>
              <a:chExt cx="635194" cy="825948"/>
            </a:xfrm>
          </p:grpSpPr>
          <p:sp>
            <p:nvSpPr>
              <p:cNvPr id="8" name="Rectangle 7">
                <a:extLst>
                  <a:ext uri="{FF2B5EF4-FFF2-40B4-BE49-F238E27FC236}">
                    <a16:creationId xmlns:a16="http://schemas.microsoft.com/office/drawing/2014/main" id="{B70A8992-1CA0-660E-EE7D-F49A9C7370BA}"/>
                  </a:ext>
                </a:extLst>
              </p:cNvPr>
              <p:cNvSpPr/>
              <p:nvPr/>
            </p:nvSpPr>
            <p:spPr>
              <a:xfrm>
                <a:off x="1912562" y="1354150"/>
                <a:ext cx="48861" cy="567682"/>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18BC6E4-CDDE-E6E4-16A4-DAD31AFB4FBC}"/>
                  </a:ext>
                </a:extLst>
              </p:cNvPr>
              <p:cNvSpPr/>
              <p:nvPr/>
            </p:nvSpPr>
            <p:spPr>
              <a:xfrm>
                <a:off x="1619395" y="1095884"/>
                <a:ext cx="635194" cy="328067"/>
              </a:xfrm>
              <a:prstGeom prst="ellipse">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Tree">
              <a:extLst>
                <a:ext uri="{FF2B5EF4-FFF2-40B4-BE49-F238E27FC236}">
                  <a16:creationId xmlns:a16="http://schemas.microsoft.com/office/drawing/2014/main" id="{7C065ED4-29DA-675D-AE7A-3BFCF2317239}"/>
                </a:ext>
              </a:extLst>
            </p:cNvPr>
            <p:cNvGrpSpPr/>
            <p:nvPr/>
          </p:nvGrpSpPr>
          <p:grpSpPr>
            <a:xfrm>
              <a:off x="4204343" y="2567700"/>
              <a:ext cx="456037" cy="567682"/>
              <a:chOff x="1619395" y="1095884"/>
              <a:chExt cx="635194" cy="825948"/>
            </a:xfrm>
          </p:grpSpPr>
          <p:sp>
            <p:nvSpPr>
              <p:cNvPr id="11" name="Rectangle 10">
                <a:extLst>
                  <a:ext uri="{FF2B5EF4-FFF2-40B4-BE49-F238E27FC236}">
                    <a16:creationId xmlns:a16="http://schemas.microsoft.com/office/drawing/2014/main" id="{FBC4CC23-EA0E-91B0-953E-18AE169861DF}"/>
                  </a:ext>
                </a:extLst>
              </p:cNvPr>
              <p:cNvSpPr/>
              <p:nvPr/>
            </p:nvSpPr>
            <p:spPr>
              <a:xfrm>
                <a:off x="1912562" y="1354150"/>
                <a:ext cx="48861" cy="567682"/>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C05AB65F-B711-21CC-244C-AF574F5FF3C4}"/>
                  </a:ext>
                </a:extLst>
              </p:cNvPr>
              <p:cNvSpPr/>
              <p:nvPr/>
            </p:nvSpPr>
            <p:spPr>
              <a:xfrm>
                <a:off x="1619395" y="1095884"/>
                <a:ext cx="635194" cy="328067"/>
              </a:xfrm>
              <a:prstGeom prst="ellipse">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Tree">
              <a:extLst>
                <a:ext uri="{FF2B5EF4-FFF2-40B4-BE49-F238E27FC236}">
                  <a16:creationId xmlns:a16="http://schemas.microsoft.com/office/drawing/2014/main" id="{2ADBE714-1E9F-7331-1178-E8397AE6EECA}"/>
                </a:ext>
              </a:extLst>
            </p:cNvPr>
            <p:cNvGrpSpPr/>
            <p:nvPr/>
          </p:nvGrpSpPr>
          <p:grpSpPr>
            <a:xfrm>
              <a:off x="5915949" y="2589678"/>
              <a:ext cx="456037" cy="567682"/>
              <a:chOff x="1619395" y="1095884"/>
              <a:chExt cx="635194" cy="825948"/>
            </a:xfrm>
          </p:grpSpPr>
          <p:sp>
            <p:nvSpPr>
              <p:cNvPr id="14" name="Rectangle 13">
                <a:extLst>
                  <a:ext uri="{FF2B5EF4-FFF2-40B4-BE49-F238E27FC236}">
                    <a16:creationId xmlns:a16="http://schemas.microsoft.com/office/drawing/2014/main" id="{4A5EBD90-1C3C-5EE7-D8FD-E232F0F5B761}"/>
                  </a:ext>
                </a:extLst>
              </p:cNvPr>
              <p:cNvSpPr/>
              <p:nvPr/>
            </p:nvSpPr>
            <p:spPr>
              <a:xfrm>
                <a:off x="1912562" y="1354150"/>
                <a:ext cx="48861" cy="567682"/>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8C4B18C-39B9-6F02-E28A-90B45698ACF9}"/>
                  </a:ext>
                </a:extLst>
              </p:cNvPr>
              <p:cNvSpPr/>
              <p:nvPr/>
            </p:nvSpPr>
            <p:spPr>
              <a:xfrm>
                <a:off x="1619395" y="1095884"/>
                <a:ext cx="635194" cy="328067"/>
              </a:xfrm>
              <a:prstGeom prst="ellipse">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Big House">
              <a:extLst>
                <a:ext uri="{FF2B5EF4-FFF2-40B4-BE49-F238E27FC236}">
                  <a16:creationId xmlns:a16="http://schemas.microsoft.com/office/drawing/2014/main" id="{B6940D69-38B9-A98D-4E18-C26D0F4F56FE}"/>
                </a:ext>
              </a:extLst>
            </p:cNvPr>
            <p:cNvGrpSpPr/>
            <p:nvPr/>
          </p:nvGrpSpPr>
          <p:grpSpPr>
            <a:xfrm>
              <a:off x="3826536" y="2250296"/>
              <a:ext cx="2957585" cy="2004790"/>
              <a:chOff x="3010748" y="1074945"/>
              <a:chExt cx="2957585" cy="2004790"/>
            </a:xfrm>
            <a:solidFill>
              <a:srgbClr val="000000">
                <a:alpha val="25098"/>
              </a:srgbClr>
            </a:solidFill>
          </p:grpSpPr>
          <p:sp>
            <p:nvSpPr>
              <p:cNvPr id="22" name="House">
                <a:extLst>
                  <a:ext uri="{FF2B5EF4-FFF2-40B4-BE49-F238E27FC236}">
                    <a16:creationId xmlns:a16="http://schemas.microsoft.com/office/drawing/2014/main" id="{ECFB5CA5-965A-F159-22CC-552F8CCCBFB3}"/>
                  </a:ext>
                </a:extLst>
              </p:cNvPr>
              <p:cNvSpPr/>
              <p:nvPr/>
            </p:nvSpPr>
            <p:spPr>
              <a:xfrm>
                <a:off x="3433264" y="1911806"/>
                <a:ext cx="2112555" cy="116792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22">
                <a:extLst>
                  <a:ext uri="{FF2B5EF4-FFF2-40B4-BE49-F238E27FC236}">
                    <a16:creationId xmlns:a16="http://schemas.microsoft.com/office/drawing/2014/main" id="{588265A6-4439-8645-441F-F4022B130528}"/>
                  </a:ext>
                </a:extLst>
              </p:cNvPr>
              <p:cNvSpPr/>
              <p:nvPr/>
            </p:nvSpPr>
            <p:spPr>
              <a:xfrm>
                <a:off x="3010748" y="1074945"/>
                <a:ext cx="2957585" cy="835854"/>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E40A2FF-E78C-D782-B05F-921EAD9729BE}"/>
                  </a:ext>
                </a:extLst>
              </p:cNvPr>
              <p:cNvSpPr/>
              <p:nvPr/>
            </p:nvSpPr>
            <p:spPr>
              <a:xfrm>
                <a:off x="3768173" y="2090572"/>
                <a:ext cx="199165" cy="242154"/>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40D0652-D306-1541-1909-33F5188B13BF}"/>
                  </a:ext>
                </a:extLst>
              </p:cNvPr>
              <p:cNvSpPr/>
              <p:nvPr/>
            </p:nvSpPr>
            <p:spPr>
              <a:xfrm>
                <a:off x="4252662" y="2673645"/>
                <a:ext cx="228858" cy="405544"/>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401DF2B-8439-5AF8-9BCC-D86E1DB921ED}"/>
                  </a:ext>
                </a:extLst>
              </p:cNvPr>
              <p:cNvSpPr/>
              <p:nvPr/>
            </p:nvSpPr>
            <p:spPr>
              <a:xfrm>
                <a:off x="3768173" y="2570797"/>
                <a:ext cx="199165" cy="242154"/>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468294F-10C4-0E9B-3A58-A0EE09756328}"/>
                  </a:ext>
                </a:extLst>
              </p:cNvPr>
              <p:cNvSpPr/>
              <p:nvPr/>
            </p:nvSpPr>
            <p:spPr>
              <a:xfrm>
                <a:off x="5025745" y="2579176"/>
                <a:ext cx="199165" cy="242154"/>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F18E13A-BD6E-8DD5-7802-F1AF2A243E3E}"/>
                  </a:ext>
                </a:extLst>
              </p:cNvPr>
              <p:cNvSpPr/>
              <p:nvPr/>
            </p:nvSpPr>
            <p:spPr>
              <a:xfrm>
                <a:off x="5025779" y="2087555"/>
                <a:ext cx="199165" cy="242154"/>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105F157-8E3B-CCBE-E58C-CC44031AD4DC}"/>
                  </a:ext>
                </a:extLst>
              </p:cNvPr>
              <p:cNvSpPr/>
              <p:nvPr/>
            </p:nvSpPr>
            <p:spPr>
              <a:xfrm>
                <a:off x="4318807" y="2122944"/>
                <a:ext cx="341466" cy="167446"/>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FE472F0C-A6DA-EDC5-E061-02CB1E35DD91}"/>
                  </a:ext>
                </a:extLst>
              </p:cNvPr>
              <p:cNvSpPr/>
              <p:nvPr/>
            </p:nvSpPr>
            <p:spPr>
              <a:xfrm>
                <a:off x="4489540" y="2673645"/>
                <a:ext cx="228858" cy="405544"/>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4" name="Shape 0">
            <a:extLst>
              <a:ext uri="{FF2B5EF4-FFF2-40B4-BE49-F238E27FC236}">
                <a16:creationId xmlns:a16="http://schemas.microsoft.com/office/drawing/2014/main" id="{0F8075BB-6EF4-29B2-752D-E2F2FB4264ED}"/>
              </a:ext>
            </a:extLst>
          </p:cNvPr>
          <p:cNvSpPr/>
          <p:nvPr/>
        </p:nvSpPr>
        <p:spPr>
          <a:xfrm>
            <a:off x="0" y="0"/>
            <a:ext cx="9144000" cy="640080"/>
          </a:xfrm>
          <a:prstGeom prst="rect">
            <a:avLst/>
          </a:prstGeom>
          <a:solidFill>
            <a:srgbClr val="1B3A5C"/>
          </a:solidFill>
          <a:ln w="12700">
            <a:solidFill>
              <a:srgbClr val="1B3A5C"/>
            </a:solidFill>
            <a:prstDash val="solid"/>
          </a:ln>
        </p:spPr>
        <p:txBody>
          <a:bodyPr anchor="ctr"/>
          <a:lstStyle/>
          <a:p>
            <a:pPr marL="346075"/>
            <a:r>
              <a:rPr lang="en-US" sz="2800" b="1" dirty="0">
                <a:solidFill>
                  <a:srgbClr val="FFFFFF"/>
                </a:solidFill>
                <a:latin typeface="Georgia" pitchFamily="34" charset="0"/>
                <a:ea typeface="Georgia" pitchFamily="34" charset="-122"/>
                <a:cs typeface="Georgia" pitchFamily="34" charset="-120"/>
              </a:rPr>
              <a:t>The Opportunity</a:t>
            </a:r>
            <a:endParaRPr lang="en-US" sz="2800" dirty="0"/>
          </a:p>
        </p:txBody>
      </p:sp>
      <p:sp>
        <p:nvSpPr>
          <p:cNvPr id="36" name="TextBox 35">
            <a:extLst>
              <a:ext uri="{FF2B5EF4-FFF2-40B4-BE49-F238E27FC236}">
                <a16:creationId xmlns:a16="http://schemas.microsoft.com/office/drawing/2014/main" id="{941452EB-7834-B14C-3D88-4AB9872F1336}"/>
              </a:ext>
            </a:extLst>
          </p:cNvPr>
          <p:cNvSpPr txBox="1"/>
          <p:nvPr/>
        </p:nvSpPr>
        <p:spPr>
          <a:xfrm>
            <a:off x="2148472" y="2468338"/>
            <a:ext cx="1461881" cy="292388"/>
          </a:xfrm>
          <a:prstGeom prst="rect">
            <a:avLst/>
          </a:prstGeom>
          <a:noFill/>
        </p:spPr>
        <p:txBody>
          <a:bodyPr wrap="square" rtlCol="0">
            <a:spAutoFit/>
          </a:bodyPr>
          <a:lstStyle/>
          <a:p>
            <a:pPr algn="r"/>
            <a:r>
              <a:rPr lang="en-US" sz="1300" dirty="0"/>
              <a:t>Potential building</a:t>
            </a:r>
          </a:p>
        </p:txBody>
      </p:sp>
      <p:sp>
        <p:nvSpPr>
          <p:cNvPr id="41" name="Text 2">
            <a:extLst>
              <a:ext uri="{FF2B5EF4-FFF2-40B4-BE49-F238E27FC236}">
                <a16:creationId xmlns:a16="http://schemas.microsoft.com/office/drawing/2014/main" id="{AEDA5174-47A1-494D-26CB-9ACC40C23931}"/>
              </a:ext>
            </a:extLst>
          </p:cNvPr>
          <p:cNvSpPr/>
          <p:nvPr/>
        </p:nvSpPr>
        <p:spPr>
          <a:xfrm>
            <a:off x="-228600" y="1234440"/>
            <a:ext cx="3840480" cy="411480"/>
          </a:xfrm>
          <a:prstGeom prst="rect">
            <a:avLst/>
          </a:prstGeom>
          <a:noFill/>
          <a:ln/>
        </p:spPr>
        <p:txBody>
          <a:bodyPr wrap="square" rtlCol="0" anchor="ctr"/>
          <a:lstStyle/>
          <a:p>
            <a:pPr marL="0" indent="0" algn="r">
              <a:buNone/>
            </a:pPr>
            <a:r>
              <a:rPr lang="en-US" sz="1300" b="1" kern="0" spc="200" dirty="0">
                <a:solidFill>
                  <a:srgbClr val="1A7A6B"/>
                </a:solidFill>
                <a:latin typeface="Calibri" pitchFamily="34" charset="0"/>
                <a:ea typeface="Calibri" pitchFamily="34" charset="-122"/>
                <a:cs typeface="Calibri" pitchFamily="34" charset="-120"/>
              </a:rPr>
              <a:t>Zoning sets “by right” limits</a:t>
            </a:r>
            <a:endParaRPr lang="en-US" sz="1300" dirty="0"/>
          </a:p>
        </p:txBody>
      </p:sp>
    </p:spTree>
    <p:extLst>
      <p:ext uri="{BB962C8B-B14F-4D97-AF65-F5344CB8AC3E}">
        <p14:creationId xmlns:p14="http://schemas.microsoft.com/office/powerpoint/2010/main" val="3484651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a:extLst>
            <a:ext uri="{FF2B5EF4-FFF2-40B4-BE49-F238E27FC236}">
              <a16:creationId xmlns:a16="http://schemas.microsoft.com/office/drawing/2014/main" id="{BAA61A26-E5D1-ECE6-98BC-75ABE265AF94}"/>
            </a:ext>
          </a:extLst>
        </p:cNvPr>
        <p:cNvGrpSpPr/>
        <p:nvPr/>
      </p:nvGrpSpPr>
      <p:grpSpPr>
        <a:xfrm>
          <a:off x="0" y="0"/>
          <a:ext cx="0" cy="0"/>
          <a:chOff x="0" y="0"/>
          <a:chExt cx="0" cy="0"/>
        </a:xfrm>
      </p:grpSpPr>
      <p:grpSp>
        <p:nvGrpSpPr>
          <p:cNvPr id="20" name="House">
            <a:extLst>
              <a:ext uri="{FF2B5EF4-FFF2-40B4-BE49-F238E27FC236}">
                <a16:creationId xmlns:a16="http://schemas.microsoft.com/office/drawing/2014/main" id="{82F2F56B-AE5F-CE18-955C-64A363CEA00B}"/>
              </a:ext>
            </a:extLst>
          </p:cNvPr>
          <p:cNvGrpSpPr/>
          <p:nvPr/>
        </p:nvGrpSpPr>
        <p:grpSpPr>
          <a:xfrm>
            <a:off x="4944040" y="3432354"/>
            <a:ext cx="1714187" cy="1192727"/>
            <a:chOff x="3705320" y="1888171"/>
            <a:chExt cx="1714187" cy="1192727"/>
          </a:xfrm>
        </p:grpSpPr>
        <p:sp>
          <p:nvSpPr>
            <p:cNvPr id="2" name="House">
              <a:extLst>
                <a:ext uri="{FF2B5EF4-FFF2-40B4-BE49-F238E27FC236}">
                  <a16:creationId xmlns:a16="http://schemas.microsoft.com/office/drawing/2014/main" id="{8675916E-7E29-AA50-7221-EB2C42146102}"/>
                </a:ext>
              </a:extLst>
            </p:cNvPr>
            <p:cNvSpPr/>
            <p:nvPr/>
          </p:nvSpPr>
          <p:spPr>
            <a:xfrm>
              <a:off x="3950206" y="2386052"/>
              <a:ext cx="1224416" cy="6948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60E03363-B63E-5959-4ADA-280E404D897A}"/>
                </a:ext>
              </a:extLst>
            </p:cNvPr>
            <p:cNvSpPr/>
            <p:nvPr/>
          </p:nvSpPr>
          <p:spPr>
            <a:xfrm>
              <a:off x="3705320" y="1888171"/>
              <a:ext cx="1714187" cy="49728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D32AAC8-E0CF-33E6-F9F7-949B1A1264EB}"/>
                </a:ext>
              </a:extLst>
            </p:cNvPr>
            <p:cNvSpPr/>
            <p:nvPr/>
          </p:nvSpPr>
          <p:spPr>
            <a:xfrm>
              <a:off x="4144316" y="2569441"/>
              <a:ext cx="167523" cy="153563"/>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DB82AD0-8AF4-3A33-491F-1CA232128990}"/>
                </a:ext>
              </a:extLst>
            </p:cNvPr>
            <p:cNvSpPr/>
            <p:nvPr/>
          </p:nvSpPr>
          <p:spPr>
            <a:xfrm>
              <a:off x="4840994" y="2569442"/>
              <a:ext cx="167523" cy="153563"/>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83EF2D6-746E-19B5-69C7-089C35AEF172}"/>
                </a:ext>
              </a:extLst>
            </p:cNvPr>
            <p:cNvSpPr/>
            <p:nvPr/>
          </p:nvSpPr>
          <p:spPr>
            <a:xfrm>
              <a:off x="4450256" y="2672234"/>
              <a:ext cx="228859" cy="407500"/>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 name="Group 32">
            <a:extLst>
              <a:ext uri="{FF2B5EF4-FFF2-40B4-BE49-F238E27FC236}">
                <a16:creationId xmlns:a16="http://schemas.microsoft.com/office/drawing/2014/main" id="{F4E0D3F8-E891-A54B-BEF9-DBE418E3BA35}"/>
              </a:ext>
            </a:extLst>
          </p:cNvPr>
          <p:cNvGrpSpPr/>
          <p:nvPr/>
        </p:nvGrpSpPr>
        <p:grpSpPr>
          <a:xfrm>
            <a:off x="4199120" y="797378"/>
            <a:ext cx="3407568" cy="2333846"/>
            <a:chOff x="3680546" y="2250296"/>
            <a:chExt cx="3407568" cy="2333846"/>
          </a:xfrm>
        </p:grpSpPr>
        <p:sp>
          <p:nvSpPr>
            <p:cNvPr id="3" name="Land">
              <a:extLst>
                <a:ext uri="{FF2B5EF4-FFF2-40B4-BE49-F238E27FC236}">
                  <a16:creationId xmlns:a16="http://schemas.microsoft.com/office/drawing/2014/main" id="{928189A6-1244-76CC-8C84-95EF43E01E7B}"/>
                </a:ext>
              </a:extLst>
            </p:cNvPr>
            <p:cNvSpPr/>
            <p:nvPr/>
          </p:nvSpPr>
          <p:spPr>
            <a:xfrm>
              <a:off x="3680546" y="2876949"/>
              <a:ext cx="3407568" cy="1707193"/>
            </a:xfrm>
            <a:custGeom>
              <a:avLst/>
              <a:gdLst>
                <a:gd name="csX0" fmla="*/ 0 w 3407568"/>
                <a:gd name="csY0" fmla="*/ 0 h 1700212"/>
                <a:gd name="csX1" fmla="*/ 3407568 w 3407568"/>
                <a:gd name="csY1" fmla="*/ 0 h 1700212"/>
                <a:gd name="csX2" fmla="*/ 3407568 w 3407568"/>
                <a:gd name="csY2" fmla="*/ 1700212 h 1700212"/>
                <a:gd name="csX3" fmla="*/ 0 w 3407568"/>
                <a:gd name="csY3" fmla="*/ 1700212 h 1700212"/>
                <a:gd name="csX4" fmla="*/ 0 w 3407568"/>
                <a:gd name="csY4" fmla="*/ 0 h 1700212"/>
                <a:gd name="csX0" fmla="*/ 642174 w 3407568"/>
                <a:gd name="csY0" fmla="*/ 0 h 1707193"/>
                <a:gd name="csX1" fmla="*/ 3407568 w 3407568"/>
                <a:gd name="csY1" fmla="*/ 6981 h 1707193"/>
                <a:gd name="csX2" fmla="*/ 3407568 w 3407568"/>
                <a:gd name="csY2" fmla="*/ 1707193 h 1707193"/>
                <a:gd name="csX3" fmla="*/ 0 w 3407568"/>
                <a:gd name="csY3" fmla="*/ 1707193 h 1707193"/>
                <a:gd name="csX4" fmla="*/ 642174 w 3407568"/>
                <a:gd name="csY4" fmla="*/ 0 h 1707193"/>
                <a:gd name="csX0" fmla="*/ 642174 w 3407568"/>
                <a:gd name="csY0" fmla="*/ 0 h 1707193"/>
                <a:gd name="csX1" fmla="*/ 2562969 w 3407568"/>
                <a:gd name="csY1" fmla="*/ 1 h 1707193"/>
                <a:gd name="csX2" fmla="*/ 3407568 w 3407568"/>
                <a:gd name="csY2" fmla="*/ 1707193 h 1707193"/>
                <a:gd name="csX3" fmla="*/ 0 w 3407568"/>
                <a:gd name="csY3" fmla="*/ 1707193 h 1707193"/>
                <a:gd name="csX4" fmla="*/ 642174 w 3407568"/>
                <a:gd name="csY4" fmla="*/ 0 h 1707193"/>
                <a:gd name="csX0" fmla="*/ 642174 w 3407568"/>
                <a:gd name="csY0" fmla="*/ 0 h 1707193"/>
                <a:gd name="csX1" fmla="*/ 2562969 w 3407568"/>
                <a:gd name="csY1" fmla="*/ 6981 h 1707193"/>
                <a:gd name="csX2" fmla="*/ 3407568 w 3407568"/>
                <a:gd name="csY2" fmla="*/ 1707193 h 1707193"/>
                <a:gd name="csX3" fmla="*/ 0 w 3407568"/>
                <a:gd name="csY3" fmla="*/ 1707193 h 1707193"/>
                <a:gd name="csX4" fmla="*/ 642174 w 3407568"/>
                <a:gd name="csY4" fmla="*/ 0 h 1707193"/>
              </a:gdLst>
              <a:ahLst/>
              <a:cxnLst>
                <a:cxn ang="0">
                  <a:pos x="csX0" y="csY0"/>
                </a:cxn>
                <a:cxn ang="0">
                  <a:pos x="csX1" y="csY1"/>
                </a:cxn>
                <a:cxn ang="0">
                  <a:pos x="csX2" y="csY2"/>
                </a:cxn>
                <a:cxn ang="0">
                  <a:pos x="csX3" y="csY3"/>
                </a:cxn>
                <a:cxn ang="0">
                  <a:pos x="csX4" y="csY4"/>
                </a:cxn>
              </a:cxnLst>
              <a:rect l="l" t="t" r="r" b="b"/>
              <a:pathLst>
                <a:path w="3407568" h="1707193">
                  <a:moveTo>
                    <a:pt x="642174" y="0"/>
                  </a:moveTo>
                  <a:lnTo>
                    <a:pt x="2562969" y="6981"/>
                  </a:lnTo>
                  <a:lnTo>
                    <a:pt x="3407568" y="1707193"/>
                  </a:lnTo>
                  <a:lnTo>
                    <a:pt x="0" y="1707193"/>
                  </a:lnTo>
                  <a:lnTo>
                    <a:pt x="642174" y="0"/>
                  </a:lnTo>
                  <a:close/>
                </a:path>
              </a:pathLst>
            </a:cu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Tree">
              <a:extLst>
                <a:ext uri="{FF2B5EF4-FFF2-40B4-BE49-F238E27FC236}">
                  <a16:creationId xmlns:a16="http://schemas.microsoft.com/office/drawing/2014/main" id="{19CC2F45-E1A7-4800-69C5-AA30FCB4FE82}"/>
                </a:ext>
              </a:extLst>
            </p:cNvPr>
            <p:cNvGrpSpPr/>
            <p:nvPr/>
          </p:nvGrpSpPr>
          <p:grpSpPr>
            <a:xfrm>
              <a:off x="3779891" y="3575328"/>
              <a:ext cx="635194" cy="825948"/>
              <a:chOff x="1619395" y="1095884"/>
              <a:chExt cx="635194" cy="825948"/>
            </a:xfrm>
          </p:grpSpPr>
          <p:sp>
            <p:nvSpPr>
              <p:cNvPr id="4" name="Rectangle 3">
                <a:extLst>
                  <a:ext uri="{FF2B5EF4-FFF2-40B4-BE49-F238E27FC236}">
                    <a16:creationId xmlns:a16="http://schemas.microsoft.com/office/drawing/2014/main" id="{ED9218A2-74EE-4D9D-A234-4C99E2BEBD31}"/>
                  </a:ext>
                </a:extLst>
              </p:cNvPr>
              <p:cNvSpPr/>
              <p:nvPr/>
            </p:nvSpPr>
            <p:spPr>
              <a:xfrm>
                <a:off x="1912562" y="1354150"/>
                <a:ext cx="48861" cy="567682"/>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ED07855E-F3C8-BC60-EDA7-3FBE62FC5984}"/>
                  </a:ext>
                </a:extLst>
              </p:cNvPr>
              <p:cNvSpPr/>
              <p:nvPr/>
            </p:nvSpPr>
            <p:spPr>
              <a:xfrm>
                <a:off x="1619395" y="1095884"/>
                <a:ext cx="635194" cy="328067"/>
              </a:xfrm>
              <a:prstGeom prst="ellipse">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Tree">
              <a:extLst>
                <a:ext uri="{FF2B5EF4-FFF2-40B4-BE49-F238E27FC236}">
                  <a16:creationId xmlns:a16="http://schemas.microsoft.com/office/drawing/2014/main" id="{C297DA4B-1862-E454-235B-F561C21E48E6}"/>
                </a:ext>
              </a:extLst>
            </p:cNvPr>
            <p:cNvGrpSpPr/>
            <p:nvPr/>
          </p:nvGrpSpPr>
          <p:grpSpPr>
            <a:xfrm>
              <a:off x="6370562" y="3575328"/>
              <a:ext cx="635194" cy="825948"/>
              <a:chOff x="1619395" y="1095884"/>
              <a:chExt cx="635194" cy="825948"/>
            </a:xfrm>
          </p:grpSpPr>
          <p:sp>
            <p:nvSpPr>
              <p:cNvPr id="8" name="Rectangle 7">
                <a:extLst>
                  <a:ext uri="{FF2B5EF4-FFF2-40B4-BE49-F238E27FC236}">
                    <a16:creationId xmlns:a16="http://schemas.microsoft.com/office/drawing/2014/main" id="{917ED2FD-1DAF-F1AA-EFC8-915822F57171}"/>
                  </a:ext>
                </a:extLst>
              </p:cNvPr>
              <p:cNvSpPr/>
              <p:nvPr/>
            </p:nvSpPr>
            <p:spPr>
              <a:xfrm>
                <a:off x="1912562" y="1354150"/>
                <a:ext cx="48861" cy="567682"/>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8A65EB0-FD65-73AD-D5BD-AA1E32F5725D}"/>
                  </a:ext>
                </a:extLst>
              </p:cNvPr>
              <p:cNvSpPr/>
              <p:nvPr/>
            </p:nvSpPr>
            <p:spPr>
              <a:xfrm>
                <a:off x="1619395" y="1095884"/>
                <a:ext cx="635194" cy="328067"/>
              </a:xfrm>
              <a:prstGeom prst="ellipse">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Tree">
              <a:extLst>
                <a:ext uri="{FF2B5EF4-FFF2-40B4-BE49-F238E27FC236}">
                  <a16:creationId xmlns:a16="http://schemas.microsoft.com/office/drawing/2014/main" id="{6086054E-06EE-5013-1932-AA390D246E5F}"/>
                </a:ext>
              </a:extLst>
            </p:cNvPr>
            <p:cNvGrpSpPr/>
            <p:nvPr/>
          </p:nvGrpSpPr>
          <p:grpSpPr>
            <a:xfrm>
              <a:off x="4204343" y="2567700"/>
              <a:ext cx="456037" cy="567682"/>
              <a:chOff x="1619395" y="1095884"/>
              <a:chExt cx="635194" cy="825948"/>
            </a:xfrm>
          </p:grpSpPr>
          <p:sp>
            <p:nvSpPr>
              <p:cNvPr id="11" name="Rectangle 10">
                <a:extLst>
                  <a:ext uri="{FF2B5EF4-FFF2-40B4-BE49-F238E27FC236}">
                    <a16:creationId xmlns:a16="http://schemas.microsoft.com/office/drawing/2014/main" id="{E536E0E0-8473-1B55-A779-4AE404995A68}"/>
                  </a:ext>
                </a:extLst>
              </p:cNvPr>
              <p:cNvSpPr/>
              <p:nvPr/>
            </p:nvSpPr>
            <p:spPr>
              <a:xfrm>
                <a:off x="1912562" y="1354150"/>
                <a:ext cx="48861" cy="567682"/>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75A7A9B-3F9D-E954-181F-001DBAFCC840}"/>
                  </a:ext>
                </a:extLst>
              </p:cNvPr>
              <p:cNvSpPr/>
              <p:nvPr/>
            </p:nvSpPr>
            <p:spPr>
              <a:xfrm>
                <a:off x="1619395" y="1095884"/>
                <a:ext cx="635194" cy="328067"/>
              </a:xfrm>
              <a:prstGeom prst="ellipse">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Tree">
              <a:extLst>
                <a:ext uri="{FF2B5EF4-FFF2-40B4-BE49-F238E27FC236}">
                  <a16:creationId xmlns:a16="http://schemas.microsoft.com/office/drawing/2014/main" id="{9D68C1D1-7F2B-2239-EBA8-8740A8830161}"/>
                </a:ext>
              </a:extLst>
            </p:cNvPr>
            <p:cNvGrpSpPr/>
            <p:nvPr/>
          </p:nvGrpSpPr>
          <p:grpSpPr>
            <a:xfrm>
              <a:off x="5915949" y="2589678"/>
              <a:ext cx="456037" cy="567682"/>
              <a:chOff x="1619395" y="1095884"/>
              <a:chExt cx="635194" cy="825948"/>
            </a:xfrm>
          </p:grpSpPr>
          <p:sp>
            <p:nvSpPr>
              <p:cNvPr id="14" name="Rectangle 13">
                <a:extLst>
                  <a:ext uri="{FF2B5EF4-FFF2-40B4-BE49-F238E27FC236}">
                    <a16:creationId xmlns:a16="http://schemas.microsoft.com/office/drawing/2014/main" id="{30A6E46E-041C-1229-39FD-F5638039CE6B}"/>
                  </a:ext>
                </a:extLst>
              </p:cNvPr>
              <p:cNvSpPr/>
              <p:nvPr/>
            </p:nvSpPr>
            <p:spPr>
              <a:xfrm>
                <a:off x="1912562" y="1354150"/>
                <a:ext cx="48861" cy="567682"/>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AA80F179-1BAB-2BB0-1C48-A1EF7223623B}"/>
                  </a:ext>
                </a:extLst>
              </p:cNvPr>
              <p:cNvSpPr/>
              <p:nvPr/>
            </p:nvSpPr>
            <p:spPr>
              <a:xfrm>
                <a:off x="1619395" y="1095884"/>
                <a:ext cx="635194" cy="328067"/>
              </a:xfrm>
              <a:prstGeom prst="ellipse">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Big House">
              <a:extLst>
                <a:ext uri="{FF2B5EF4-FFF2-40B4-BE49-F238E27FC236}">
                  <a16:creationId xmlns:a16="http://schemas.microsoft.com/office/drawing/2014/main" id="{F31E64C0-5792-9AD7-50FD-9DC5897FAAF6}"/>
                </a:ext>
              </a:extLst>
            </p:cNvPr>
            <p:cNvGrpSpPr/>
            <p:nvPr/>
          </p:nvGrpSpPr>
          <p:grpSpPr>
            <a:xfrm>
              <a:off x="3826536" y="2250296"/>
              <a:ext cx="2957585" cy="2004790"/>
              <a:chOff x="3010748" y="1074945"/>
              <a:chExt cx="2957585" cy="2004790"/>
            </a:xfrm>
            <a:solidFill>
              <a:srgbClr val="000000">
                <a:alpha val="25098"/>
              </a:srgbClr>
            </a:solidFill>
          </p:grpSpPr>
          <p:sp>
            <p:nvSpPr>
              <p:cNvPr id="22" name="House">
                <a:extLst>
                  <a:ext uri="{FF2B5EF4-FFF2-40B4-BE49-F238E27FC236}">
                    <a16:creationId xmlns:a16="http://schemas.microsoft.com/office/drawing/2014/main" id="{34E7EAB8-5221-0A93-28A1-2BF3AD4F3CAD}"/>
                  </a:ext>
                </a:extLst>
              </p:cNvPr>
              <p:cNvSpPr/>
              <p:nvPr/>
            </p:nvSpPr>
            <p:spPr>
              <a:xfrm>
                <a:off x="3433264" y="1911806"/>
                <a:ext cx="2112555" cy="116792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22">
                <a:extLst>
                  <a:ext uri="{FF2B5EF4-FFF2-40B4-BE49-F238E27FC236}">
                    <a16:creationId xmlns:a16="http://schemas.microsoft.com/office/drawing/2014/main" id="{8E5CE336-5527-83F8-7968-71FD4642ABC4}"/>
                  </a:ext>
                </a:extLst>
              </p:cNvPr>
              <p:cNvSpPr/>
              <p:nvPr/>
            </p:nvSpPr>
            <p:spPr>
              <a:xfrm>
                <a:off x="3010748" y="1074945"/>
                <a:ext cx="2957585" cy="835854"/>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3B93579-5831-14F3-065F-280EF6A0255D}"/>
                  </a:ext>
                </a:extLst>
              </p:cNvPr>
              <p:cNvSpPr/>
              <p:nvPr/>
            </p:nvSpPr>
            <p:spPr>
              <a:xfrm>
                <a:off x="3768173" y="2090572"/>
                <a:ext cx="199165" cy="242154"/>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1ACA85A-BCE1-AC4E-6E65-2549E9B04FD8}"/>
                  </a:ext>
                </a:extLst>
              </p:cNvPr>
              <p:cNvSpPr/>
              <p:nvPr/>
            </p:nvSpPr>
            <p:spPr>
              <a:xfrm>
                <a:off x="4252662" y="2673645"/>
                <a:ext cx="228858" cy="405544"/>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A1DEC46-BDBA-8034-A4F1-D538D95CCD50}"/>
                  </a:ext>
                </a:extLst>
              </p:cNvPr>
              <p:cNvSpPr/>
              <p:nvPr/>
            </p:nvSpPr>
            <p:spPr>
              <a:xfrm>
                <a:off x="3768173" y="2570797"/>
                <a:ext cx="199165" cy="242154"/>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4D44CA4A-204B-A46E-0440-185BEC64E56E}"/>
                  </a:ext>
                </a:extLst>
              </p:cNvPr>
              <p:cNvSpPr/>
              <p:nvPr/>
            </p:nvSpPr>
            <p:spPr>
              <a:xfrm>
                <a:off x="5025745" y="2579176"/>
                <a:ext cx="199165" cy="242154"/>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DEAC073-93B3-DB85-257B-98ED5DE00D73}"/>
                  </a:ext>
                </a:extLst>
              </p:cNvPr>
              <p:cNvSpPr/>
              <p:nvPr/>
            </p:nvSpPr>
            <p:spPr>
              <a:xfrm>
                <a:off x="5025779" y="2087555"/>
                <a:ext cx="199165" cy="242154"/>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638F7C85-E9D4-21D4-ED7A-EC370011EB31}"/>
                  </a:ext>
                </a:extLst>
              </p:cNvPr>
              <p:cNvSpPr/>
              <p:nvPr/>
            </p:nvSpPr>
            <p:spPr>
              <a:xfrm>
                <a:off x="4318807" y="2122944"/>
                <a:ext cx="341466" cy="167446"/>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A248218-A2B1-DE8E-77E0-EC8E6475E7CF}"/>
                  </a:ext>
                </a:extLst>
              </p:cNvPr>
              <p:cNvSpPr/>
              <p:nvPr/>
            </p:nvSpPr>
            <p:spPr>
              <a:xfrm>
                <a:off x="4489540" y="2673645"/>
                <a:ext cx="228858" cy="405544"/>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1" name="TextBox 20">
            <a:extLst>
              <a:ext uri="{FF2B5EF4-FFF2-40B4-BE49-F238E27FC236}">
                <a16:creationId xmlns:a16="http://schemas.microsoft.com/office/drawing/2014/main" id="{C8FCFE18-575B-B500-EA0E-3AD345C2896D}"/>
              </a:ext>
            </a:extLst>
          </p:cNvPr>
          <p:cNvSpPr txBox="1"/>
          <p:nvPr/>
        </p:nvSpPr>
        <p:spPr>
          <a:xfrm>
            <a:off x="641555" y="2122410"/>
            <a:ext cx="2986317" cy="2215991"/>
          </a:xfrm>
          <a:prstGeom prst="rect">
            <a:avLst/>
          </a:prstGeom>
          <a:noFill/>
        </p:spPr>
        <p:txBody>
          <a:bodyPr wrap="square" rtlCol="0">
            <a:spAutoFit/>
          </a:bodyPr>
          <a:lstStyle/>
          <a:p>
            <a:pPr algn="r"/>
            <a:r>
              <a:rPr lang="en-US" sz="1300" dirty="0"/>
              <a:t>Land = Development Potential * Location</a:t>
            </a:r>
          </a:p>
          <a:p>
            <a:pPr algn="r"/>
            <a:endParaRPr lang="en-US" sz="1100" dirty="0"/>
          </a:p>
          <a:p>
            <a:pPr algn="r"/>
            <a:endParaRPr lang="en-US" sz="1100" dirty="0"/>
          </a:p>
          <a:p>
            <a:pPr algn="r"/>
            <a:endParaRPr lang="en-US" sz="1100" dirty="0"/>
          </a:p>
          <a:p>
            <a:pPr algn="r"/>
            <a:endParaRPr lang="en-US" sz="1100" dirty="0"/>
          </a:p>
          <a:p>
            <a:pPr algn="r"/>
            <a:endParaRPr lang="en-US" sz="1100" dirty="0"/>
          </a:p>
          <a:p>
            <a:pPr algn="r"/>
            <a:endParaRPr lang="en-US" sz="1100" dirty="0"/>
          </a:p>
          <a:p>
            <a:pPr algn="r"/>
            <a:endParaRPr lang="en-US" sz="1100" dirty="0"/>
          </a:p>
          <a:p>
            <a:pPr algn="r"/>
            <a:endParaRPr lang="en-US" sz="1100" dirty="0"/>
          </a:p>
          <a:p>
            <a:pPr algn="r"/>
            <a:endParaRPr lang="en-US" sz="1100" dirty="0"/>
          </a:p>
          <a:p>
            <a:pPr algn="r"/>
            <a:r>
              <a:rPr lang="en-US" sz="1300" dirty="0"/>
              <a:t>   </a:t>
            </a:r>
            <a:r>
              <a:rPr lang="en-US" sz="1300" u="sng" dirty="0"/>
              <a:t>+   Improvements</a:t>
            </a:r>
          </a:p>
          <a:p>
            <a:pPr algn="r"/>
            <a:r>
              <a:rPr lang="en-US" sz="1300" dirty="0"/>
              <a:t>Total Price</a:t>
            </a:r>
          </a:p>
        </p:txBody>
      </p:sp>
      <p:sp>
        <p:nvSpPr>
          <p:cNvPr id="34" name="Shape 0">
            <a:extLst>
              <a:ext uri="{FF2B5EF4-FFF2-40B4-BE49-F238E27FC236}">
                <a16:creationId xmlns:a16="http://schemas.microsoft.com/office/drawing/2014/main" id="{8E011E4F-A2BC-972F-2200-F082B25B5606}"/>
              </a:ext>
            </a:extLst>
          </p:cNvPr>
          <p:cNvSpPr/>
          <p:nvPr/>
        </p:nvSpPr>
        <p:spPr>
          <a:xfrm>
            <a:off x="0" y="0"/>
            <a:ext cx="9144000" cy="640080"/>
          </a:xfrm>
          <a:prstGeom prst="rect">
            <a:avLst/>
          </a:prstGeom>
          <a:solidFill>
            <a:srgbClr val="1B3A5C"/>
          </a:solidFill>
          <a:ln w="12700">
            <a:solidFill>
              <a:srgbClr val="1B3A5C"/>
            </a:solidFill>
            <a:prstDash val="solid"/>
          </a:ln>
        </p:spPr>
        <p:txBody>
          <a:bodyPr anchor="ctr"/>
          <a:lstStyle/>
          <a:p>
            <a:pPr marL="346075"/>
            <a:r>
              <a:rPr lang="en-US" sz="2800" b="1" dirty="0">
                <a:solidFill>
                  <a:srgbClr val="FFFFFF"/>
                </a:solidFill>
                <a:latin typeface="Georgia" pitchFamily="34" charset="0"/>
                <a:ea typeface="Georgia" pitchFamily="34" charset="-122"/>
                <a:cs typeface="Georgia" pitchFamily="34" charset="-120"/>
              </a:rPr>
              <a:t>The Opportunity</a:t>
            </a:r>
            <a:endParaRPr lang="en-US" sz="2800" dirty="0"/>
          </a:p>
        </p:txBody>
      </p:sp>
      <p:sp>
        <p:nvSpPr>
          <p:cNvPr id="35" name="TextBox 34">
            <a:extLst>
              <a:ext uri="{FF2B5EF4-FFF2-40B4-BE49-F238E27FC236}">
                <a16:creationId xmlns:a16="http://schemas.microsoft.com/office/drawing/2014/main" id="{FEDE2239-4F09-46EE-3F98-08E0A8BF0447}"/>
              </a:ext>
            </a:extLst>
          </p:cNvPr>
          <p:cNvSpPr txBox="1"/>
          <p:nvPr/>
        </p:nvSpPr>
        <p:spPr>
          <a:xfrm>
            <a:off x="6731967" y="3950424"/>
            <a:ext cx="1461881" cy="292388"/>
          </a:xfrm>
          <a:prstGeom prst="rect">
            <a:avLst/>
          </a:prstGeom>
          <a:noFill/>
        </p:spPr>
        <p:txBody>
          <a:bodyPr wrap="square" rtlCol="0">
            <a:spAutoFit/>
          </a:bodyPr>
          <a:lstStyle/>
          <a:p>
            <a:pPr algn="r"/>
            <a:r>
              <a:rPr lang="en-US" sz="1300" dirty="0"/>
              <a:t>Current building</a:t>
            </a:r>
          </a:p>
        </p:txBody>
      </p:sp>
      <p:sp>
        <p:nvSpPr>
          <p:cNvPr id="36" name="TextBox 35">
            <a:extLst>
              <a:ext uri="{FF2B5EF4-FFF2-40B4-BE49-F238E27FC236}">
                <a16:creationId xmlns:a16="http://schemas.microsoft.com/office/drawing/2014/main" id="{B67F36BD-378B-19FE-2C36-E33FF5306D33}"/>
              </a:ext>
            </a:extLst>
          </p:cNvPr>
          <p:cNvSpPr txBox="1"/>
          <p:nvPr/>
        </p:nvSpPr>
        <p:spPr>
          <a:xfrm>
            <a:off x="7182972" y="1829907"/>
            <a:ext cx="1461881" cy="292388"/>
          </a:xfrm>
          <a:prstGeom prst="rect">
            <a:avLst/>
          </a:prstGeom>
          <a:noFill/>
        </p:spPr>
        <p:txBody>
          <a:bodyPr wrap="square" rtlCol="0">
            <a:spAutoFit/>
          </a:bodyPr>
          <a:lstStyle/>
          <a:p>
            <a:pPr algn="r"/>
            <a:r>
              <a:rPr lang="en-US" sz="1300" dirty="0"/>
              <a:t>Potential building</a:t>
            </a:r>
          </a:p>
        </p:txBody>
      </p:sp>
      <p:sp>
        <p:nvSpPr>
          <p:cNvPr id="38" name="Text 2">
            <a:extLst>
              <a:ext uri="{FF2B5EF4-FFF2-40B4-BE49-F238E27FC236}">
                <a16:creationId xmlns:a16="http://schemas.microsoft.com/office/drawing/2014/main" id="{7E877C90-6AA4-056B-F93E-3F104A033819}"/>
              </a:ext>
            </a:extLst>
          </p:cNvPr>
          <p:cNvSpPr/>
          <p:nvPr/>
        </p:nvSpPr>
        <p:spPr>
          <a:xfrm>
            <a:off x="-228600" y="1235155"/>
            <a:ext cx="3840480" cy="411480"/>
          </a:xfrm>
          <a:prstGeom prst="rect">
            <a:avLst/>
          </a:prstGeom>
          <a:noFill/>
          <a:ln/>
        </p:spPr>
        <p:txBody>
          <a:bodyPr wrap="square" rtlCol="0" anchor="ctr"/>
          <a:lstStyle/>
          <a:p>
            <a:pPr marL="0" indent="0" algn="r">
              <a:buNone/>
            </a:pPr>
            <a:r>
              <a:rPr lang="en-US" sz="1300" b="1" kern="0" spc="200" dirty="0">
                <a:solidFill>
                  <a:srgbClr val="1A7A6B"/>
                </a:solidFill>
                <a:latin typeface="Calibri" pitchFamily="34" charset="0"/>
                <a:ea typeface="Calibri" pitchFamily="34" charset="-122"/>
                <a:cs typeface="Calibri" pitchFamily="34" charset="-120"/>
              </a:rPr>
              <a:t>Components of Sales Price</a:t>
            </a:r>
            <a:endParaRPr lang="en-US" sz="1300" dirty="0"/>
          </a:p>
        </p:txBody>
      </p:sp>
    </p:spTree>
    <p:extLst>
      <p:ext uri="{BB962C8B-B14F-4D97-AF65-F5344CB8AC3E}">
        <p14:creationId xmlns:p14="http://schemas.microsoft.com/office/powerpoint/2010/main" val="3424049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a:extLst>
            <a:ext uri="{FF2B5EF4-FFF2-40B4-BE49-F238E27FC236}">
              <a16:creationId xmlns:a16="http://schemas.microsoft.com/office/drawing/2014/main" id="{634C45A3-8D4E-F17A-11DD-AAD72C92D434}"/>
            </a:ext>
          </a:extLst>
        </p:cNvPr>
        <p:cNvGrpSpPr/>
        <p:nvPr/>
      </p:nvGrpSpPr>
      <p:grpSpPr>
        <a:xfrm>
          <a:off x="0" y="0"/>
          <a:ext cx="0" cy="0"/>
          <a:chOff x="0" y="0"/>
          <a:chExt cx="0" cy="0"/>
        </a:xfrm>
      </p:grpSpPr>
      <p:grpSp>
        <p:nvGrpSpPr>
          <p:cNvPr id="20" name="House">
            <a:extLst>
              <a:ext uri="{FF2B5EF4-FFF2-40B4-BE49-F238E27FC236}">
                <a16:creationId xmlns:a16="http://schemas.microsoft.com/office/drawing/2014/main" id="{B4505244-E614-0102-1B00-7F3B79F97B8D}"/>
              </a:ext>
            </a:extLst>
          </p:cNvPr>
          <p:cNvGrpSpPr/>
          <p:nvPr/>
        </p:nvGrpSpPr>
        <p:grpSpPr>
          <a:xfrm>
            <a:off x="4298795" y="2193844"/>
            <a:ext cx="1714187" cy="1192727"/>
            <a:chOff x="3705320" y="1888171"/>
            <a:chExt cx="1714187" cy="1192727"/>
          </a:xfrm>
        </p:grpSpPr>
        <p:sp>
          <p:nvSpPr>
            <p:cNvPr id="2" name="House">
              <a:extLst>
                <a:ext uri="{FF2B5EF4-FFF2-40B4-BE49-F238E27FC236}">
                  <a16:creationId xmlns:a16="http://schemas.microsoft.com/office/drawing/2014/main" id="{200C6A32-4FBD-9AEF-45AB-3EE563DD70C4}"/>
                </a:ext>
              </a:extLst>
            </p:cNvPr>
            <p:cNvSpPr/>
            <p:nvPr/>
          </p:nvSpPr>
          <p:spPr>
            <a:xfrm>
              <a:off x="3950206" y="2386052"/>
              <a:ext cx="1224416" cy="6948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B7188A8A-3E56-B5C1-0FD4-4D9FF599F3ED}"/>
                </a:ext>
              </a:extLst>
            </p:cNvPr>
            <p:cNvSpPr/>
            <p:nvPr/>
          </p:nvSpPr>
          <p:spPr>
            <a:xfrm>
              <a:off x="3705320" y="1888171"/>
              <a:ext cx="1714187" cy="49728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34E7CB9-BBBE-8EF9-6287-2610E010AC7D}"/>
                </a:ext>
              </a:extLst>
            </p:cNvPr>
            <p:cNvSpPr/>
            <p:nvPr/>
          </p:nvSpPr>
          <p:spPr>
            <a:xfrm>
              <a:off x="4144316" y="2569441"/>
              <a:ext cx="167523" cy="153563"/>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C3CABC8-74F2-38FE-81CF-E5ECD683378C}"/>
                </a:ext>
              </a:extLst>
            </p:cNvPr>
            <p:cNvSpPr/>
            <p:nvPr/>
          </p:nvSpPr>
          <p:spPr>
            <a:xfrm>
              <a:off x="4840994" y="2569442"/>
              <a:ext cx="167523" cy="153563"/>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7BBE47B-04BB-734F-E009-24D2D8005B21}"/>
                </a:ext>
              </a:extLst>
            </p:cNvPr>
            <p:cNvSpPr/>
            <p:nvPr/>
          </p:nvSpPr>
          <p:spPr>
            <a:xfrm>
              <a:off x="4450256" y="2672234"/>
              <a:ext cx="228859" cy="407500"/>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 name="Group 32">
            <a:extLst>
              <a:ext uri="{FF2B5EF4-FFF2-40B4-BE49-F238E27FC236}">
                <a16:creationId xmlns:a16="http://schemas.microsoft.com/office/drawing/2014/main" id="{461DC0E2-22BD-B59E-FFA1-4019E9A25BB4}"/>
              </a:ext>
            </a:extLst>
          </p:cNvPr>
          <p:cNvGrpSpPr/>
          <p:nvPr/>
        </p:nvGrpSpPr>
        <p:grpSpPr>
          <a:xfrm>
            <a:off x="150691" y="1704442"/>
            <a:ext cx="3407568" cy="2333846"/>
            <a:chOff x="3680546" y="2250296"/>
            <a:chExt cx="3407568" cy="2333846"/>
          </a:xfrm>
        </p:grpSpPr>
        <p:sp>
          <p:nvSpPr>
            <p:cNvPr id="3" name="Land" hidden="1">
              <a:extLst>
                <a:ext uri="{FF2B5EF4-FFF2-40B4-BE49-F238E27FC236}">
                  <a16:creationId xmlns:a16="http://schemas.microsoft.com/office/drawing/2014/main" id="{C2ED2C8A-717F-1305-6352-28473BE0288E}"/>
                </a:ext>
              </a:extLst>
            </p:cNvPr>
            <p:cNvSpPr/>
            <p:nvPr/>
          </p:nvSpPr>
          <p:spPr>
            <a:xfrm>
              <a:off x="3680546" y="2876949"/>
              <a:ext cx="3407568" cy="1707193"/>
            </a:xfrm>
            <a:custGeom>
              <a:avLst/>
              <a:gdLst>
                <a:gd name="csX0" fmla="*/ 0 w 3407568"/>
                <a:gd name="csY0" fmla="*/ 0 h 1700212"/>
                <a:gd name="csX1" fmla="*/ 3407568 w 3407568"/>
                <a:gd name="csY1" fmla="*/ 0 h 1700212"/>
                <a:gd name="csX2" fmla="*/ 3407568 w 3407568"/>
                <a:gd name="csY2" fmla="*/ 1700212 h 1700212"/>
                <a:gd name="csX3" fmla="*/ 0 w 3407568"/>
                <a:gd name="csY3" fmla="*/ 1700212 h 1700212"/>
                <a:gd name="csX4" fmla="*/ 0 w 3407568"/>
                <a:gd name="csY4" fmla="*/ 0 h 1700212"/>
                <a:gd name="csX0" fmla="*/ 642174 w 3407568"/>
                <a:gd name="csY0" fmla="*/ 0 h 1707193"/>
                <a:gd name="csX1" fmla="*/ 3407568 w 3407568"/>
                <a:gd name="csY1" fmla="*/ 6981 h 1707193"/>
                <a:gd name="csX2" fmla="*/ 3407568 w 3407568"/>
                <a:gd name="csY2" fmla="*/ 1707193 h 1707193"/>
                <a:gd name="csX3" fmla="*/ 0 w 3407568"/>
                <a:gd name="csY3" fmla="*/ 1707193 h 1707193"/>
                <a:gd name="csX4" fmla="*/ 642174 w 3407568"/>
                <a:gd name="csY4" fmla="*/ 0 h 1707193"/>
                <a:gd name="csX0" fmla="*/ 642174 w 3407568"/>
                <a:gd name="csY0" fmla="*/ 0 h 1707193"/>
                <a:gd name="csX1" fmla="*/ 2562969 w 3407568"/>
                <a:gd name="csY1" fmla="*/ 1 h 1707193"/>
                <a:gd name="csX2" fmla="*/ 3407568 w 3407568"/>
                <a:gd name="csY2" fmla="*/ 1707193 h 1707193"/>
                <a:gd name="csX3" fmla="*/ 0 w 3407568"/>
                <a:gd name="csY3" fmla="*/ 1707193 h 1707193"/>
                <a:gd name="csX4" fmla="*/ 642174 w 3407568"/>
                <a:gd name="csY4" fmla="*/ 0 h 1707193"/>
                <a:gd name="csX0" fmla="*/ 642174 w 3407568"/>
                <a:gd name="csY0" fmla="*/ 0 h 1707193"/>
                <a:gd name="csX1" fmla="*/ 2562969 w 3407568"/>
                <a:gd name="csY1" fmla="*/ 6981 h 1707193"/>
                <a:gd name="csX2" fmla="*/ 3407568 w 3407568"/>
                <a:gd name="csY2" fmla="*/ 1707193 h 1707193"/>
                <a:gd name="csX3" fmla="*/ 0 w 3407568"/>
                <a:gd name="csY3" fmla="*/ 1707193 h 1707193"/>
                <a:gd name="csX4" fmla="*/ 642174 w 3407568"/>
                <a:gd name="csY4" fmla="*/ 0 h 1707193"/>
              </a:gdLst>
              <a:ahLst/>
              <a:cxnLst>
                <a:cxn ang="0">
                  <a:pos x="csX0" y="csY0"/>
                </a:cxn>
                <a:cxn ang="0">
                  <a:pos x="csX1" y="csY1"/>
                </a:cxn>
                <a:cxn ang="0">
                  <a:pos x="csX2" y="csY2"/>
                </a:cxn>
                <a:cxn ang="0">
                  <a:pos x="csX3" y="csY3"/>
                </a:cxn>
                <a:cxn ang="0">
                  <a:pos x="csX4" y="csY4"/>
                </a:cxn>
              </a:cxnLst>
              <a:rect l="l" t="t" r="r" b="b"/>
              <a:pathLst>
                <a:path w="3407568" h="1707193">
                  <a:moveTo>
                    <a:pt x="642174" y="0"/>
                  </a:moveTo>
                  <a:lnTo>
                    <a:pt x="2562969" y="6981"/>
                  </a:lnTo>
                  <a:lnTo>
                    <a:pt x="3407568" y="1707193"/>
                  </a:lnTo>
                  <a:lnTo>
                    <a:pt x="0" y="1707193"/>
                  </a:lnTo>
                  <a:lnTo>
                    <a:pt x="642174" y="0"/>
                  </a:lnTo>
                  <a:close/>
                </a:path>
              </a:pathLst>
            </a:cu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Tree" hidden="1">
              <a:extLst>
                <a:ext uri="{FF2B5EF4-FFF2-40B4-BE49-F238E27FC236}">
                  <a16:creationId xmlns:a16="http://schemas.microsoft.com/office/drawing/2014/main" id="{EEF5DE08-8167-AB3D-8512-0BC592781697}"/>
                </a:ext>
              </a:extLst>
            </p:cNvPr>
            <p:cNvGrpSpPr/>
            <p:nvPr/>
          </p:nvGrpSpPr>
          <p:grpSpPr>
            <a:xfrm>
              <a:off x="3779891" y="3575328"/>
              <a:ext cx="635194" cy="825948"/>
              <a:chOff x="1619395" y="1095884"/>
              <a:chExt cx="635194" cy="825948"/>
            </a:xfrm>
          </p:grpSpPr>
          <p:sp>
            <p:nvSpPr>
              <p:cNvPr id="4" name="Rectangle 3">
                <a:extLst>
                  <a:ext uri="{FF2B5EF4-FFF2-40B4-BE49-F238E27FC236}">
                    <a16:creationId xmlns:a16="http://schemas.microsoft.com/office/drawing/2014/main" id="{A91336DC-480A-012C-938E-78883390C3A1}"/>
                  </a:ext>
                </a:extLst>
              </p:cNvPr>
              <p:cNvSpPr/>
              <p:nvPr/>
            </p:nvSpPr>
            <p:spPr>
              <a:xfrm>
                <a:off x="1912562" y="1354150"/>
                <a:ext cx="48861" cy="567682"/>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A44C8AEF-E4F8-BDB0-9D44-CE0B2FC32B39}"/>
                  </a:ext>
                </a:extLst>
              </p:cNvPr>
              <p:cNvSpPr/>
              <p:nvPr/>
            </p:nvSpPr>
            <p:spPr>
              <a:xfrm>
                <a:off x="1619395" y="1095884"/>
                <a:ext cx="635194" cy="328067"/>
              </a:xfrm>
              <a:prstGeom prst="ellipse">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Tree" hidden="1">
              <a:extLst>
                <a:ext uri="{FF2B5EF4-FFF2-40B4-BE49-F238E27FC236}">
                  <a16:creationId xmlns:a16="http://schemas.microsoft.com/office/drawing/2014/main" id="{67C46ACC-E647-7A83-960F-C53E286F225E}"/>
                </a:ext>
              </a:extLst>
            </p:cNvPr>
            <p:cNvGrpSpPr/>
            <p:nvPr/>
          </p:nvGrpSpPr>
          <p:grpSpPr>
            <a:xfrm>
              <a:off x="6370562" y="3575328"/>
              <a:ext cx="635194" cy="825948"/>
              <a:chOff x="1619395" y="1095884"/>
              <a:chExt cx="635194" cy="825948"/>
            </a:xfrm>
          </p:grpSpPr>
          <p:sp>
            <p:nvSpPr>
              <p:cNvPr id="8" name="Rectangle 7">
                <a:extLst>
                  <a:ext uri="{FF2B5EF4-FFF2-40B4-BE49-F238E27FC236}">
                    <a16:creationId xmlns:a16="http://schemas.microsoft.com/office/drawing/2014/main" id="{3EFA3A49-8AD0-E009-66FB-F2088C8EE8C2}"/>
                  </a:ext>
                </a:extLst>
              </p:cNvPr>
              <p:cNvSpPr/>
              <p:nvPr/>
            </p:nvSpPr>
            <p:spPr>
              <a:xfrm>
                <a:off x="1912562" y="1354150"/>
                <a:ext cx="48861" cy="567682"/>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F38BB8F1-624F-B429-DB53-5C722B3FD88F}"/>
                  </a:ext>
                </a:extLst>
              </p:cNvPr>
              <p:cNvSpPr/>
              <p:nvPr/>
            </p:nvSpPr>
            <p:spPr>
              <a:xfrm>
                <a:off x="1619395" y="1095884"/>
                <a:ext cx="635194" cy="328067"/>
              </a:xfrm>
              <a:prstGeom prst="ellipse">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Tree" hidden="1">
              <a:extLst>
                <a:ext uri="{FF2B5EF4-FFF2-40B4-BE49-F238E27FC236}">
                  <a16:creationId xmlns:a16="http://schemas.microsoft.com/office/drawing/2014/main" id="{2EBE7FC5-6F33-C32D-9446-C6BEF3FFD9CD}"/>
                </a:ext>
              </a:extLst>
            </p:cNvPr>
            <p:cNvGrpSpPr/>
            <p:nvPr/>
          </p:nvGrpSpPr>
          <p:grpSpPr>
            <a:xfrm>
              <a:off x="4204343" y="2567700"/>
              <a:ext cx="456037" cy="567682"/>
              <a:chOff x="1619395" y="1095884"/>
              <a:chExt cx="635194" cy="825948"/>
            </a:xfrm>
          </p:grpSpPr>
          <p:sp>
            <p:nvSpPr>
              <p:cNvPr id="11" name="Rectangle 10">
                <a:extLst>
                  <a:ext uri="{FF2B5EF4-FFF2-40B4-BE49-F238E27FC236}">
                    <a16:creationId xmlns:a16="http://schemas.microsoft.com/office/drawing/2014/main" id="{FA5D7714-3A4A-1979-A6D4-3FE8845A28BE}"/>
                  </a:ext>
                </a:extLst>
              </p:cNvPr>
              <p:cNvSpPr/>
              <p:nvPr/>
            </p:nvSpPr>
            <p:spPr>
              <a:xfrm>
                <a:off x="1912562" y="1354150"/>
                <a:ext cx="48861" cy="567682"/>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3758D9E-E963-27FC-1FB6-8DDBC1939DAC}"/>
                  </a:ext>
                </a:extLst>
              </p:cNvPr>
              <p:cNvSpPr/>
              <p:nvPr/>
            </p:nvSpPr>
            <p:spPr>
              <a:xfrm>
                <a:off x="1619395" y="1095884"/>
                <a:ext cx="635194" cy="328067"/>
              </a:xfrm>
              <a:prstGeom prst="ellipse">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Tree" hidden="1">
              <a:extLst>
                <a:ext uri="{FF2B5EF4-FFF2-40B4-BE49-F238E27FC236}">
                  <a16:creationId xmlns:a16="http://schemas.microsoft.com/office/drawing/2014/main" id="{5D67EDAE-2DA0-9788-D98E-601434C6DC5E}"/>
                </a:ext>
              </a:extLst>
            </p:cNvPr>
            <p:cNvGrpSpPr/>
            <p:nvPr/>
          </p:nvGrpSpPr>
          <p:grpSpPr>
            <a:xfrm>
              <a:off x="5915949" y="2589678"/>
              <a:ext cx="456037" cy="567682"/>
              <a:chOff x="1619395" y="1095884"/>
              <a:chExt cx="635194" cy="825948"/>
            </a:xfrm>
          </p:grpSpPr>
          <p:sp>
            <p:nvSpPr>
              <p:cNvPr id="14" name="Rectangle 13">
                <a:extLst>
                  <a:ext uri="{FF2B5EF4-FFF2-40B4-BE49-F238E27FC236}">
                    <a16:creationId xmlns:a16="http://schemas.microsoft.com/office/drawing/2014/main" id="{F628BC03-B3AF-D7F1-BC63-5F8F4E475BA6}"/>
                  </a:ext>
                </a:extLst>
              </p:cNvPr>
              <p:cNvSpPr/>
              <p:nvPr/>
            </p:nvSpPr>
            <p:spPr>
              <a:xfrm>
                <a:off x="1912562" y="1354150"/>
                <a:ext cx="48861" cy="567682"/>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C44C877-8DFA-4D3B-FDAD-E621216CF2E6}"/>
                  </a:ext>
                </a:extLst>
              </p:cNvPr>
              <p:cNvSpPr/>
              <p:nvPr/>
            </p:nvSpPr>
            <p:spPr>
              <a:xfrm>
                <a:off x="1619395" y="1095884"/>
                <a:ext cx="635194" cy="328067"/>
              </a:xfrm>
              <a:prstGeom prst="ellipse">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Big House">
              <a:extLst>
                <a:ext uri="{FF2B5EF4-FFF2-40B4-BE49-F238E27FC236}">
                  <a16:creationId xmlns:a16="http://schemas.microsoft.com/office/drawing/2014/main" id="{E7DC937D-4E6A-86E2-C936-01A22BF8F38E}"/>
                </a:ext>
              </a:extLst>
            </p:cNvPr>
            <p:cNvGrpSpPr/>
            <p:nvPr/>
          </p:nvGrpSpPr>
          <p:grpSpPr>
            <a:xfrm>
              <a:off x="3929772" y="2250296"/>
              <a:ext cx="2957585" cy="2004790"/>
              <a:chOff x="3113984" y="1074945"/>
              <a:chExt cx="2957585" cy="2004790"/>
            </a:xfrm>
            <a:solidFill>
              <a:srgbClr val="000000">
                <a:alpha val="25098"/>
              </a:srgbClr>
            </a:solidFill>
          </p:grpSpPr>
          <p:sp>
            <p:nvSpPr>
              <p:cNvPr id="22" name="House">
                <a:extLst>
                  <a:ext uri="{FF2B5EF4-FFF2-40B4-BE49-F238E27FC236}">
                    <a16:creationId xmlns:a16="http://schemas.microsoft.com/office/drawing/2014/main" id="{F1F3E415-5D0E-7AF7-4B1E-7058A0246F7A}"/>
                  </a:ext>
                </a:extLst>
              </p:cNvPr>
              <p:cNvSpPr/>
              <p:nvPr/>
            </p:nvSpPr>
            <p:spPr>
              <a:xfrm>
                <a:off x="3536500" y="1911806"/>
                <a:ext cx="2112555" cy="1167929"/>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22">
                <a:extLst>
                  <a:ext uri="{FF2B5EF4-FFF2-40B4-BE49-F238E27FC236}">
                    <a16:creationId xmlns:a16="http://schemas.microsoft.com/office/drawing/2014/main" id="{340F2A07-EBF1-D13B-CD3E-CDD979349EE2}"/>
                  </a:ext>
                </a:extLst>
              </p:cNvPr>
              <p:cNvSpPr/>
              <p:nvPr/>
            </p:nvSpPr>
            <p:spPr>
              <a:xfrm>
                <a:off x="3113984" y="1074945"/>
                <a:ext cx="2957585" cy="835854"/>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810D70C-A5F3-83A7-84C8-0E80F90C1A35}"/>
                  </a:ext>
                </a:extLst>
              </p:cNvPr>
              <p:cNvSpPr/>
              <p:nvPr/>
            </p:nvSpPr>
            <p:spPr>
              <a:xfrm>
                <a:off x="3871409" y="2090572"/>
                <a:ext cx="199165" cy="242154"/>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BBC9584-82BD-A69C-ECB8-1C8D3A414322}"/>
                  </a:ext>
                </a:extLst>
              </p:cNvPr>
              <p:cNvSpPr/>
              <p:nvPr/>
            </p:nvSpPr>
            <p:spPr>
              <a:xfrm>
                <a:off x="4355898" y="2673645"/>
                <a:ext cx="228858" cy="405544"/>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B1EC0F6-00F1-E81B-A374-F11A452697A8}"/>
                  </a:ext>
                </a:extLst>
              </p:cNvPr>
              <p:cNvSpPr/>
              <p:nvPr/>
            </p:nvSpPr>
            <p:spPr>
              <a:xfrm>
                <a:off x="3871409" y="2570797"/>
                <a:ext cx="199165" cy="242154"/>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AC907B3-FF92-0E60-DE38-1672478C23CB}"/>
                  </a:ext>
                </a:extLst>
              </p:cNvPr>
              <p:cNvSpPr/>
              <p:nvPr/>
            </p:nvSpPr>
            <p:spPr>
              <a:xfrm>
                <a:off x="5128981" y="2579176"/>
                <a:ext cx="199165" cy="242154"/>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C2DB63F-D788-FBCF-BE8A-928F5B831D61}"/>
                  </a:ext>
                </a:extLst>
              </p:cNvPr>
              <p:cNvSpPr/>
              <p:nvPr/>
            </p:nvSpPr>
            <p:spPr>
              <a:xfrm>
                <a:off x="5129015" y="2087555"/>
                <a:ext cx="199165" cy="242154"/>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0D97662-3DAB-056B-B046-66D296FFC3E1}"/>
                  </a:ext>
                </a:extLst>
              </p:cNvPr>
              <p:cNvSpPr/>
              <p:nvPr/>
            </p:nvSpPr>
            <p:spPr>
              <a:xfrm>
                <a:off x="4422043" y="2122944"/>
                <a:ext cx="341466" cy="167446"/>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CB71CF8-B449-8663-DA67-12DF49381DE0}"/>
                  </a:ext>
                </a:extLst>
              </p:cNvPr>
              <p:cNvSpPr/>
              <p:nvPr/>
            </p:nvSpPr>
            <p:spPr>
              <a:xfrm>
                <a:off x="4592776" y="2673645"/>
                <a:ext cx="228858" cy="405544"/>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4" name="Shape 0">
            <a:extLst>
              <a:ext uri="{FF2B5EF4-FFF2-40B4-BE49-F238E27FC236}">
                <a16:creationId xmlns:a16="http://schemas.microsoft.com/office/drawing/2014/main" id="{ED064E41-7B1A-8F52-E56E-CFF20589D4F3}"/>
              </a:ext>
            </a:extLst>
          </p:cNvPr>
          <p:cNvSpPr/>
          <p:nvPr/>
        </p:nvSpPr>
        <p:spPr>
          <a:xfrm>
            <a:off x="0" y="0"/>
            <a:ext cx="9144000" cy="640080"/>
          </a:xfrm>
          <a:prstGeom prst="rect">
            <a:avLst/>
          </a:prstGeom>
          <a:solidFill>
            <a:srgbClr val="1B3A5C"/>
          </a:solidFill>
          <a:ln w="12700">
            <a:solidFill>
              <a:srgbClr val="1B3A5C"/>
            </a:solidFill>
            <a:prstDash val="solid"/>
          </a:ln>
        </p:spPr>
        <p:txBody>
          <a:bodyPr anchor="ctr"/>
          <a:lstStyle/>
          <a:p>
            <a:pPr marL="346075"/>
            <a:r>
              <a:rPr lang="en-US" sz="2800" b="1" dirty="0">
                <a:solidFill>
                  <a:srgbClr val="FFFFFF"/>
                </a:solidFill>
                <a:latin typeface="Georgia" pitchFamily="34" charset="0"/>
                <a:ea typeface="Georgia" pitchFamily="34" charset="-122"/>
                <a:cs typeface="Georgia" pitchFamily="34" charset="-120"/>
              </a:rPr>
              <a:t>The Opportunity</a:t>
            </a:r>
            <a:endParaRPr lang="en-US" sz="2800" dirty="0"/>
          </a:p>
        </p:txBody>
      </p:sp>
      <p:sp>
        <p:nvSpPr>
          <p:cNvPr id="35" name="TextBox 34">
            <a:extLst>
              <a:ext uri="{FF2B5EF4-FFF2-40B4-BE49-F238E27FC236}">
                <a16:creationId xmlns:a16="http://schemas.microsoft.com/office/drawing/2014/main" id="{1B9F6C9F-E936-7229-AD85-2C418DC9C81A}"/>
              </a:ext>
            </a:extLst>
          </p:cNvPr>
          <p:cNvSpPr txBox="1"/>
          <p:nvPr/>
        </p:nvSpPr>
        <p:spPr>
          <a:xfrm>
            <a:off x="4298795" y="1308934"/>
            <a:ext cx="1714187" cy="292388"/>
          </a:xfrm>
          <a:prstGeom prst="rect">
            <a:avLst/>
          </a:prstGeom>
          <a:noFill/>
        </p:spPr>
        <p:txBody>
          <a:bodyPr wrap="square" rtlCol="0">
            <a:spAutoFit/>
          </a:bodyPr>
          <a:lstStyle/>
          <a:p>
            <a:pPr algn="r"/>
            <a:r>
              <a:rPr lang="en-US" sz="1300" dirty="0"/>
              <a:t>Current building sq ft</a:t>
            </a:r>
          </a:p>
        </p:txBody>
      </p:sp>
      <p:sp>
        <p:nvSpPr>
          <p:cNvPr id="36" name="TextBox 35">
            <a:extLst>
              <a:ext uri="{FF2B5EF4-FFF2-40B4-BE49-F238E27FC236}">
                <a16:creationId xmlns:a16="http://schemas.microsoft.com/office/drawing/2014/main" id="{35AC190F-B7E6-9097-ADE5-1E5FEA1DDF7E}"/>
              </a:ext>
            </a:extLst>
          </p:cNvPr>
          <p:cNvSpPr txBox="1"/>
          <p:nvPr/>
        </p:nvSpPr>
        <p:spPr>
          <a:xfrm>
            <a:off x="984663" y="1253352"/>
            <a:ext cx="1788092" cy="292388"/>
          </a:xfrm>
          <a:prstGeom prst="rect">
            <a:avLst/>
          </a:prstGeom>
          <a:noFill/>
        </p:spPr>
        <p:txBody>
          <a:bodyPr wrap="square" rtlCol="0">
            <a:spAutoFit/>
          </a:bodyPr>
          <a:lstStyle/>
          <a:p>
            <a:pPr algn="r"/>
            <a:r>
              <a:rPr lang="en-US" sz="1300" dirty="0"/>
              <a:t>Potential building sq ft</a:t>
            </a:r>
          </a:p>
        </p:txBody>
      </p:sp>
      <p:sp>
        <p:nvSpPr>
          <p:cNvPr id="25" name="TextBox 24">
            <a:extLst>
              <a:ext uri="{FF2B5EF4-FFF2-40B4-BE49-F238E27FC236}">
                <a16:creationId xmlns:a16="http://schemas.microsoft.com/office/drawing/2014/main" id="{3D04CDF5-2BE1-18C2-0E28-ACFB4B459ED0}"/>
              </a:ext>
            </a:extLst>
          </p:cNvPr>
          <p:cNvSpPr txBox="1"/>
          <p:nvPr/>
        </p:nvSpPr>
        <p:spPr>
          <a:xfrm>
            <a:off x="3637780" y="2781547"/>
            <a:ext cx="263214" cy="400110"/>
          </a:xfrm>
          <a:prstGeom prst="rect">
            <a:avLst/>
          </a:prstGeom>
          <a:noFill/>
        </p:spPr>
        <p:txBody>
          <a:bodyPr wrap="none" rtlCol="0">
            <a:spAutoFit/>
          </a:bodyPr>
          <a:lstStyle/>
          <a:p>
            <a:r>
              <a:rPr lang="en-US" sz="2000" dirty="0"/>
              <a:t>-</a:t>
            </a:r>
          </a:p>
        </p:txBody>
      </p:sp>
      <p:sp>
        <p:nvSpPr>
          <p:cNvPr id="37" name="TextBox 36">
            <a:extLst>
              <a:ext uri="{FF2B5EF4-FFF2-40B4-BE49-F238E27FC236}">
                <a16:creationId xmlns:a16="http://schemas.microsoft.com/office/drawing/2014/main" id="{7BBFA9E1-6797-D9C9-290C-6F8C9ED5C166}"/>
              </a:ext>
            </a:extLst>
          </p:cNvPr>
          <p:cNvSpPr txBox="1"/>
          <p:nvPr/>
        </p:nvSpPr>
        <p:spPr>
          <a:xfrm>
            <a:off x="6169653" y="2824175"/>
            <a:ext cx="300082" cy="369332"/>
          </a:xfrm>
          <a:prstGeom prst="rect">
            <a:avLst/>
          </a:prstGeom>
          <a:noFill/>
        </p:spPr>
        <p:txBody>
          <a:bodyPr wrap="none" rtlCol="0">
            <a:spAutoFit/>
          </a:bodyPr>
          <a:lstStyle/>
          <a:p>
            <a:r>
              <a:rPr lang="en-US" dirty="0"/>
              <a:t>=</a:t>
            </a:r>
          </a:p>
        </p:txBody>
      </p:sp>
      <p:sp>
        <p:nvSpPr>
          <p:cNvPr id="39" name="TextBox 38">
            <a:extLst>
              <a:ext uri="{FF2B5EF4-FFF2-40B4-BE49-F238E27FC236}">
                <a16:creationId xmlns:a16="http://schemas.microsoft.com/office/drawing/2014/main" id="{A2273550-4965-0587-00FE-7657D303A324}"/>
              </a:ext>
            </a:extLst>
          </p:cNvPr>
          <p:cNvSpPr txBox="1"/>
          <p:nvPr/>
        </p:nvSpPr>
        <p:spPr>
          <a:xfrm>
            <a:off x="6737604" y="2854952"/>
            <a:ext cx="2156360" cy="292388"/>
          </a:xfrm>
          <a:prstGeom prst="rect">
            <a:avLst/>
          </a:prstGeom>
          <a:noFill/>
        </p:spPr>
        <p:txBody>
          <a:bodyPr wrap="none" rtlCol="0">
            <a:spAutoFit/>
          </a:bodyPr>
          <a:lstStyle/>
          <a:p>
            <a:pPr algn="r"/>
            <a:r>
              <a:rPr lang="en-US" sz="1300" b="1" kern="0" dirty="0">
                <a:solidFill>
                  <a:srgbClr val="1A7A6B"/>
                </a:solidFill>
                <a:latin typeface="Calibri" pitchFamily="34" charset="0"/>
                <a:ea typeface="Calibri" pitchFamily="34" charset="-122"/>
                <a:cs typeface="Calibri" pitchFamily="34" charset="-120"/>
              </a:rPr>
              <a:t>Unused </a:t>
            </a:r>
            <a:r>
              <a:rPr lang="en-US" sz="1300" b="1" u="sng" kern="0" dirty="0">
                <a:solidFill>
                  <a:srgbClr val="1A7A6B"/>
                </a:solidFill>
                <a:latin typeface="Calibri" pitchFamily="34" charset="0"/>
                <a:ea typeface="Calibri" pitchFamily="34" charset="-122"/>
                <a:cs typeface="Calibri" pitchFamily="34" charset="-120"/>
              </a:rPr>
              <a:t>Development Rights</a:t>
            </a:r>
          </a:p>
        </p:txBody>
      </p:sp>
    </p:spTree>
    <p:extLst>
      <p:ext uri="{BB962C8B-B14F-4D97-AF65-F5344CB8AC3E}">
        <p14:creationId xmlns:p14="http://schemas.microsoft.com/office/powerpoint/2010/main" val="2501067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7A6B"/>
          </a:solidFill>
          <a:ln w="12700">
            <a:solidFill>
              <a:srgbClr val="1A7A6B"/>
            </a:solidFill>
            <a:prstDash val="solid"/>
          </a:ln>
        </p:spPr>
        <p:txBody>
          <a:bodyPr/>
          <a:lstStyle/>
          <a:p>
            <a:endParaRPr lang="en-US"/>
          </a:p>
        </p:txBody>
      </p:sp>
      <p:sp>
        <p:nvSpPr>
          <p:cNvPr id="3" name="Text 1"/>
          <p:cNvSpPr/>
          <p:nvPr/>
        </p:nvSpPr>
        <p:spPr>
          <a:xfrm>
            <a:off x="365760" y="45720"/>
            <a:ext cx="8229600" cy="54864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What is Transfer of Development Rights?</a:t>
            </a:r>
            <a:endParaRPr lang="en-US" sz="2600" dirty="0"/>
          </a:p>
        </p:txBody>
      </p:sp>
      <p:sp>
        <p:nvSpPr>
          <p:cNvPr id="4" name="Shape 2"/>
          <p:cNvSpPr/>
          <p:nvPr/>
        </p:nvSpPr>
        <p:spPr>
          <a:xfrm>
            <a:off x="365760" y="822960"/>
            <a:ext cx="2560320" cy="2286000"/>
          </a:xfrm>
          <a:prstGeom prst="rect">
            <a:avLst/>
          </a:prstGeom>
          <a:solidFill>
            <a:srgbClr val="1B3A5C"/>
          </a:solidFill>
          <a:ln w="12700">
            <a:solidFill>
              <a:srgbClr val="1B3A5C"/>
            </a:solidFill>
            <a:prstDash val="solid"/>
          </a:ln>
          <a:effectLst>
            <a:outerShdw blurRad="76200" dist="25400" dir="8100000" algn="bl" rotWithShape="0">
              <a:srgbClr val="000000">
                <a:alpha val="12000"/>
              </a:srgbClr>
            </a:outerShdw>
          </a:effectLst>
        </p:spPr>
        <p:txBody>
          <a:bodyPr/>
          <a:lstStyle/>
          <a:p>
            <a:endParaRPr lang="en-US"/>
          </a:p>
        </p:txBody>
      </p:sp>
      <p:sp>
        <p:nvSpPr>
          <p:cNvPr id="5" name="Text 3"/>
          <p:cNvSpPr/>
          <p:nvPr/>
        </p:nvSpPr>
        <p:spPr>
          <a:xfrm>
            <a:off x="365760" y="914400"/>
            <a:ext cx="2560320" cy="457200"/>
          </a:xfrm>
          <a:prstGeom prst="rect">
            <a:avLst/>
          </a:prstGeom>
          <a:noFill/>
          <a:ln/>
        </p:spPr>
        <p:txBody>
          <a:bodyPr wrap="square" rtlCol="0" anchor="ctr"/>
          <a:lstStyle/>
          <a:p>
            <a:pPr marL="0" indent="0" algn="ctr">
              <a:buNone/>
            </a:pPr>
            <a:r>
              <a:rPr lang="en-US" sz="1300" b="1" kern="0" spc="200" dirty="0">
                <a:solidFill>
                  <a:srgbClr val="FFFFFF"/>
                </a:solidFill>
                <a:latin typeface="Calibri" pitchFamily="34" charset="0"/>
                <a:ea typeface="Calibri" pitchFamily="34" charset="-122"/>
                <a:cs typeface="Calibri" pitchFamily="34" charset="-120"/>
              </a:rPr>
              <a:t>SENDING SITE</a:t>
            </a:r>
            <a:endParaRPr lang="en-US" sz="1300" dirty="0"/>
          </a:p>
        </p:txBody>
      </p:sp>
      <p:sp>
        <p:nvSpPr>
          <p:cNvPr id="6" name="Text 4"/>
          <p:cNvSpPr/>
          <p:nvPr/>
        </p:nvSpPr>
        <p:spPr>
          <a:xfrm>
            <a:off x="365760" y="1371600"/>
            <a:ext cx="2560320" cy="365760"/>
          </a:xfrm>
          <a:prstGeom prst="rect">
            <a:avLst/>
          </a:prstGeom>
          <a:noFill/>
          <a:ln/>
        </p:spPr>
        <p:txBody>
          <a:bodyPr wrap="square" rtlCol="0" anchor="ctr"/>
          <a:lstStyle/>
          <a:p>
            <a:pPr marL="0" indent="0" algn="ctr">
              <a:buNone/>
            </a:pPr>
            <a:r>
              <a:rPr lang="en-US" sz="1100" i="1" dirty="0">
                <a:solidFill>
                  <a:srgbClr val="CCE0D8"/>
                </a:solidFill>
                <a:latin typeface="Calibri" pitchFamily="34" charset="0"/>
                <a:ea typeface="Calibri" pitchFamily="34" charset="-122"/>
                <a:cs typeface="Calibri" pitchFamily="34" charset="-120"/>
              </a:rPr>
              <a:t>R-District Homeowner</a:t>
            </a:r>
            <a:endParaRPr lang="en-US" sz="1100" dirty="0"/>
          </a:p>
        </p:txBody>
      </p:sp>
      <p:sp>
        <p:nvSpPr>
          <p:cNvPr id="7" name="Shape 5"/>
          <p:cNvSpPr/>
          <p:nvPr/>
        </p:nvSpPr>
        <p:spPr>
          <a:xfrm>
            <a:off x="640080" y="1783080"/>
            <a:ext cx="2011680" cy="36576"/>
          </a:xfrm>
          <a:prstGeom prst="rect">
            <a:avLst/>
          </a:prstGeom>
          <a:solidFill>
            <a:srgbClr val="FFFFFF"/>
          </a:solidFill>
          <a:ln w="12700">
            <a:solidFill>
              <a:srgbClr val="FFFFFF"/>
            </a:solidFill>
            <a:prstDash val="solid"/>
          </a:ln>
        </p:spPr>
        <p:txBody>
          <a:bodyPr/>
          <a:lstStyle/>
          <a:p>
            <a:endParaRPr lang="en-US"/>
          </a:p>
        </p:txBody>
      </p:sp>
      <p:sp>
        <p:nvSpPr>
          <p:cNvPr id="8" name="Text 6"/>
          <p:cNvSpPr/>
          <p:nvPr/>
        </p:nvSpPr>
        <p:spPr>
          <a:xfrm>
            <a:off x="365760" y="1874520"/>
            <a:ext cx="2560320" cy="100584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Sells unused</a:t>
            </a:r>
            <a:endParaRPr lang="en-US" sz="1300" dirty="0"/>
          </a:p>
          <a:p>
            <a:pPr marL="0" indent="0" algn="ctr">
              <a:buNone/>
            </a:pPr>
            <a:r>
              <a:rPr lang="en-US" sz="1300" dirty="0">
                <a:solidFill>
                  <a:srgbClr val="FFFFFF"/>
                </a:solidFill>
                <a:latin typeface="Calibri" pitchFamily="34" charset="0"/>
                <a:ea typeface="Calibri" pitchFamily="34" charset="-122"/>
                <a:cs typeface="Calibri" pitchFamily="34" charset="-120"/>
              </a:rPr>
              <a:t>development rights</a:t>
            </a:r>
            <a:endParaRPr lang="en-US" sz="1300" dirty="0"/>
          </a:p>
        </p:txBody>
      </p:sp>
      <p:sp>
        <p:nvSpPr>
          <p:cNvPr id="9" name="Shape 7"/>
          <p:cNvSpPr/>
          <p:nvPr/>
        </p:nvSpPr>
        <p:spPr>
          <a:xfrm>
            <a:off x="3246120" y="822960"/>
            <a:ext cx="2560320" cy="2286000"/>
          </a:xfrm>
          <a:prstGeom prst="rect">
            <a:avLst/>
          </a:prstGeom>
          <a:solidFill>
            <a:srgbClr val="1A7A6B"/>
          </a:solidFill>
          <a:ln w="12700">
            <a:solidFill>
              <a:srgbClr val="1A7A6B"/>
            </a:solidFill>
            <a:prstDash val="solid"/>
          </a:ln>
          <a:effectLst>
            <a:outerShdw blurRad="76200" dist="25400" dir="8100000" algn="bl" rotWithShape="0">
              <a:srgbClr val="000000">
                <a:alpha val="12000"/>
              </a:srgbClr>
            </a:outerShdw>
          </a:effectLst>
        </p:spPr>
        <p:txBody>
          <a:bodyPr/>
          <a:lstStyle/>
          <a:p>
            <a:endParaRPr lang="en-US"/>
          </a:p>
        </p:txBody>
      </p:sp>
      <p:sp>
        <p:nvSpPr>
          <p:cNvPr id="10" name="Text 8"/>
          <p:cNvSpPr/>
          <p:nvPr/>
        </p:nvSpPr>
        <p:spPr>
          <a:xfrm>
            <a:off x="3246120" y="914400"/>
            <a:ext cx="2560320" cy="457200"/>
          </a:xfrm>
          <a:prstGeom prst="rect">
            <a:avLst/>
          </a:prstGeom>
          <a:noFill/>
          <a:ln/>
        </p:spPr>
        <p:txBody>
          <a:bodyPr wrap="square" rtlCol="0" anchor="ctr"/>
          <a:lstStyle/>
          <a:p>
            <a:pPr marL="0" indent="0" algn="ctr">
              <a:buNone/>
            </a:pPr>
            <a:r>
              <a:rPr lang="en-US" sz="1300" b="1" kern="0" spc="200" dirty="0">
                <a:solidFill>
                  <a:srgbClr val="FFFFFF"/>
                </a:solidFill>
                <a:latin typeface="Calibri" pitchFamily="34" charset="0"/>
                <a:ea typeface="Calibri" pitchFamily="34" charset="-122"/>
                <a:cs typeface="Calibri" pitchFamily="34" charset="-120"/>
              </a:rPr>
              <a:t>TDR BANK</a:t>
            </a:r>
            <a:endParaRPr lang="en-US" sz="1300" dirty="0"/>
          </a:p>
        </p:txBody>
      </p:sp>
      <p:sp>
        <p:nvSpPr>
          <p:cNvPr id="11" name="Text 9"/>
          <p:cNvSpPr/>
          <p:nvPr/>
        </p:nvSpPr>
        <p:spPr>
          <a:xfrm>
            <a:off x="3246120" y="1371600"/>
            <a:ext cx="2560320" cy="365760"/>
          </a:xfrm>
          <a:prstGeom prst="rect">
            <a:avLst/>
          </a:prstGeom>
          <a:noFill/>
          <a:ln/>
        </p:spPr>
        <p:txBody>
          <a:bodyPr wrap="square" rtlCol="0" anchor="ctr"/>
          <a:lstStyle/>
          <a:p>
            <a:pPr marL="0" indent="0" algn="ctr">
              <a:buNone/>
            </a:pPr>
            <a:r>
              <a:rPr lang="en-US" sz="1100" i="1" dirty="0">
                <a:solidFill>
                  <a:srgbClr val="CCE0D8"/>
                </a:solidFill>
                <a:latin typeface="Calibri" pitchFamily="34" charset="0"/>
                <a:ea typeface="Calibri" pitchFamily="34" charset="-122"/>
                <a:cs typeface="Calibri" pitchFamily="34" charset="-120"/>
              </a:rPr>
              <a:t>Market Exchange</a:t>
            </a:r>
            <a:endParaRPr lang="en-US" sz="1100" dirty="0"/>
          </a:p>
        </p:txBody>
      </p:sp>
      <p:sp>
        <p:nvSpPr>
          <p:cNvPr id="12" name="Shape 10"/>
          <p:cNvSpPr/>
          <p:nvPr/>
        </p:nvSpPr>
        <p:spPr>
          <a:xfrm>
            <a:off x="3520440" y="1783080"/>
            <a:ext cx="2011680" cy="36576"/>
          </a:xfrm>
          <a:prstGeom prst="rect">
            <a:avLst/>
          </a:prstGeom>
          <a:solidFill>
            <a:srgbClr val="FFFFFF"/>
          </a:solidFill>
          <a:ln w="12700">
            <a:solidFill>
              <a:srgbClr val="FFFFFF"/>
            </a:solidFill>
            <a:prstDash val="solid"/>
          </a:ln>
        </p:spPr>
        <p:txBody>
          <a:bodyPr/>
          <a:lstStyle/>
          <a:p>
            <a:endParaRPr lang="en-US"/>
          </a:p>
        </p:txBody>
      </p:sp>
      <p:sp>
        <p:nvSpPr>
          <p:cNvPr id="13" name="Text 11"/>
          <p:cNvSpPr/>
          <p:nvPr/>
        </p:nvSpPr>
        <p:spPr>
          <a:xfrm>
            <a:off x="3246120" y="1874520"/>
            <a:ext cx="2560320" cy="100584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Liquidity + price</a:t>
            </a:r>
            <a:endParaRPr lang="en-US" sz="1300" dirty="0"/>
          </a:p>
          <a:p>
            <a:pPr marL="0" indent="0" algn="ctr">
              <a:buNone/>
            </a:pPr>
            <a:r>
              <a:rPr lang="en-US" sz="1300" dirty="0">
                <a:solidFill>
                  <a:srgbClr val="FFFFFF"/>
                </a:solidFill>
                <a:latin typeface="Calibri" pitchFamily="34" charset="0"/>
                <a:ea typeface="Calibri" pitchFamily="34" charset="-122"/>
                <a:cs typeface="Calibri" pitchFamily="34" charset="-120"/>
              </a:rPr>
              <a:t>discovery</a:t>
            </a:r>
            <a:endParaRPr lang="en-US" sz="1300" dirty="0"/>
          </a:p>
        </p:txBody>
      </p:sp>
      <p:sp>
        <p:nvSpPr>
          <p:cNvPr id="14" name="Shape 12"/>
          <p:cNvSpPr/>
          <p:nvPr/>
        </p:nvSpPr>
        <p:spPr>
          <a:xfrm>
            <a:off x="6126480" y="822960"/>
            <a:ext cx="2560320" cy="2286000"/>
          </a:xfrm>
          <a:prstGeom prst="rect">
            <a:avLst/>
          </a:prstGeom>
          <a:solidFill>
            <a:srgbClr val="C8962E"/>
          </a:solidFill>
          <a:ln w="12700">
            <a:solidFill>
              <a:srgbClr val="C8962E"/>
            </a:solidFill>
            <a:prstDash val="solid"/>
          </a:ln>
          <a:effectLst>
            <a:outerShdw blurRad="76200" dist="25400" dir="8100000" algn="bl" rotWithShape="0">
              <a:srgbClr val="000000">
                <a:alpha val="12000"/>
              </a:srgbClr>
            </a:outerShdw>
          </a:effectLst>
        </p:spPr>
        <p:txBody>
          <a:bodyPr/>
          <a:lstStyle/>
          <a:p>
            <a:endParaRPr lang="en-US"/>
          </a:p>
        </p:txBody>
      </p:sp>
      <p:sp>
        <p:nvSpPr>
          <p:cNvPr id="15" name="Text 13"/>
          <p:cNvSpPr/>
          <p:nvPr/>
        </p:nvSpPr>
        <p:spPr>
          <a:xfrm>
            <a:off x="6126480" y="914400"/>
            <a:ext cx="2560320" cy="457200"/>
          </a:xfrm>
          <a:prstGeom prst="rect">
            <a:avLst/>
          </a:prstGeom>
          <a:noFill/>
          <a:ln/>
        </p:spPr>
        <p:txBody>
          <a:bodyPr wrap="square" rtlCol="0" anchor="ctr"/>
          <a:lstStyle/>
          <a:p>
            <a:pPr marL="0" indent="0" algn="ctr">
              <a:buNone/>
            </a:pPr>
            <a:r>
              <a:rPr lang="en-US" sz="1300" b="1" kern="0" spc="200" dirty="0">
                <a:solidFill>
                  <a:srgbClr val="FFFFFF"/>
                </a:solidFill>
                <a:latin typeface="Calibri" pitchFamily="34" charset="0"/>
                <a:ea typeface="Calibri" pitchFamily="34" charset="-122"/>
                <a:cs typeface="Calibri" pitchFamily="34" charset="-120"/>
              </a:rPr>
              <a:t>RECEIVING SITE</a:t>
            </a:r>
            <a:endParaRPr lang="en-US" sz="1300" dirty="0"/>
          </a:p>
        </p:txBody>
      </p:sp>
      <p:sp>
        <p:nvSpPr>
          <p:cNvPr id="16" name="Text 14"/>
          <p:cNvSpPr/>
          <p:nvPr/>
        </p:nvSpPr>
        <p:spPr>
          <a:xfrm>
            <a:off x="6126480" y="1371600"/>
            <a:ext cx="2560320" cy="365760"/>
          </a:xfrm>
          <a:prstGeom prst="rect">
            <a:avLst/>
          </a:prstGeom>
          <a:noFill/>
          <a:ln/>
        </p:spPr>
        <p:txBody>
          <a:bodyPr wrap="square" rtlCol="0" anchor="ctr"/>
          <a:lstStyle/>
          <a:p>
            <a:pPr marL="0" indent="0" algn="ctr">
              <a:buNone/>
            </a:pPr>
            <a:r>
              <a:rPr lang="en-US" sz="1100" i="1" dirty="0">
                <a:solidFill>
                  <a:srgbClr val="CCE0D8"/>
                </a:solidFill>
                <a:latin typeface="Calibri" pitchFamily="34" charset="0"/>
                <a:ea typeface="Calibri" pitchFamily="34" charset="-122"/>
                <a:cs typeface="Calibri" pitchFamily="34" charset="-120"/>
              </a:rPr>
              <a:t>Commercial Corridor Developer</a:t>
            </a:r>
            <a:endParaRPr lang="en-US" sz="1100" dirty="0"/>
          </a:p>
        </p:txBody>
      </p:sp>
      <p:sp>
        <p:nvSpPr>
          <p:cNvPr id="17" name="Shape 15"/>
          <p:cNvSpPr/>
          <p:nvPr/>
        </p:nvSpPr>
        <p:spPr>
          <a:xfrm>
            <a:off x="6400800" y="1783080"/>
            <a:ext cx="2011680" cy="36576"/>
          </a:xfrm>
          <a:prstGeom prst="rect">
            <a:avLst/>
          </a:prstGeom>
          <a:solidFill>
            <a:srgbClr val="FFFFFF"/>
          </a:solidFill>
          <a:ln w="12700">
            <a:solidFill>
              <a:srgbClr val="FFFFFF"/>
            </a:solidFill>
            <a:prstDash val="solid"/>
          </a:ln>
        </p:spPr>
        <p:txBody>
          <a:bodyPr/>
          <a:lstStyle/>
          <a:p>
            <a:endParaRPr lang="en-US"/>
          </a:p>
        </p:txBody>
      </p:sp>
      <p:sp>
        <p:nvSpPr>
          <p:cNvPr id="18" name="Text 16"/>
          <p:cNvSpPr/>
          <p:nvPr/>
        </p:nvSpPr>
        <p:spPr>
          <a:xfrm>
            <a:off x="6126480" y="1874520"/>
            <a:ext cx="2560320" cy="100584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Buys credits for</a:t>
            </a:r>
            <a:endParaRPr lang="en-US" sz="1300" dirty="0"/>
          </a:p>
          <a:p>
            <a:pPr marL="0" indent="0" algn="ctr">
              <a:buNone/>
            </a:pPr>
            <a:r>
              <a:rPr lang="en-US" sz="1300" dirty="0">
                <a:solidFill>
                  <a:srgbClr val="FFFFFF"/>
                </a:solidFill>
                <a:latin typeface="Calibri" pitchFamily="34" charset="0"/>
                <a:ea typeface="Calibri" pitchFamily="34" charset="-122"/>
                <a:cs typeface="Calibri" pitchFamily="34" charset="-120"/>
              </a:rPr>
              <a:t>by-right bonus density</a:t>
            </a:r>
            <a:endParaRPr lang="en-US" sz="1300" dirty="0"/>
          </a:p>
        </p:txBody>
      </p:sp>
      <p:sp>
        <p:nvSpPr>
          <p:cNvPr id="20" name="Text 18"/>
          <p:cNvSpPr/>
          <p:nvPr/>
        </p:nvSpPr>
        <p:spPr>
          <a:xfrm>
            <a:off x="2926080" y="1737360"/>
            <a:ext cx="365760" cy="640080"/>
          </a:xfrm>
          <a:prstGeom prst="rect">
            <a:avLst/>
          </a:prstGeom>
          <a:noFill/>
          <a:ln/>
        </p:spPr>
        <p:txBody>
          <a:bodyPr wrap="square" rtlCol="0" anchor="ctr"/>
          <a:lstStyle/>
          <a:p>
            <a:pPr marL="0" indent="0" algn="ctr">
              <a:buNone/>
            </a:pPr>
            <a:endParaRPr lang="en-US" sz="2800" dirty="0"/>
          </a:p>
        </p:txBody>
      </p:sp>
      <p:sp>
        <p:nvSpPr>
          <p:cNvPr id="22" name="Text 20"/>
          <p:cNvSpPr/>
          <p:nvPr/>
        </p:nvSpPr>
        <p:spPr>
          <a:xfrm>
            <a:off x="365760" y="3246120"/>
            <a:ext cx="8412480" cy="548640"/>
          </a:xfrm>
          <a:prstGeom prst="rect">
            <a:avLst/>
          </a:prstGeom>
          <a:noFill/>
          <a:ln/>
        </p:spPr>
        <p:txBody>
          <a:bodyPr wrap="square" rtlCol="0" anchor="ctr"/>
          <a:lstStyle/>
          <a:p>
            <a:pPr marL="0" indent="0" algn="ctr">
              <a:buNone/>
            </a:pPr>
            <a:r>
              <a:rPr lang="en-US" sz="1300" b="1" dirty="0">
                <a:solidFill>
                  <a:srgbClr val="1B3A5C"/>
                </a:solidFill>
                <a:latin typeface="Calibri" pitchFamily="34" charset="0"/>
                <a:ea typeface="Calibri" pitchFamily="34" charset="-122"/>
                <a:cs typeface="Calibri" pitchFamily="34" charset="-120"/>
              </a:rPr>
              <a:t>Virginia Code §15.2-2316.2 authorizes TDR for Arlington County. Rights purchased = bonus density approved by-right, without site plan.</a:t>
            </a:r>
            <a:endParaRPr lang="en-US" sz="1300" dirty="0"/>
          </a:p>
        </p:txBody>
      </p:sp>
      <p:sp>
        <p:nvSpPr>
          <p:cNvPr id="23" name="Text 21"/>
          <p:cNvSpPr/>
          <p:nvPr/>
        </p:nvSpPr>
        <p:spPr>
          <a:xfrm>
            <a:off x="365760" y="3840480"/>
            <a:ext cx="8412480" cy="822960"/>
          </a:xfrm>
          <a:prstGeom prst="rect">
            <a:avLst/>
          </a:prstGeom>
          <a:noFill/>
          <a:ln/>
        </p:spPr>
        <p:txBody>
          <a:bodyPr wrap="square" rtlCol="0" anchor="ctr"/>
          <a:lstStyle/>
          <a:p>
            <a:pPr marL="0" indent="0" algn="ctr">
              <a:lnSpc>
                <a:spcPct val="150000"/>
              </a:lnSpc>
              <a:buNone/>
            </a:pPr>
            <a:r>
              <a:rPr lang="en-US" sz="1300" dirty="0">
                <a:solidFill>
                  <a:srgbClr val="2D2D2D"/>
                </a:solidFill>
                <a:latin typeface="Calibri" pitchFamily="34" charset="0"/>
                <a:ea typeface="Calibri" pitchFamily="34" charset="-122"/>
                <a:cs typeface="Calibri" pitchFamily="34" charset="-120"/>
              </a:rPr>
              <a:t>Land value is reduced after transaction </a:t>
            </a:r>
            <a:r>
              <a:rPr lang="en-US" sz="1300" b="1" dirty="0">
                <a:solidFill>
                  <a:srgbClr val="1A7A6B"/>
                </a:solidFill>
                <a:latin typeface="Calibri" pitchFamily="34" charset="0"/>
                <a:ea typeface="Calibri" pitchFamily="34" charset="-122"/>
                <a:cs typeface="Calibri" pitchFamily="34" charset="-120"/>
              </a:rPr>
              <a:t>→ preserving affordability long-term. </a:t>
            </a:r>
          </a:p>
          <a:p>
            <a:pPr marL="0" indent="0" algn="ctr">
              <a:lnSpc>
                <a:spcPct val="150000"/>
              </a:lnSpc>
              <a:buNone/>
            </a:pPr>
            <a:r>
              <a:rPr lang="en-US" sz="1300" dirty="0">
                <a:solidFill>
                  <a:srgbClr val="2D2D2D"/>
                </a:solidFill>
                <a:latin typeface="Calibri" pitchFamily="34" charset="0"/>
                <a:ea typeface="Calibri" pitchFamily="34" charset="-122"/>
                <a:cs typeface="Calibri" pitchFamily="34" charset="-120"/>
              </a:rPr>
              <a:t>Development in receiving zones is concentrated near transit </a:t>
            </a:r>
            <a:r>
              <a:rPr lang="en-US" sz="1300" b="1" dirty="0">
                <a:solidFill>
                  <a:srgbClr val="1A7A6B"/>
                </a:solidFill>
                <a:latin typeface="Calibri" pitchFamily="34" charset="0"/>
                <a:ea typeface="Calibri" pitchFamily="34" charset="-122"/>
                <a:cs typeface="Calibri" pitchFamily="34" charset="-120"/>
              </a:rPr>
              <a:t>→ smart growth.</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5BEA6CE-7D11-29C1-867E-075009A206C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4857C53-C950-54E5-1CB4-1477607A911B}"/>
              </a:ext>
            </a:extLst>
          </p:cNvPr>
          <p:cNvSpPr/>
          <p:nvPr/>
        </p:nvSpPr>
        <p:spPr>
          <a:xfrm>
            <a:off x="0" y="0"/>
            <a:ext cx="9144000" cy="640080"/>
          </a:xfrm>
          <a:prstGeom prst="rect">
            <a:avLst/>
          </a:prstGeom>
          <a:solidFill>
            <a:srgbClr val="1A7A6B"/>
          </a:solidFill>
          <a:ln w="12700">
            <a:solidFill>
              <a:srgbClr val="1A7A6B"/>
            </a:solidFill>
            <a:prstDash val="solid"/>
          </a:ln>
        </p:spPr>
        <p:txBody>
          <a:bodyPr/>
          <a:lstStyle/>
          <a:p>
            <a:endParaRPr lang="en-US"/>
          </a:p>
        </p:txBody>
      </p:sp>
      <p:sp>
        <p:nvSpPr>
          <p:cNvPr id="3" name="Text 1">
            <a:extLst>
              <a:ext uri="{FF2B5EF4-FFF2-40B4-BE49-F238E27FC236}">
                <a16:creationId xmlns:a16="http://schemas.microsoft.com/office/drawing/2014/main" id="{E41EE180-7CBA-162F-0CC9-F81EF46DF4DA}"/>
              </a:ext>
            </a:extLst>
          </p:cNvPr>
          <p:cNvSpPr/>
          <p:nvPr/>
        </p:nvSpPr>
        <p:spPr>
          <a:xfrm>
            <a:off x="365760" y="45720"/>
            <a:ext cx="8229600" cy="54864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What is </a:t>
            </a:r>
            <a:r>
              <a:rPr lang="en-US" sz="2600" b="1">
                <a:solidFill>
                  <a:srgbClr val="FFFFFF"/>
                </a:solidFill>
                <a:latin typeface="Georgia" pitchFamily="34" charset="0"/>
                <a:ea typeface="Georgia" pitchFamily="34" charset="-122"/>
                <a:cs typeface="Georgia" pitchFamily="34" charset="-120"/>
              </a:rPr>
              <a:t>this project?</a:t>
            </a:r>
            <a:endParaRPr lang="en-US" sz="2600" dirty="0"/>
          </a:p>
        </p:txBody>
      </p:sp>
      <p:sp>
        <p:nvSpPr>
          <p:cNvPr id="4" name="Shape 2">
            <a:extLst>
              <a:ext uri="{FF2B5EF4-FFF2-40B4-BE49-F238E27FC236}">
                <a16:creationId xmlns:a16="http://schemas.microsoft.com/office/drawing/2014/main" id="{36284C0E-C370-CAA6-8F78-D85DEE9985DE}"/>
              </a:ext>
            </a:extLst>
          </p:cNvPr>
          <p:cNvSpPr/>
          <p:nvPr/>
        </p:nvSpPr>
        <p:spPr>
          <a:xfrm>
            <a:off x="365760" y="1112520"/>
            <a:ext cx="2560320" cy="2286000"/>
          </a:xfrm>
          <a:prstGeom prst="rect">
            <a:avLst/>
          </a:prstGeom>
          <a:solidFill>
            <a:srgbClr val="1B3A5C"/>
          </a:solidFill>
          <a:ln w="12700">
            <a:solidFill>
              <a:srgbClr val="1B3A5C"/>
            </a:solidFill>
            <a:prstDash val="solid"/>
          </a:ln>
          <a:effectLst>
            <a:outerShdw blurRad="76200" dist="25400" dir="8100000" algn="bl" rotWithShape="0">
              <a:srgbClr val="000000">
                <a:alpha val="12000"/>
              </a:srgbClr>
            </a:outerShdw>
          </a:effectLst>
        </p:spPr>
        <p:txBody>
          <a:bodyPr/>
          <a:lstStyle/>
          <a:p>
            <a:endParaRPr lang="en-US"/>
          </a:p>
        </p:txBody>
      </p:sp>
      <p:sp>
        <p:nvSpPr>
          <p:cNvPr id="5" name="Text 3">
            <a:extLst>
              <a:ext uri="{FF2B5EF4-FFF2-40B4-BE49-F238E27FC236}">
                <a16:creationId xmlns:a16="http://schemas.microsoft.com/office/drawing/2014/main" id="{EEFE34BB-8A66-A19A-CE49-72248D147E83}"/>
              </a:ext>
            </a:extLst>
          </p:cNvPr>
          <p:cNvSpPr/>
          <p:nvPr/>
        </p:nvSpPr>
        <p:spPr>
          <a:xfrm>
            <a:off x="365760" y="1203960"/>
            <a:ext cx="2560320" cy="457200"/>
          </a:xfrm>
          <a:prstGeom prst="rect">
            <a:avLst/>
          </a:prstGeom>
          <a:noFill/>
          <a:ln/>
        </p:spPr>
        <p:txBody>
          <a:bodyPr wrap="square" rtlCol="0" anchor="ctr"/>
          <a:lstStyle/>
          <a:p>
            <a:pPr marL="0" indent="0" algn="ctr">
              <a:buNone/>
            </a:pPr>
            <a:r>
              <a:rPr lang="en-US" sz="1300" b="1" kern="0" spc="200" dirty="0">
                <a:solidFill>
                  <a:srgbClr val="FFFFFF"/>
                </a:solidFill>
                <a:latin typeface="Calibri" pitchFamily="34" charset="0"/>
                <a:ea typeface="Calibri" pitchFamily="34" charset="-122"/>
                <a:cs typeface="Calibri" pitchFamily="34" charset="-120"/>
              </a:rPr>
              <a:t>Potential Sellers</a:t>
            </a:r>
            <a:endParaRPr lang="en-US" sz="1300" dirty="0"/>
          </a:p>
        </p:txBody>
      </p:sp>
      <p:sp>
        <p:nvSpPr>
          <p:cNvPr id="6" name="Text 4">
            <a:extLst>
              <a:ext uri="{FF2B5EF4-FFF2-40B4-BE49-F238E27FC236}">
                <a16:creationId xmlns:a16="http://schemas.microsoft.com/office/drawing/2014/main" id="{58AA0253-97CE-F2F4-86DE-6A4785A0A31B}"/>
              </a:ext>
            </a:extLst>
          </p:cNvPr>
          <p:cNvSpPr/>
          <p:nvPr/>
        </p:nvSpPr>
        <p:spPr>
          <a:xfrm>
            <a:off x="365760" y="1661160"/>
            <a:ext cx="2560320" cy="365760"/>
          </a:xfrm>
          <a:prstGeom prst="rect">
            <a:avLst/>
          </a:prstGeom>
          <a:noFill/>
          <a:ln/>
        </p:spPr>
        <p:txBody>
          <a:bodyPr wrap="square" rtlCol="0" anchor="ctr"/>
          <a:lstStyle/>
          <a:p>
            <a:pPr marL="0" indent="0" algn="ctr">
              <a:buNone/>
            </a:pPr>
            <a:r>
              <a:rPr lang="en-US" sz="1100" i="1" dirty="0">
                <a:solidFill>
                  <a:srgbClr val="CCE0D8"/>
                </a:solidFill>
                <a:latin typeface="Calibri" pitchFamily="34" charset="0"/>
                <a:ea typeface="Calibri" pitchFamily="34" charset="-122"/>
                <a:cs typeface="Calibri" pitchFamily="34" charset="-120"/>
              </a:rPr>
              <a:t>R-District Homeowner</a:t>
            </a:r>
            <a:endParaRPr lang="en-US" sz="1100" dirty="0"/>
          </a:p>
        </p:txBody>
      </p:sp>
      <p:sp>
        <p:nvSpPr>
          <p:cNvPr id="7" name="Shape 5">
            <a:extLst>
              <a:ext uri="{FF2B5EF4-FFF2-40B4-BE49-F238E27FC236}">
                <a16:creationId xmlns:a16="http://schemas.microsoft.com/office/drawing/2014/main" id="{F5DFC1DB-BD60-335C-B71B-7377E644A0DD}"/>
              </a:ext>
            </a:extLst>
          </p:cNvPr>
          <p:cNvSpPr/>
          <p:nvPr/>
        </p:nvSpPr>
        <p:spPr>
          <a:xfrm>
            <a:off x="640080" y="2072640"/>
            <a:ext cx="2011680" cy="36576"/>
          </a:xfrm>
          <a:prstGeom prst="rect">
            <a:avLst/>
          </a:prstGeom>
          <a:solidFill>
            <a:srgbClr val="FFFFFF"/>
          </a:solidFill>
          <a:ln w="12700">
            <a:solidFill>
              <a:srgbClr val="FFFFFF"/>
            </a:solidFill>
            <a:prstDash val="solid"/>
          </a:ln>
        </p:spPr>
        <p:txBody>
          <a:bodyPr/>
          <a:lstStyle/>
          <a:p>
            <a:endParaRPr lang="en-US"/>
          </a:p>
        </p:txBody>
      </p:sp>
      <p:sp>
        <p:nvSpPr>
          <p:cNvPr id="8" name="Text 6">
            <a:extLst>
              <a:ext uri="{FF2B5EF4-FFF2-40B4-BE49-F238E27FC236}">
                <a16:creationId xmlns:a16="http://schemas.microsoft.com/office/drawing/2014/main" id="{623706B7-ACEF-1B5B-F3C0-E267CA34AF5E}"/>
              </a:ext>
            </a:extLst>
          </p:cNvPr>
          <p:cNvSpPr/>
          <p:nvPr/>
        </p:nvSpPr>
        <p:spPr>
          <a:xfrm>
            <a:off x="365760" y="2164080"/>
            <a:ext cx="2560320" cy="100584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Are there enough?</a:t>
            </a:r>
            <a:endParaRPr lang="en-US" sz="1300" dirty="0"/>
          </a:p>
        </p:txBody>
      </p:sp>
      <p:sp>
        <p:nvSpPr>
          <p:cNvPr id="9" name="Shape 7">
            <a:extLst>
              <a:ext uri="{FF2B5EF4-FFF2-40B4-BE49-F238E27FC236}">
                <a16:creationId xmlns:a16="http://schemas.microsoft.com/office/drawing/2014/main" id="{1691E91B-8DB4-62FB-E51C-0A8D9F5255D3}"/>
              </a:ext>
            </a:extLst>
          </p:cNvPr>
          <p:cNvSpPr/>
          <p:nvPr/>
        </p:nvSpPr>
        <p:spPr>
          <a:xfrm>
            <a:off x="3246120" y="1112520"/>
            <a:ext cx="2560320" cy="2286000"/>
          </a:xfrm>
          <a:prstGeom prst="rect">
            <a:avLst/>
          </a:prstGeom>
          <a:solidFill>
            <a:srgbClr val="1A7A6B"/>
          </a:solidFill>
          <a:ln w="12700">
            <a:solidFill>
              <a:srgbClr val="1A7A6B"/>
            </a:solidFill>
            <a:prstDash val="solid"/>
          </a:ln>
          <a:effectLst>
            <a:outerShdw blurRad="76200" dist="25400" dir="8100000" algn="bl" rotWithShape="0">
              <a:srgbClr val="000000">
                <a:alpha val="12000"/>
              </a:srgbClr>
            </a:outerShdw>
          </a:effectLst>
        </p:spPr>
        <p:txBody>
          <a:bodyPr/>
          <a:lstStyle/>
          <a:p>
            <a:endParaRPr lang="en-US"/>
          </a:p>
        </p:txBody>
      </p:sp>
      <p:sp>
        <p:nvSpPr>
          <p:cNvPr id="10" name="Text 8">
            <a:extLst>
              <a:ext uri="{FF2B5EF4-FFF2-40B4-BE49-F238E27FC236}">
                <a16:creationId xmlns:a16="http://schemas.microsoft.com/office/drawing/2014/main" id="{E4395C95-4E49-D751-82AA-DD2A5D088EF0}"/>
              </a:ext>
            </a:extLst>
          </p:cNvPr>
          <p:cNvSpPr/>
          <p:nvPr/>
        </p:nvSpPr>
        <p:spPr>
          <a:xfrm>
            <a:off x="3246120" y="1203960"/>
            <a:ext cx="2560320" cy="457200"/>
          </a:xfrm>
          <a:prstGeom prst="rect">
            <a:avLst/>
          </a:prstGeom>
          <a:noFill/>
          <a:ln/>
        </p:spPr>
        <p:txBody>
          <a:bodyPr wrap="square" rtlCol="0" anchor="ctr"/>
          <a:lstStyle/>
          <a:p>
            <a:pPr marL="0" indent="0" algn="ctr">
              <a:buNone/>
            </a:pPr>
            <a:r>
              <a:rPr lang="en-US" sz="1300" b="1" kern="0" spc="200" dirty="0">
                <a:solidFill>
                  <a:srgbClr val="FFFFFF"/>
                </a:solidFill>
                <a:latin typeface="Calibri" pitchFamily="34" charset="0"/>
                <a:ea typeface="Calibri" pitchFamily="34" charset="-122"/>
                <a:cs typeface="Calibri" pitchFamily="34" charset="-120"/>
              </a:rPr>
              <a:t>Potential Value</a:t>
            </a:r>
            <a:endParaRPr lang="en-US" sz="1300" dirty="0"/>
          </a:p>
        </p:txBody>
      </p:sp>
      <p:sp>
        <p:nvSpPr>
          <p:cNvPr id="11" name="Text 9">
            <a:extLst>
              <a:ext uri="{FF2B5EF4-FFF2-40B4-BE49-F238E27FC236}">
                <a16:creationId xmlns:a16="http://schemas.microsoft.com/office/drawing/2014/main" id="{0FA760F1-C68F-6BCC-CB16-C61086FFB2DA}"/>
              </a:ext>
            </a:extLst>
          </p:cNvPr>
          <p:cNvSpPr/>
          <p:nvPr/>
        </p:nvSpPr>
        <p:spPr>
          <a:xfrm>
            <a:off x="3246120" y="1661160"/>
            <a:ext cx="2560320" cy="365760"/>
          </a:xfrm>
          <a:prstGeom prst="rect">
            <a:avLst/>
          </a:prstGeom>
          <a:noFill/>
          <a:ln/>
        </p:spPr>
        <p:txBody>
          <a:bodyPr wrap="square" rtlCol="0" anchor="ctr"/>
          <a:lstStyle/>
          <a:p>
            <a:pPr marL="0" indent="0" algn="ctr">
              <a:buNone/>
            </a:pPr>
            <a:r>
              <a:rPr lang="en-US" sz="1100" i="1" dirty="0">
                <a:solidFill>
                  <a:srgbClr val="CCE0D8"/>
                </a:solidFill>
                <a:latin typeface="Calibri" pitchFamily="34" charset="0"/>
                <a:ea typeface="Calibri" pitchFamily="34" charset="-122"/>
                <a:cs typeface="Calibri" pitchFamily="34" charset="-120"/>
              </a:rPr>
              <a:t>Market Exchange</a:t>
            </a:r>
            <a:endParaRPr lang="en-US" sz="1100" dirty="0"/>
          </a:p>
        </p:txBody>
      </p:sp>
      <p:sp>
        <p:nvSpPr>
          <p:cNvPr id="12" name="Shape 10">
            <a:extLst>
              <a:ext uri="{FF2B5EF4-FFF2-40B4-BE49-F238E27FC236}">
                <a16:creationId xmlns:a16="http://schemas.microsoft.com/office/drawing/2014/main" id="{91319B4E-7BA0-AAAC-0334-28B08D59B4A2}"/>
              </a:ext>
            </a:extLst>
          </p:cNvPr>
          <p:cNvSpPr/>
          <p:nvPr/>
        </p:nvSpPr>
        <p:spPr>
          <a:xfrm>
            <a:off x="3520440" y="2072640"/>
            <a:ext cx="2011680" cy="36576"/>
          </a:xfrm>
          <a:prstGeom prst="rect">
            <a:avLst/>
          </a:prstGeom>
          <a:solidFill>
            <a:srgbClr val="FFFFFF"/>
          </a:solidFill>
          <a:ln w="12700">
            <a:solidFill>
              <a:srgbClr val="FFFFFF"/>
            </a:solidFill>
            <a:prstDash val="solid"/>
          </a:ln>
        </p:spPr>
        <p:txBody>
          <a:bodyPr/>
          <a:lstStyle/>
          <a:p>
            <a:endParaRPr lang="en-US"/>
          </a:p>
        </p:txBody>
      </p:sp>
      <p:sp>
        <p:nvSpPr>
          <p:cNvPr id="13" name="Text 11">
            <a:extLst>
              <a:ext uri="{FF2B5EF4-FFF2-40B4-BE49-F238E27FC236}">
                <a16:creationId xmlns:a16="http://schemas.microsoft.com/office/drawing/2014/main" id="{FAD77323-3DF6-5793-20C1-F26D48DE6915}"/>
              </a:ext>
            </a:extLst>
          </p:cNvPr>
          <p:cNvSpPr/>
          <p:nvPr/>
        </p:nvSpPr>
        <p:spPr>
          <a:xfrm>
            <a:off x="3246120" y="2164080"/>
            <a:ext cx="2560320" cy="100584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How much?</a:t>
            </a:r>
            <a:endParaRPr lang="en-US" sz="1300" dirty="0"/>
          </a:p>
        </p:txBody>
      </p:sp>
      <p:sp>
        <p:nvSpPr>
          <p:cNvPr id="14" name="Shape 12">
            <a:extLst>
              <a:ext uri="{FF2B5EF4-FFF2-40B4-BE49-F238E27FC236}">
                <a16:creationId xmlns:a16="http://schemas.microsoft.com/office/drawing/2014/main" id="{C64312A8-AE5C-DB0C-CBFC-AC07A97E9E6E}"/>
              </a:ext>
            </a:extLst>
          </p:cNvPr>
          <p:cNvSpPr/>
          <p:nvPr/>
        </p:nvSpPr>
        <p:spPr>
          <a:xfrm>
            <a:off x="6126480" y="1112520"/>
            <a:ext cx="2560320" cy="2286000"/>
          </a:xfrm>
          <a:prstGeom prst="rect">
            <a:avLst/>
          </a:prstGeom>
          <a:solidFill>
            <a:srgbClr val="C8962E"/>
          </a:solidFill>
          <a:ln w="12700">
            <a:solidFill>
              <a:srgbClr val="C8962E"/>
            </a:solidFill>
            <a:prstDash val="solid"/>
          </a:ln>
          <a:effectLst>
            <a:outerShdw blurRad="76200" dist="25400" dir="8100000" algn="bl" rotWithShape="0">
              <a:srgbClr val="000000">
                <a:alpha val="12000"/>
              </a:srgbClr>
            </a:outerShdw>
          </a:effectLst>
        </p:spPr>
        <p:txBody>
          <a:bodyPr/>
          <a:lstStyle/>
          <a:p>
            <a:endParaRPr lang="en-US"/>
          </a:p>
        </p:txBody>
      </p:sp>
      <p:sp>
        <p:nvSpPr>
          <p:cNvPr id="15" name="Text 13">
            <a:extLst>
              <a:ext uri="{FF2B5EF4-FFF2-40B4-BE49-F238E27FC236}">
                <a16:creationId xmlns:a16="http://schemas.microsoft.com/office/drawing/2014/main" id="{80E62947-BF6F-7FE4-0A6F-E64F39B53BDA}"/>
              </a:ext>
            </a:extLst>
          </p:cNvPr>
          <p:cNvSpPr/>
          <p:nvPr/>
        </p:nvSpPr>
        <p:spPr>
          <a:xfrm>
            <a:off x="6126480" y="1203960"/>
            <a:ext cx="2560320" cy="457200"/>
          </a:xfrm>
          <a:prstGeom prst="rect">
            <a:avLst/>
          </a:prstGeom>
          <a:noFill/>
          <a:ln/>
        </p:spPr>
        <p:txBody>
          <a:bodyPr wrap="square" rtlCol="0" anchor="ctr"/>
          <a:lstStyle/>
          <a:p>
            <a:pPr marL="0" indent="0" algn="ctr">
              <a:buNone/>
            </a:pPr>
            <a:r>
              <a:rPr lang="en-US" sz="1300" b="1" kern="0" spc="200" dirty="0">
                <a:solidFill>
                  <a:srgbClr val="FFFFFF"/>
                </a:solidFill>
                <a:latin typeface="Calibri" pitchFamily="34" charset="0"/>
                <a:ea typeface="Calibri" pitchFamily="34" charset="-122"/>
                <a:cs typeface="Calibri" pitchFamily="34" charset="-120"/>
              </a:rPr>
              <a:t>Potential Buyers</a:t>
            </a:r>
            <a:endParaRPr lang="en-US" sz="1300" dirty="0"/>
          </a:p>
        </p:txBody>
      </p:sp>
      <p:sp>
        <p:nvSpPr>
          <p:cNvPr id="16" name="Text 14">
            <a:extLst>
              <a:ext uri="{FF2B5EF4-FFF2-40B4-BE49-F238E27FC236}">
                <a16:creationId xmlns:a16="http://schemas.microsoft.com/office/drawing/2014/main" id="{183F811C-E563-1299-C0BD-AF1637354456}"/>
              </a:ext>
            </a:extLst>
          </p:cNvPr>
          <p:cNvSpPr/>
          <p:nvPr/>
        </p:nvSpPr>
        <p:spPr>
          <a:xfrm>
            <a:off x="6126480" y="1661160"/>
            <a:ext cx="2560320" cy="365760"/>
          </a:xfrm>
          <a:prstGeom prst="rect">
            <a:avLst/>
          </a:prstGeom>
          <a:noFill/>
          <a:ln/>
        </p:spPr>
        <p:txBody>
          <a:bodyPr wrap="square" rtlCol="0" anchor="ctr"/>
          <a:lstStyle/>
          <a:p>
            <a:pPr marL="0" indent="0" algn="ctr">
              <a:buNone/>
            </a:pPr>
            <a:r>
              <a:rPr lang="en-US" sz="1100" i="1" dirty="0">
                <a:solidFill>
                  <a:srgbClr val="CCE0D8"/>
                </a:solidFill>
                <a:latin typeface="Calibri" pitchFamily="34" charset="0"/>
                <a:ea typeface="Calibri" pitchFamily="34" charset="-122"/>
                <a:cs typeface="Calibri" pitchFamily="34" charset="-120"/>
              </a:rPr>
              <a:t>Urban Corridor Developer</a:t>
            </a:r>
            <a:endParaRPr lang="en-US" sz="1100" dirty="0"/>
          </a:p>
        </p:txBody>
      </p:sp>
      <p:sp>
        <p:nvSpPr>
          <p:cNvPr id="17" name="Shape 15">
            <a:extLst>
              <a:ext uri="{FF2B5EF4-FFF2-40B4-BE49-F238E27FC236}">
                <a16:creationId xmlns:a16="http://schemas.microsoft.com/office/drawing/2014/main" id="{C5DCC145-B71E-B077-2D5C-44D5E551EFB1}"/>
              </a:ext>
            </a:extLst>
          </p:cNvPr>
          <p:cNvSpPr/>
          <p:nvPr/>
        </p:nvSpPr>
        <p:spPr>
          <a:xfrm>
            <a:off x="6400800" y="2072640"/>
            <a:ext cx="2011680" cy="36576"/>
          </a:xfrm>
          <a:prstGeom prst="rect">
            <a:avLst/>
          </a:prstGeom>
          <a:solidFill>
            <a:srgbClr val="FFFFFF"/>
          </a:solidFill>
          <a:ln w="12700">
            <a:solidFill>
              <a:srgbClr val="FFFFFF"/>
            </a:solidFill>
            <a:prstDash val="solid"/>
          </a:ln>
        </p:spPr>
        <p:txBody>
          <a:bodyPr/>
          <a:lstStyle/>
          <a:p>
            <a:endParaRPr lang="en-US"/>
          </a:p>
        </p:txBody>
      </p:sp>
      <p:sp>
        <p:nvSpPr>
          <p:cNvPr id="18" name="Text 16">
            <a:extLst>
              <a:ext uri="{FF2B5EF4-FFF2-40B4-BE49-F238E27FC236}">
                <a16:creationId xmlns:a16="http://schemas.microsoft.com/office/drawing/2014/main" id="{74C13BE5-ABEB-4B6C-F5CD-717695EEBFFE}"/>
              </a:ext>
            </a:extLst>
          </p:cNvPr>
          <p:cNvSpPr/>
          <p:nvPr/>
        </p:nvSpPr>
        <p:spPr>
          <a:xfrm>
            <a:off x="6126480" y="2164080"/>
            <a:ext cx="2560320" cy="100584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Is it worth it?</a:t>
            </a:r>
            <a:endParaRPr lang="en-US" sz="1300" dirty="0"/>
          </a:p>
        </p:txBody>
      </p:sp>
      <p:sp>
        <p:nvSpPr>
          <p:cNvPr id="22" name="Text 20">
            <a:extLst>
              <a:ext uri="{FF2B5EF4-FFF2-40B4-BE49-F238E27FC236}">
                <a16:creationId xmlns:a16="http://schemas.microsoft.com/office/drawing/2014/main" id="{4853319C-196B-B05D-5F0A-F02E1F5BE1E5}"/>
              </a:ext>
            </a:extLst>
          </p:cNvPr>
          <p:cNvSpPr/>
          <p:nvPr/>
        </p:nvSpPr>
        <p:spPr>
          <a:xfrm>
            <a:off x="365760" y="3855720"/>
            <a:ext cx="8412480" cy="548640"/>
          </a:xfrm>
          <a:prstGeom prst="rect">
            <a:avLst/>
          </a:prstGeom>
          <a:noFill/>
          <a:ln/>
        </p:spPr>
        <p:txBody>
          <a:bodyPr wrap="square" rtlCol="0" anchor="ctr"/>
          <a:lstStyle/>
          <a:p>
            <a:pPr marL="0" indent="0" algn="ctr">
              <a:buNone/>
            </a:pPr>
            <a:r>
              <a:rPr lang="en-US" sz="1300" b="1" dirty="0">
                <a:solidFill>
                  <a:srgbClr val="1B3A5C"/>
                </a:solidFill>
                <a:latin typeface="Calibri" pitchFamily="34" charset="0"/>
                <a:ea typeface="Calibri" pitchFamily="34" charset="-122"/>
                <a:cs typeface="Calibri" pitchFamily="34" charset="-120"/>
              </a:rPr>
              <a:t>Does this policy option have the potential to meaningfully impact Arlington’s housing price problem?</a:t>
            </a:r>
            <a:endParaRPr lang="en-US" sz="1300" dirty="0"/>
          </a:p>
        </p:txBody>
      </p:sp>
    </p:spTree>
    <p:extLst>
      <p:ext uri="{BB962C8B-B14F-4D97-AF65-F5344CB8AC3E}">
        <p14:creationId xmlns:p14="http://schemas.microsoft.com/office/powerpoint/2010/main" val="3443846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5F2EB"/>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B3A5C"/>
          </a:solidFill>
          <a:ln w="12700">
            <a:solidFill>
              <a:srgbClr val="1B3A5C"/>
            </a:solidFill>
            <a:prstDash val="solid"/>
          </a:ln>
        </p:spPr>
        <p:txBody>
          <a:bodyPr/>
          <a:lstStyle/>
          <a:p>
            <a:endParaRPr lang="en-US"/>
          </a:p>
        </p:txBody>
      </p:sp>
      <p:sp>
        <p:nvSpPr>
          <p:cNvPr id="3" name="Text 1"/>
          <p:cNvSpPr/>
          <p:nvPr/>
        </p:nvSpPr>
        <p:spPr>
          <a:xfrm>
            <a:off x="365760" y="18288"/>
            <a:ext cx="8412480" cy="603504"/>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Quantifying Available Rights: The Analytical Foundation</a:t>
            </a:r>
            <a:endParaRPr lang="en-US" sz="2200" dirty="0"/>
          </a:p>
        </p:txBody>
      </p:sp>
      <p:sp>
        <p:nvSpPr>
          <p:cNvPr id="4" name="Text 2"/>
          <p:cNvSpPr/>
          <p:nvPr/>
        </p:nvSpPr>
        <p:spPr>
          <a:xfrm>
            <a:off x="365760" y="777240"/>
            <a:ext cx="3840480" cy="411480"/>
          </a:xfrm>
          <a:prstGeom prst="rect">
            <a:avLst/>
          </a:prstGeom>
          <a:noFill/>
          <a:ln/>
        </p:spPr>
        <p:txBody>
          <a:bodyPr wrap="square" rtlCol="0" anchor="ctr"/>
          <a:lstStyle/>
          <a:p>
            <a:pPr marL="0" indent="0">
              <a:buNone/>
            </a:pPr>
            <a:r>
              <a:rPr lang="en-US" sz="1300" b="1" kern="0" spc="200" dirty="0">
                <a:solidFill>
                  <a:srgbClr val="1A7A6B"/>
                </a:solidFill>
                <a:latin typeface="Calibri" pitchFamily="34" charset="0"/>
                <a:ea typeface="Calibri" pitchFamily="34" charset="-122"/>
                <a:cs typeface="Calibri" pitchFamily="34" charset="-120"/>
              </a:rPr>
              <a:t>PURPOSE</a:t>
            </a:r>
            <a:endParaRPr lang="en-US" sz="1300" dirty="0"/>
          </a:p>
        </p:txBody>
      </p:sp>
      <p:sp>
        <p:nvSpPr>
          <p:cNvPr id="5" name="Text 3"/>
          <p:cNvSpPr/>
          <p:nvPr/>
        </p:nvSpPr>
        <p:spPr>
          <a:xfrm>
            <a:off x="365760" y="1188720"/>
            <a:ext cx="3840480" cy="914400"/>
          </a:xfrm>
          <a:prstGeom prst="rect">
            <a:avLst/>
          </a:prstGeom>
          <a:noFill/>
          <a:ln/>
        </p:spPr>
        <p:txBody>
          <a:bodyPr wrap="square" rtlCol="0" anchor="ctr"/>
          <a:lstStyle/>
          <a:p>
            <a:pPr marL="0" indent="0">
              <a:buNone/>
            </a:pPr>
            <a:r>
              <a:rPr lang="en-US" sz="1300" dirty="0">
                <a:solidFill>
                  <a:srgbClr val="2D2D2D"/>
                </a:solidFill>
                <a:latin typeface="Calibri" pitchFamily="34" charset="0"/>
                <a:ea typeface="Calibri" pitchFamily="34" charset="-122"/>
                <a:cs typeface="Calibri" pitchFamily="34" charset="-120"/>
              </a:rPr>
              <a:t>To determine how much unused development capacity exists across Arlington's R-district residential parcels — the supply side of the TDR market.</a:t>
            </a:r>
            <a:endParaRPr lang="en-US" sz="1300" dirty="0"/>
          </a:p>
        </p:txBody>
      </p:sp>
      <p:sp>
        <p:nvSpPr>
          <p:cNvPr id="6" name="Text 4"/>
          <p:cNvSpPr/>
          <p:nvPr/>
        </p:nvSpPr>
        <p:spPr>
          <a:xfrm>
            <a:off x="365760" y="2194560"/>
            <a:ext cx="3840480" cy="411480"/>
          </a:xfrm>
          <a:prstGeom prst="rect">
            <a:avLst/>
          </a:prstGeom>
          <a:noFill/>
          <a:ln/>
        </p:spPr>
        <p:txBody>
          <a:bodyPr wrap="square" rtlCol="0" anchor="ctr"/>
          <a:lstStyle/>
          <a:p>
            <a:pPr marL="0" indent="0">
              <a:buNone/>
            </a:pPr>
            <a:r>
              <a:rPr lang="en-US" sz="1300" b="1" kern="0" spc="200" dirty="0">
                <a:solidFill>
                  <a:srgbClr val="1A7A6B"/>
                </a:solidFill>
                <a:latin typeface="Calibri" pitchFamily="34" charset="0"/>
                <a:ea typeface="Calibri" pitchFamily="34" charset="-122"/>
                <a:cs typeface="Calibri" pitchFamily="34" charset="-120"/>
              </a:rPr>
              <a:t>METHODOLOGY</a:t>
            </a:r>
            <a:endParaRPr lang="en-US" sz="1300" dirty="0"/>
          </a:p>
        </p:txBody>
      </p:sp>
      <p:sp>
        <p:nvSpPr>
          <p:cNvPr id="7" name="Text 5"/>
          <p:cNvSpPr/>
          <p:nvPr/>
        </p:nvSpPr>
        <p:spPr>
          <a:xfrm>
            <a:off x="365760" y="2606040"/>
            <a:ext cx="3840480" cy="2194560"/>
          </a:xfrm>
          <a:prstGeom prst="rect">
            <a:avLst/>
          </a:prstGeom>
          <a:noFill/>
          <a:ln/>
        </p:spPr>
        <p:txBody>
          <a:bodyPr wrap="square" rtlCol="0" anchor="ctr"/>
          <a:lstStyle/>
          <a:p>
            <a:pPr marL="0" indent="0">
              <a:buNone/>
            </a:pPr>
            <a:r>
              <a:rPr lang="en-US" sz="1200" dirty="0">
                <a:solidFill>
                  <a:srgbClr val="2D2D2D"/>
                </a:solidFill>
                <a:latin typeface="Calibri" pitchFamily="34" charset="0"/>
                <a:ea typeface="Calibri" pitchFamily="34" charset="-122"/>
                <a:cs typeface="Calibri" pitchFamily="34" charset="-120"/>
              </a:rPr>
              <a:t>1. Pull parcel data for R zoned parcels</a:t>
            </a:r>
            <a:endParaRPr lang="en-US" sz="1200" dirty="0"/>
          </a:p>
          <a:p>
            <a:pPr marL="0" indent="0">
              <a:buNone/>
            </a:pPr>
            <a:r>
              <a:rPr lang="en-US" sz="1200" dirty="0">
                <a:solidFill>
                  <a:srgbClr val="2D2D2D"/>
                </a:solidFill>
                <a:latin typeface="Calibri" pitchFamily="34" charset="0"/>
                <a:ea typeface="Calibri" pitchFamily="34" charset="-122"/>
                <a:cs typeface="Calibri" pitchFamily="34" charset="-120"/>
              </a:rPr>
              <a:t>3. Calculate lot area</a:t>
            </a:r>
            <a:endParaRPr lang="en-US" sz="1200" dirty="0"/>
          </a:p>
          <a:p>
            <a:pPr marL="0" indent="0">
              <a:buNone/>
            </a:pPr>
            <a:r>
              <a:rPr lang="en-US" sz="1200" dirty="0">
                <a:solidFill>
                  <a:srgbClr val="2D2D2D"/>
                </a:solidFill>
                <a:latin typeface="Calibri" pitchFamily="34" charset="0"/>
                <a:ea typeface="Calibri" pitchFamily="34" charset="-122"/>
                <a:cs typeface="Calibri" pitchFamily="34" charset="-120"/>
              </a:rPr>
              <a:t>3. Estimate by-right maximum and current built gross floor area (GFA)</a:t>
            </a:r>
            <a:endParaRPr lang="en-US" sz="1200" dirty="0"/>
          </a:p>
          <a:p>
            <a:pPr marL="0" indent="0">
              <a:buNone/>
            </a:pPr>
            <a:r>
              <a:rPr lang="en-US" sz="1200" dirty="0">
                <a:solidFill>
                  <a:srgbClr val="2D2D2D"/>
                </a:solidFill>
                <a:latin typeface="Calibri" pitchFamily="34" charset="0"/>
                <a:ea typeface="Calibri" pitchFamily="34" charset="-122"/>
                <a:cs typeface="Calibri" pitchFamily="34" charset="-120"/>
              </a:rPr>
              <a:t>4. Compute available (unused) development rights</a:t>
            </a:r>
          </a:p>
          <a:p>
            <a:pPr marL="0" indent="0">
              <a:buNone/>
            </a:pPr>
            <a:r>
              <a:rPr lang="en-US" sz="1200" dirty="0">
                <a:solidFill>
                  <a:srgbClr val="2D2D2D"/>
                </a:solidFill>
                <a:latin typeface="Calibri" pitchFamily="34" charset="0"/>
                <a:ea typeface="Calibri" pitchFamily="34" charset="-122"/>
                <a:cs typeface="Calibri" pitchFamily="34" charset="-120"/>
              </a:rPr>
              <a:t>5. Estimate value of unused </a:t>
            </a:r>
            <a:endParaRPr lang="en-US" sz="1200" dirty="0"/>
          </a:p>
        </p:txBody>
      </p:sp>
      <p:sp>
        <p:nvSpPr>
          <p:cNvPr id="8" name="Shape 6"/>
          <p:cNvSpPr/>
          <p:nvPr/>
        </p:nvSpPr>
        <p:spPr>
          <a:xfrm>
            <a:off x="4572000" y="731520"/>
            <a:ext cx="4206240" cy="4114800"/>
          </a:xfrm>
          <a:prstGeom prst="rect">
            <a:avLst/>
          </a:prstGeom>
          <a:solidFill>
            <a:srgbClr val="1B3A5C"/>
          </a:solidFill>
          <a:ln w="12700">
            <a:solidFill>
              <a:srgbClr val="1B3A5C"/>
            </a:solidFill>
            <a:prstDash val="solid"/>
          </a:ln>
          <a:effectLst>
            <a:outerShdw blurRad="101600" dist="25400" dir="8100000" algn="bl" rotWithShape="0">
              <a:srgbClr val="000000">
                <a:alpha val="15000"/>
              </a:srgbClr>
            </a:outerShdw>
          </a:effectLst>
        </p:spPr>
        <p:txBody>
          <a:bodyPr/>
          <a:lstStyle/>
          <a:p>
            <a:endParaRPr lang="en-US"/>
          </a:p>
        </p:txBody>
      </p:sp>
      <p:sp>
        <p:nvSpPr>
          <p:cNvPr id="9" name="Text 7"/>
          <p:cNvSpPr/>
          <p:nvPr/>
        </p:nvSpPr>
        <p:spPr>
          <a:xfrm>
            <a:off x="4572000" y="777240"/>
            <a:ext cx="4206240" cy="411480"/>
          </a:xfrm>
          <a:prstGeom prst="rect">
            <a:avLst/>
          </a:prstGeom>
          <a:noFill/>
          <a:ln/>
        </p:spPr>
        <p:txBody>
          <a:bodyPr wrap="square" rtlCol="0" anchor="ctr"/>
          <a:lstStyle/>
          <a:p>
            <a:pPr marL="0" indent="0" algn="ctr">
              <a:buNone/>
            </a:pPr>
            <a:r>
              <a:rPr lang="en-US" sz="1100" b="1" kern="0" spc="100" dirty="0">
                <a:solidFill>
                  <a:srgbClr val="C8962E"/>
                </a:solidFill>
                <a:latin typeface="Calibri" pitchFamily="34" charset="0"/>
                <a:ea typeface="Calibri" pitchFamily="34" charset="-122"/>
                <a:cs typeface="Calibri" pitchFamily="34" charset="-120"/>
              </a:rPr>
              <a:t>R-DISTRICT BY-RIGHT LIMITS</a:t>
            </a:r>
            <a:endParaRPr lang="en-US" sz="1100" dirty="0"/>
          </a:p>
        </p:txBody>
      </p:sp>
      <p:sp>
        <p:nvSpPr>
          <p:cNvPr id="10" name="Text 8"/>
          <p:cNvSpPr/>
          <p:nvPr/>
        </p:nvSpPr>
        <p:spPr>
          <a:xfrm>
            <a:off x="4617720" y="1234440"/>
            <a:ext cx="914400" cy="457200"/>
          </a:xfrm>
          <a:prstGeom prst="rect">
            <a:avLst/>
          </a:prstGeom>
          <a:noFill/>
          <a:ln/>
        </p:spPr>
        <p:txBody>
          <a:bodyPr wrap="square" rtlCol="0" anchor="ctr"/>
          <a:lstStyle/>
          <a:p>
            <a:pPr marL="0" indent="0" algn="l">
              <a:buNone/>
            </a:pPr>
            <a:r>
              <a:rPr lang="en-US" sz="1100" b="1" dirty="0">
                <a:solidFill>
                  <a:srgbClr val="C8962E"/>
                </a:solidFill>
                <a:latin typeface="Calibri" pitchFamily="34" charset="0"/>
                <a:ea typeface="Calibri" pitchFamily="34" charset="-122"/>
                <a:cs typeface="Calibri" pitchFamily="34" charset="-120"/>
              </a:rPr>
              <a:t>District</a:t>
            </a:r>
            <a:endParaRPr lang="en-US" sz="1100" dirty="0"/>
          </a:p>
        </p:txBody>
      </p:sp>
      <p:sp>
        <p:nvSpPr>
          <p:cNvPr id="11" name="Text 9"/>
          <p:cNvSpPr/>
          <p:nvPr/>
        </p:nvSpPr>
        <p:spPr>
          <a:xfrm>
            <a:off x="5577840" y="1234440"/>
            <a:ext cx="914400" cy="457200"/>
          </a:xfrm>
          <a:prstGeom prst="rect">
            <a:avLst/>
          </a:prstGeom>
          <a:noFill/>
          <a:ln/>
        </p:spPr>
        <p:txBody>
          <a:bodyPr wrap="square" rtlCol="0" anchor="ctr"/>
          <a:lstStyle/>
          <a:p>
            <a:pPr marL="0" indent="0" algn="ctr">
              <a:buNone/>
            </a:pPr>
            <a:r>
              <a:rPr lang="en-US" sz="1100" b="1" dirty="0">
                <a:solidFill>
                  <a:srgbClr val="C8962E"/>
                </a:solidFill>
                <a:latin typeface="Calibri" pitchFamily="34" charset="0"/>
                <a:ea typeface="Calibri" pitchFamily="34" charset="-122"/>
                <a:cs typeface="Calibri" pitchFamily="34" charset="-120"/>
              </a:rPr>
              <a:t>Min Lot</a:t>
            </a:r>
            <a:endParaRPr lang="en-US" sz="1100" dirty="0"/>
          </a:p>
        </p:txBody>
      </p:sp>
      <p:sp>
        <p:nvSpPr>
          <p:cNvPr id="12" name="Text 10"/>
          <p:cNvSpPr/>
          <p:nvPr/>
        </p:nvSpPr>
        <p:spPr>
          <a:xfrm>
            <a:off x="6537960" y="1234440"/>
            <a:ext cx="1417320" cy="457200"/>
          </a:xfrm>
          <a:prstGeom prst="rect">
            <a:avLst/>
          </a:prstGeom>
          <a:noFill/>
          <a:ln/>
        </p:spPr>
        <p:txBody>
          <a:bodyPr wrap="square" rtlCol="0" anchor="ctr"/>
          <a:lstStyle/>
          <a:p>
            <a:pPr marL="0" indent="0" algn="ctr">
              <a:buNone/>
            </a:pPr>
            <a:r>
              <a:rPr lang="en-US" sz="1100" b="1" dirty="0">
                <a:solidFill>
                  <a:srgbClr val="C8962E"/>
                </a:solidFill>
                <a:latin typeface="Calibri" pitchFamily="34" charset="0"/>
                <a:ea typeface="Calibri" pitchFamily="34" charset="-122"/>
                <a:cs typeface="Calibri" pitchFamily="34" charset="-120"/>
              </a:rPr>
              <a:t>Max Footprint</a:t>
            </a:r>
            <a:endParaRPr lang="en-US" sz="1100" dirty="0"/>
          </a:p>
        </p:txBody>
      </p:sp>
      <p:sp>
        <p:nvSpPr>
          <p:cNvPr id="13" name="Text 11"/>
          <p:cNvSpPr/>
          <p:nvPr/>
        </p:nvSpPr>
        <p:spPr>
          <a:xfrm>
            <a:off x="8001000" y="1234440"/>
            <a:ext cx="731520" cy="457200"/>
          </a:xfrm>
          <a:prstGeom prst="rect">
            <a:avLst/>
          </a:prstGeom>
          <a:noFill/>
          <a:ln/>
        </p:spPr>
        <p:txBody>
          <a:bodyPr wrap="square" rtlCol="0" anchor="ctr"/>
          <a:lstStyle/>
          <a:p>
            <a:pPr marL="0" indent="0" algn="ctr">
              <a:buNone/>
            </a:pPr>
            <a:r>
              <a:rPr lang="en-US" sz="1100" b="1" dirty="0">
                <a:solidFill>
                  <a:srgbClr val="C8962E"/>
                </a:solidFill>
                <a:latin typeface="Calibri" pitchFamily="34" charset="0"/>
                <a:ea typeface="Calibri" pitchFamily="34" charset="-122"/>
                <a:cs typeface="Calibri" pitchFamily="34" charset="-120"/>
              </a:rPr>
              <a:t>Coverage</a:t>
            </a:r>
            <a:endParaRPr lang="en-US" sz="1100" dirty="0"/>
          </a:p>
        </p:txBody>
      </p:sp>
      <p:sp>
        <p:nvSpPr>
          <p:cNvPr id="14" name="Text 12"/>
          <p:cNvSpPr/>
          <p:nvPr/>
        </p:nvSpPr>
        <p:spPr>
          <a:xfrm>
            <a:off x="4617720" y="1737360"/>
            <a:ext cx="914400" cy="457200"/>
          </a:xfrm>
          <a:prstGeom prst="rect">
            <a:avLst/>
          </a:prstGeom>
          <a:noFill/>
          <a:ln/>
        </p:spPr>
        <p:txBody>
          <a:bodyPr wrap="square" rtlCol="0" anchor="ctr"/>
          <a:lstStyle/>
          <a:p>
            <a:pPr marL="0" indent="0" algn="l">
              <a:buNone/>
            </a:pPr>
            <a:r>
              <a:rPr lang="en-US" sz="1100" dirty="0">
                <a:solidFill>
                  <a:srgbClr val="FFFFFF"/>
                </a:solidFill>
                <a:latin typeface="Calibri" pitchFamily="34" charset="0"/>
                <a:ea typeface="Calibri" pitchFamily="34" charset="-122"/>
                <a:cs typeface="Calibri" pitchFamily="34" charset="-120"/>
              </a:rPr>
              <a:t>R-20</a:t>
            </a:r>
            <a:endParaRPr lang="en-US" sz="1100" dirty="0"/>
          </a:p>
        </p:txBody>
      </p:sp>
      <p:sp>
        <p:nvSpPr>
          <p:cNvPr id="15" name="Text 13"/>
          <p:cNvSpPr/>
          <p:nvPr/>
        </p:nvSpPr>
        <p:spPr>
          <a:xfrm>
            <a:off x="5577840" y="1737360"/>
            <a:ext cx="91440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20,000 sf</a:t>
            </a:r>
            <a:endParaRPr lang="en-US" sz="1100" dirty="0"/>
          </a:p>
        </p:txBody>
      </p:sp>
      <p:sp>
        <p:nvSpPr>
          <p:cNvPr id="16" name="Text 14"/>
          <p:cNvSpPr/>
          <p:nvPr/>
        </p:nvSpPr>
        <p:spPr>
          <a:xfrm>
            <a:off x="6537960" y="1737360"/>
            <a:ext cx="141732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16% / 4,480 sf</a:t>
            </a:r>
            <a:endParaRPr lang="en-US" sz="1100" dirty="0"/>
          </a:p>
        </p:txBody>
      </p:sp>
      <p:sp>
        <p:nvSpPr>
          <p:cNvPr id="17" name="Text 15"/>
          <p:cNvSpPr/>
          <p:nvPr/>
        </p:nvSpPr>
        <p:spPr>
          <a:xfrm>
            <a:off x="8001000" y="1737360"/>
            <a:ext cx="73152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25%</a:t>
            </a:r>
            <a:endParaRPr lang="en-US" sz="1100" dirty="0"/>
          </a:p>
        </p:txBody>
      </p:sp>
      <p:sp>
        <p:nvSpPr>
          <p:cNvPr id="18" name="Shape 16"/>
          <p:cNvSpPr/>
          <p:nvPr/>
        </p:nvSpPr>
        <p:spPr>
          <a:xfrm>
            <a:off x="4663440" y="2176272"/>
            <a:ext cx="4023360" cy="18288"/>
          </a:xfrm>
          <a:prstGeom prst="rect">
            <a:avLst/>
          </a:prstGeom>
          <a:solidFill>
            <a:srgbClr val="3A5A7A"/>
          </a:solidFill>
          <a:ln w="12700">
            <a:solidFill>
              <a:srgbClr val="3A5A7A"/>
            </a:solidFill>
            <a:prstDash val="solid"/>
          </a:ln>
        </p:spPr>
        <p:txBody>
          <a:bodyPr/>
          <a:lstStyle/>
          <a:p>
            <a:endParaRPr lang="en-US"/>
          </a:p>
        </p:txBody>
      </p:sp>
      <p:sp>
        <p:nvSpPr>
          <p:cNvPr id="19" name="Text 17"/>
          <p:cNvSpPr/>
          <p:nvPr/>
        </p:nvSpPr>
        <p:spPr>
          <a:xfrm>
            <a:off x="4617720" y="2240280"/>
            <a:ext cx="914400" cy="457200"/>
          </a:xfrm>
          <a:prstGeom prst="rect">
            <a:avLst/>
          </a:prstGeom>
          <a:noFill/>
          <a:ln/>
        </p:spPr>
        <p:txBody>
          <a:bodyPr wrap="square" rtlCol="0" anchor="ctr"/>
          <a:lstStyle/>
          <a:p>
            <a:pPr marL="0" indent="0" algn="l">
              <a:buNone/>
            </a:pPr>
            <a:r>
              <a:rPr lang="en-US" sz="1100" dirty="0">
                <a:solidFill>
                  <a:srgbClr val="FFFFFF"/>
                </a:solidFill>
                <a:latin typeface="Calibri" pitchFamily="34" charset="0"/>
                <a:ea typeface="Calibri" pitchFamily="34" charset="-122"/>
                <a:cs typeface="Calibri" pitchFamily="34" charset="-120"/>
              </a:rPr>
              <a:t>R-10</a:t>
            </a:r>
            <a:endParaRPr lang="en-US" sz="1100" dirty="0"/>
          </a:p>
        </p:txBody>
      </p:sp>
      <p:sp>
        <p:nvSpPr>
          <p:cNvPr id="20" name="Text 18"/>
          <p:cNvSpPr/>
          <p:nvPr/>
        </p:nvSpPr>
        <p:spPr>
          <a:xfrm>
            <a:off x="5577840" y="2240280"/>
            <a:ext cx="91440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10,000 sf</a:t>
            </a:r>
            <a:endParaRPr lang="en-US" sz="1100" dirty="0"/>
          </a:p>
        </p:txBody>
      </p:sp>
      <p:sp>
        <p:nvSpPr>
          <p:cNvPr id="21" name="Text 19"/>
          <p:cNvSpPr/>
          <p:nvPr/>
        </p:nvSpPr>
        <p:spPr>
          <a:xfrm>
            <a:off x="6537960" y="2240280"/>
            <a:ext cx="141732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25% / 3,500 sf</a:t>
            </a:r>
            <a:endParaRPr lang="en-US" sz="1100" dirty="0"/>
          </a:p>
        </p:txBody>
      </p:sp>
      <p:sp>
        <p:nvSpPr>
          <p:cNvPr id="22" name="Text 20"/>
          <p:cNvSpPr/>
          <p:nvPr/>
        </p:nvSpPr>
        <p:spPr>
          <a:xfrm>
            <a:off x="8001000" y="2240280"/>
            <a:ext cx="73152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32%</a:t>
            </a:r>
            <a:endParaRPr lang="en-US" sz="1100" dirty="0"/>
          </a:p>
        </p:txBody>
      </p:sp>
      <p:sp>
        <p:nvSpPr>
          <p:cNvPr id="23" name="Shape 21"/>
          <p:cNvSpPr/>
          <p:nvPr/>
        </p:nvSpPr>
        <p:spPr>
          <a:xfrm>
            <a:off x="4663440" y="2679192"/>
            <a:ext cx="4023360" cy="18288"/>
          </a:xfrm>
          <a:prstGeom prst="rect">
            <a:avLst/>
          </a:prstGeom>
          <a:solidFill>
            <a:srgbClr val="3A5A7A"/>
          </a:solidFill>
          <a:ln w="12700">
            <a:solidFill>
              <a:srgbClr val="3A5A7A"/>
            </a:solidFill>
            <a:prstDash val="solid"/>
          </a:ln>
        </p:spPr>
        <p:txBody>
          <a:bodyPr/>
          <a:lstStyle/>
          <a:p>
            <a:endParaRPr lang="en-US"/>
          </a:p>
        </p:txBody>
      </p:sp>
      <p:sp>
        <p:nvSpPr>
          <p:cNvPr id="24" name="Text 22"/>
          <p:cNvSpPr/>
          <p:nvPr/>
        </p:nvSpPr>
        <p:spPr>
          <a:xfrm>
            <a:off x="4617720" y="2743200"/>
            <a:ext cx="914400" cy="457200"/>
          </a:xfrm>
          <a:prstGeom prst="rect">
            <a:avLst/>
          </a:prstGeom>
          <a:noFill/>
          <a:ln/>
        </p:spPr>
        <p:txBody>
          <a:bodyPr wrap="square" rtlCol="0" anchor="ctr"/>
          <a:lstStyle/>
          <a:p>
            <a:pPr marL="0" indent="0" algn="l">
              <a:buNone/>
            </a:pPr>
            <a:r>
              <a:rPr lang="en-US" sz="1100" dirty="0">
                <a:solidFill>
                  <a:srgbClr val="FFFFFF"/>
                </a:solidFill>
                <a:latin typeface="Calibri" pitchFamily="34" charset="0"/>
                <a:ea typeface="Calibri" pitchFamily="34" charset="-122"/>
                <a:cs typeface="Calibri" pitchFamily="34" charset="-120"/>
              </a:rPr>
              <a:t>R-8</a:t>
            </a:r>
            <a:endParaRPr lang="en-US" sz="1100" dirty="0"/>
          </a:p>
        </p:txBody>
      </p:sp>
      <p:sp>
        <p:nvSpPr>
          <p:cNvPr id="25" name="Text 23"/>
          <p:cNvSpPr/>
          <p:nvPr/>
        </p:nvSpPr>
        <p:spPr>
          <a:xfrm>
            <a:off x="5577840" y="2743200"/>
            <a:ext cx="91440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8,000 sf</a:t>
            </a:r>
            <a:endParaRPr lang="en-US" sz="1100" dirty="0"/>
          </a:p>
        </p:txBody>
      </p:sp>
      <p:sp>
        <p:nvSpPr>
          <p:cNvPr id="26" name="Text 24"/>
          <p:cNvSpPr/>
          <p:nvPr/>
        </p:nvSpPr>
        <p:spPr>
          <a:xfrm>
            <a:off x="6537960" y="2743200"/>
            <a:ext cx="141732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25% / 2,800 sf</a:t>
            </a:r>
            <a:endParaRPr lang="en-US" sz="1100" dirty="0"/>
          </a:p>
        </p:txBody>
      </p:sp>
      <p:sp>
        <p:nvSpPr>
          <p:cNvPr id="27" name="Text 25"/>
          <p:cNvSpPr/>
          <p:nvPr/>
        </p:nvSpPr>
        <p:spPr>
          <a:xfrm>
            <a:off x="8001000" y="2743200"/>
            <a:ext cx="73152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35%</a:t>
            </a:r>
            <a:endParaRPr lang="en-US" sz="1100" dirty="0"/>
          </a:p>
        </p:txBody>
      </p:sp>
      <p:sp>
        <p:nvSpPr>
          <p:cNvPr id="28" name="Shape 26"/>
          <p:cNvSpPr/>
          <p:nvPr/>
        </p:nvSpPr>
        <p:spPr>
          <a:xfrm>
            <a:off x="4663440" y="3182112"/>
            <a:ext cx="4023360" cy="18288"/>
          </a:xfrm>
          <a:prstGeom prst="rect">
            <a:avLst/>
          </a:prstGeom>
          <a:solidFill>
            <a:srgbClr val="3A5A7A"/>
          </a:solidFill>
          <a:ln w="12700">
            <a:solidFill>
              <a:srgbClr val="3A5A7A"/>
            </a:solidFill>
            <a:prstDash val="solid"/>
          </a:ln>
        </p:spPr>
        <p:txBody>
          <a:bodyPr/>
          <a:lstStyle/>
          <a:p>
            <a:endParaRPr lang="en-US"/>
          </a:p>
        </p:txBody>
      </p:sp>
      <p:sp>
        <p:nvSpPr>
          <p:cNvPr id="29" name="Text 27"/>
          <p:cNvSpPr/>
          <p:nvPr/>
        </p:nvSpPr>
        <p:spPr>
          <a:xfrm>
            <a:off x="4617720" y="3246120"/>
            <a:ext cx="914400" cy="457200"/>
          </a:xfrm>
          <a:prstGeom prst="rect">
            <a:avLst/>
          </a:prstGeom>
          <a:noFill/>
          <a:ln/>
        </p:spPr>
        <p:txBody>
          <a:bodyPr wrap="square" rtlCol="0" anchor="ctr"/>
          <a:lstStyle/>
          <a:p>
            <a:pPr marL="0" indent="0" algn="l">
              <a:buNone/>
            </a:pPr>
            <a:r>
              <a:rPr lang="en-US" sz="1100" dirty="0">
                <a:solidFill>
                  <a:srgbClr val="FFFFFF"/>
                </a:solidFill>
                <a:latin typeface="Calibri" pitchFamily="34" charset="0"/>
                <a:ea typeface="Calibri" pitchFamily="34" charset="-122"/>
                <a:cs typeface="Calibri" pitchFamily="34" charset="-120"/>
              </a:rPr>
              <a:t>R-6</a:t>
            </a:r>
            <a:endParaRPr lang="en-US" sz="1100" dirty="0"/>
          </a:p>
        </p:txBody>
      </p:sp>
      <p:sp>
        <p:nvSpPr>
          <p:cNvPr id="30" name="Text 28"/>
          <p:cNvSpPr/>
          <p:nvPr/>
        </p:nvSpPr>
        <p:spPr>
          <a:xfrm>
            <a:off x="5577840" y="3246120"/>
            <a:ext cx="91440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6,000 sf</a:t>
            </a:r>
            <a:endParaRPr lang="en-US" sz="1100" dirty="0"/>
          </a:p>
        </p:txBody>
      </p:sp>
      <p:sp>
        <p:nvSpPr>
          <p:cNvPr id="31" name="Text 29"/>
          <p:cNvSpPr/>
          <p:nvPr/>
        </p:nvSpPr>
        <p:spPr>
          <a:xfrm>
            <a:off x="6537960" y="3246120"/>
            <a:ext cx="141732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30% / 2,520 sf</a:t>
            </a:r>
            <a:endParaRPr lang="en-US" sz="1100" dirty="0"/>
          </a:p>
        </p:txBody>
      </p:sp>
      <p:sp>
        <p:nvSpPr>
          <p:cNvPr id="32" name="Text 30"/>
          <p:cNvSpPr/>
          <p:nvPr/>
        </p:nvSpPr>
        <p:spPr>
          <a:xfrm>
            <a:off x="8001000" y="3246120"/>
            <a:ext cx="73152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40%</a:t>
            </a:r>
            <a:endParaRPr lang="en-US" sz="1100" dirty="0"/>
          </a:p>
        </p:txBody>
      </p:sp>
      <p:sp>
        <p:nvSpPr>
          <p:cNvPr id="33" name="Shape 31"/>
          <p:cNvSpPr/>
          <p:nvPr/>
        </p:nvSpPr>
        <p:spPr>
          <a:xfrm>
            <a:off x="4663440" y="3685032"/>
            <a:ext cx="4023360" cy="18288"/>
          </a:xfrm>
          <a:prstGeom prst="rect">
            <a:avLst/>
          </a:prstGeom>
          <a:solidFill>
            <a:srgbClr val="3A5A7A"/>
          </a:solidFill>
          <a:ln w="12700">
            <a:solidFill>
              <a:srgbClr val="3A5A7A"/>
            </a:solidFill>
            <a:prstDash val="solid"/>
          </a:ln>
        </p:spPr>
        <p:txBody>
          <a:bodyPr/>
          <a:lstStyle/>
          <a:p>
            <a:endParaRPr lang="en-US"/>
          </a:p>
        </p:txBody>
      </p:sp>
      <p:sp>
        <p:nvSpPr>
          <p:cNvPr id="34" name="Text 32"/>
          <p:cNvSpPr/>
          <p:nvPr/>
        </p:nvSpPr>
        <p:spPr>
          <a:xfrm>
            <a:off x="4617720" y="3749040"/>
            <a:ext cx="914400" cy="457200"/>
          </a:xfrm>
          <a:prstGeom prst="rect">
            <a:avLst/>
          </a:prstGeom>
          <a:noFill/>
          <a:ln/>
        </p:spPr>
        <p:txBody>
          <a:bodyPr wrap="square" rtlCol="0" anchor="ctr"/>
          <a:lstStyle/>
          <a:p>
            <a:pPr marL="0" indent="0" algn="l">
              <a:buNone/>
            </a:pPr>
            <a:r>
              <a:rPr lang="en-US" sz="1100" dirty="0">
                <a:solidFill>
                  <a:srgbClr val="FFFFFF"/>
                </a:solidFill>
                <a:latin typeface="Calibri" pitchFamily="34" charset="0"/>
                <a:ea typeface="Calibri" pitchFamily="34" charset="-122"/>
                <a:cs typeface="Calibri" pitchFamily="34" charset="-120"/>
              </a:rPr>
              <a:t>R-5</a:t>
            </a:r>
            <a:endParaRPr lang="en-US" sz="1100" dirty="0"/>
          </a:p>
        </p:txBody>
      </p:sp>
      <p:sp>
        <p:nvSpPr>
          <p:cNvPr id="35" name="Text 33"/>
          <p:cNvSpPr/>
          <p:nvPr/>
        </p:nvSpPr>
        <p:spPr>
          <a:xfrm>
            <a:off x="5577840" y="3749040"/>
            <a:ext cx="91440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5,000 sf</a:t>
            </a:r>
            <a:endParaRPr lang="en-US" sz="1100" dirty="0"/>
          </a:p>
        </p:txBody>
      </p:sp>
      <p:sp>
        <p:nvSpPr>
          <p:cNvPr id="36" name="Text 34"/>
          <p:cNvSpPr/>
          <p:nvPr/>
        </p:nvSpPr>
        <p:spPr>
          <a:xfrm>
            <a:off x="6537960" y="3749040"/>
            <a:ext cx="141732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34% / 2,380 sf</a:t>
            </a:r>
            <a:endParaRPr lang="en-US" sz="1100" dirty="0"/>
          </a:p>
        </p:txBody>
      </p:sp>
      <p:sp>
        <p:nvSpPr>
          <p:cNvPr id="37" name="Text 35"/>
          <p:cNvSpPr/>
          <p:nvPr/>
        </p:nvSpPr>
        <p:spPr>
          <a:xfrm>
            <a:off x="8001000" y="3749040"/>
            <a:ext cx="73152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45%</a:t>
            </a:r>
            <a:endParaRPr lang="en-US" sz="1100" dirty="0"/>
          </a:p>
        </p:txBody>
      </p:sp>
      <p:sp>
        <p:nvSpPr>
          <p:cNvPr id="38" name="Text 36"/>
          <p:cNvSpPr/>
          <p:nvPr/>
        </p:nvSpPr>
        <p:spPr>
          <a:xfrm>
            <a:off x="4572000" y="4297680"/>
            <a:ext cx="4206240" cy="502920"/>
          </a:xfrm>
          <a:prstGeom prst="rect">
            <a:avLst/>
          </a:prstGeom>
          <a:noFill/>
          <a:ln/>
        </p:spPr>
        <p:txBody>
          <a:bodyPr wrap="square" rtlCol="0" anchor="ctr"/>
          <a:lstStyle/>
          <a:p>
            <a:pPr marL="0" indent="0" algn="ctr">
              <a:buNone/>
            </a:pPr>
            <a:r>
              <a:rPr lang="en-US" sz="1000" i="1" dirty="0">
                <a:solidFill>
                  <a:srgbClr val="A8C4D8"/>
                </a:solidFill>
                <a:latin typeface="Calibri" pitchFamily="34" charset="0"/>
                <a:ea typeface="Calibri" pitchFamily="34" charset="-122"/>
                <a:cs typeface="Calibri" pitchFamily="34" charset="-120"/>
              </a:rPr>
              <a:t>Height: 35 ft max in all R districts · Front porch &amp; detached garage bonuses available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7A6B"/>
          </a:solidFill>
          <a:ln w="12700">
            <a:solidFill>
              <a:srgbClr val="1A7A6B"/>
            </a:solidFill>
            <a:prstDash val="solid"/>
          </a:ln>
        </p:spPr>
        <p:txBody>
          <a:bodyPr/>
          <a:lstStyle/>
          <a:p>
            <a:endParaRPr lang="en-US"/>
          </a:p>
        </p:txBody>
      </p:sp>
      <p:sp>
        <p:nvSpPr>
          <p:cNvPr id="3" name="Text 1"/>
          <p:cNvSpPr/>
          <p:nvPr/>
        </p:nvSpPr>
        <p:spPr>
          <a:xfrm>
            <a:off x="365760" y="45720"/>
            <a:ext cx="8412480" cy="548640"/>
          </a:xfrm>
          <a:prstGeom prst="rect">
            <a:avLst/>
          </a:prstGeom>
          <a:noFill/>
          <a:ln/>
        </p:spPr>
        <p:txBody>
          <a:bodyPr wrap="square"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Economic Logic: Why TDR Pricing Works</a:t>
            </a:r>
            <a:endParaRPr lang="en-US" sz="2600" dirty="0"/>
          </a:p>
        </p:txBody>
      </p:sp>
      <p:sp>
        <p:nvSpPr>
          <p:cNvPr id="4" name="Shape 2"/>
          <p:cNvSpPr/>
          <p:nvPr/>
        </p:nvSpPr>
        <p:spPr>
          <a:xfrm>
            <a:off x="365760" y="723452"/>
            <a:ext cx="109728" cy="1188720"/>
          </a:xfrm>
          <a:prstGeom prst="rect">
            <a:avLst/>
          </a:prstGeom>
          <a:solidFill>
            <a:srgbClr val="1B3A5C"/>
          </a:solidFill>
          <a:ln w="12700">
            <a:solidFill>
              <a:srgbClr val="1B3A5C"/>
            </a:solidFill>
            <a:prstDash val="solid"/>
          </a:ln>
        </p:spPr>
        <p:txBody>
          <a:bodyPr/>
          <a:lstStyle/>
          <a:p>
            <a:endParaRPr lang="en-US"/>
          </a:p>
        </p:txBody>
      </p:sp>
      <p:sp>
        <p:nvSpPr>
          <p:cNvPr id="5" name="Text 3"/>
          <p:cNvSpPr/>
          <p:nvPr/>
        </p:nvSpPr>
        <p:spPr>
          <a:xfrm>
            <a:off x="594360" y="731072"/>
            <a:ext cx="8046720" cy="365760"/>
          </a:xfrm>
          <a:prstGeom prst="rect">
            <a:avLst/>
          </a:prstGeom>
          <a:noFill/>
          <a:ln/>
        </p:spPr>
        <p:txBody>
          <a:bodyPr wrap="square" rtlCol="0" anchor="ctr"/>
          <a:lstStyle/>
          <a:p>
            <a:pPr marL="0" indent="0">
              <a:buNone/>
            </a:pPr>
            <a:r>
              <a:rPr lang="en-US" sz="1500" b="1" dirty="0">
                <a:solidFill>
                  <a:srgbClr val="1B3A5C"/>
                </a:solidFill>
                <a:latin typeface="Georgia" pitchFamily="34" charset="0"/>
                <a:ea typeface="Georgia" pitchFamily="34" charset="-122"/>
                <a:cs typeface="Georgia" pitchFamily="34" charset="-120"/>
              </a:rPr>
              <a:t>Sending Zone Value</a:t>
            </a:r>
            <a:endParaRPr lang="en-US" sz="1500" dirty="0"/>
          </a:p>
        </p:txBody>
      </p:sp>
      <p:sp>
        <p:nvSpPr>
          <p:cNvPr id="6" name="Text 4"/>
          <p:cNvSpPr/>
          <p:nvPr/>
        </p:nvSpPr>
        <p:spPr>
          <a:xfrm>
            <a:off x="594360" y="1081592"/>
            <a:ext cx="8046720" cy="777240"/>
          </a:xfrm>
          <a:prstGeom prst="rect">
            <a:avLst/>
          </a:prstGeom>
          <a:noFill/>
          <a:ln/>
        </p:spPr>
        <p:txBody>
          <a:bodyPr wrap="square" rtlCol="0" anchor="ctr"/>
          <a:lstStyle/>
          <a:p>
            <a:pPr marL="0" indent="0">
              <a:buNone/>
            </a:pPr>
            <a:r>
              <a:rPr lang="en-US" sz="1250" dirty="0">
                <a:solidFill>
                  <a:srgbClr val="2D2D2D"/>
                </a:solidFill>
                <a:latin typeface="Calibri" pitchFamily="34" charset="0"/>
                <a:ea typeface="Calibri" pitchFamily="34" charset="-122"/>
                <a:cs typeface="Calibri" pitchFamily="34" charset="-120"/>
              </a:rPr>
              <a:t>TDR credit price is anchored in the assessed value of the development rights being severed. Unused capacity = lot area × (max footprint % − current footprint %). Assessment data provides a market-derived basis, discounted to reflect permanence of severance.</a:t>
            </a:r>
            <a:endParaRPr lang="en-US" sz="1250" dirty="0"/>
          </a:p>
        </p:txBody>
      </p:sp>
      <p:sp>
        <p:nvSpPr>
          <p:cNvPr id="7" name="Shape 5"/>
          <p:cNvSpPr/>
          <p:nvPr/>
        </p:nvSpPr>
        <p:spPr>
          <a:xfrm>
            <a:off x="365760" y="2140772"/>
            <a:ext cx="109728" cy="1188720"/>
          </a:xfrm>
          <a:prstGeom prst="rect">
            <a:avLst/>
          </a:prstGeom>
          <a:solidFill>
            <a:srgbClr val="1A7A6B"/>
          </a:solidFill>
          <a:ln w="12700">
            <a:solidFill>
              <a:srgbClr val="1A7A6B"/>
            </a:solidFill>
            <a:prstDash val="solid"/>
          </a:ln>
        </p:spPr>
        <p:txBody>
          <a:bodyPr/>
          <a:lstStyle/>
          <a:p>
            <a:endParaRPr lang="en-US"/>
          </a:p>
        </p:txBody>
      </p:sp>
      <p:sp>
        <p:nvSpPr>
          <p:cNvPr id="8" name="Text 6"/>
          <p:cNvSpPr/>
          <p:nvPr/>
        </p:nvSpPr>
        <p:spPr>
          <a:xfrm>
            <a:off x="594360" y="2148392"/>
            <a:ext cx="8046720" cy="365760"/>
          </a:xfrm>
          <a:prstGeom prst="rect">
            <a:avLst/>
          </a:prstGeom>
          <a:noFill/>
          <a:ln/>
        </p:spPr>
        <p:txBody>
          <a:bodyPr wrap="square" rtlCol="0" anchor="ctr"/>
          <a:lstStyle/>
          <a:p>
            <a:pPr marL="0" indent="0">
              <a:buNone/>
            </a:pPr>
            <a:r>
              <a:rPr lang="en-US" sz="1500" b="1" dirty="0">
                <a:solidFill>
                  <a:srgbClr val="1A7A6B"/>
                </a:solidFill>
                <a:latin typeface="Georgia" pitchFamily="34" charset="0"/>
                <a:ea typeface="Georgia" pitchFamily="34" charset="-122"/>
                <a:cs typeface="Georgia" pitchFamily="34" charset="-120"/>
              </a:rPr>
              <a:t>Demand-Side Savings</a:t>
            </a:r>
            <a:endParaRPr lang="en-US" sz="1500" dirty="0"/>
          </a:p>
        </p:txBody>
      </p:sp>
      <p:sp>
        <p:nvSpPr>
          <p:cNvPr id="9" name="Text 7"/>
          <p:cNvSpPr/>
          <p:nvPr/>
        </p:nvSpPr>
        <p:spPr>
          <a:xfrm>
            <a:off x="594360" y="2498912"/>
            <a:ext cx="8046720" cy="777240"/>
          </a:xfrm>
          <a:prstGeom prst="rect">
            <a:avLst/>
          </a:prstGeom>
          <a:noFill/>
          <a:ln/>
        </p:spPr>
        <p:txBody>
          <a:bodyPr wrap="square" rtlCol="0" anchor="ctr"/>
          <a:lstStyle/>
          <a:p>
            <a:pPr marL="0" indent="0">
              <a:buNone/>
            </a:pPr>
            <a:r>
              <a:rPr lang="en-US" sz="1250" dirty="0">
                <a:solidFill>
                  <a:srgbClr val="2D2D2D"/>
                </a:solidFill>
                <a:latin typeface="Calibri" pitchFamily="34" charset="0"/>
                <a:ea typeface="Calibri" pitchFamily="34" charset="-122"/>
                <a:cs typeface="Calibri" pitchFamily="34" charset="-120"/>
              </a:rPr>
              <a:t>Developers benefit from by-right approval: No 12–24 month site plan, no community negotiation, lower uncertainty. The value of time savings and certainty sets an upper bound on what buyers will pay per credit.</a:t>
            </a:r>
            <a:endParaRPr lang="en-US" sz="1250" dirty="0"/>
          </a:p>
        </p:txBody>
      </p:sp>
      <p:sp>
        <p:nvSpPr>
          <p:cNvPr id="10" name="Shape 8"/>
          <p:cNvSpPr/>
          <p:nvPr/>
        </p:nvSpPr>
        <p:spPr>
          <a:xfrm>
            <a:off x="365760" y="3558092"/>
            <a:ext cx="109728" cy="1188720"/>
          </a:xfrm>
          <a:prstGeom prst="rect">
            <a:avLst/>
          </a:prstGeom>
          <a:solidFill>
            <a:srgbClr val="C8962E"/>
          </a:solidFill>
          <a:ln w="12700">
            <a:solidFill>
              <a:srgbClr val="C8962E"/>
            </a:solidFill>
            <a:prstDash val="solid"/>
          </a:ln>
        </p:spPr>
        <p:txBody>
          <a:bodyPr/>
          <a:lstStyle/>
          <a:p>
            <a:endParaRPr lang="en-US"/>
          </a:p>
        </p:txBody>
      </p:sp>
      <p:sp>
        <p:nvSpPr>
          <p:cNvPr id="11" name="Text 9"/>
          <p:cNvSpPr/>
          <p:nvPr/>
        </p:nvSpPr>
        <p:spPr>
          <a:xfrm>
            <a:off x="594360" y="3565712"/>
            <a:ext cx="8046720" cy="365760"/>
          </a:xfrm>
          <a:prstGeom prst="rect">
            <a:avLst/>
          </a:prstGeom>
          <a:noFill/>
          <a:ln/>
        </p:spPr>
        <p:txBody>
          <a:bodyPr wrap="square" rtlCol="0" anchor="ctr"/>
          <a:lstStyle/>
          <a:p>
            <a:pPr marL="0" indent="0">
              <a:buNone/>
            </a:pPr>
            <a:r>
              <a:rPr lang="en-US" sz="1500" b="1" dirty="0">
                <a:solidFill>
                  <a:srgbClr val="C8962E"/>
                </a:solidFill>
                <a:latin typeface="Georgia" pitchFamily="34" charset="0"/>
                <a:ea typeface="Georgia" pitchFamily="34" charset="-122"/>
                <a:cs typeface="Georgia" pitchFamily="34" charset="-120"/>
              </a:rPr>
              <a:t>Market Equilibrium</a:t>
            </a:r>
            <a:endParaRPr lang="en-US" sz="1500" dirty="0"/>
          </a:p>
        </p:txBody>
      </p:sp>
      <p:sp>
        <p:nvSpPr>
          <p:cNvPr id="12" name="Text 10"/>
          <p:cNvSpPr/>
          <p:nvPr/>
        </p:nvSpPr>
        <p:spPr>
          <a:xfrm>
            <a:off x="594360" y="3916232"/>
            <a:ext cx="8046720" cy="777240"/>
          </a:xfrm>
          <a:prstGeom prst="rect">
            <a:avLst/>
          </a:prstGeom>
          <a:noFill/>
          <a:ln/>
        </p:spPr>
        <p:txBody>
          <a:bodyPr wrap="square" rtlCol="0" anchor="ctr"/>
          <a:lstStyle/>
          <a:p>
            <a:pPr marL="0" indent="0">
              <a:buNone/>
            </a:pPr>
            <a:r>
              <a:rPr lang="en-US" sz="1250" dirty="0">
                <a:solidFill>
                  <a:srgbClr val="2D2D2D"/>
                </a:solidFill>
                <a:latin typeface="Calibri" pitchFamily="34" charset="0"/>
                <a:ea typeface="Calibri" pitchFamily="34" charset="-122"/>
                <a:cs typeface="Calibri" pitchFamily="34" charset="-120"/>
              </a:rPr>
              <a:t>TDR price clears between seller floor (assessed development value minus discount for permanence) and buyer ceiling (site plan savings). A TDR bank provides liquidity and price discovery when natural buyers and sellers don't meet simultaneously.</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HeaderBar"/>
          <p:cNvSpPr/>
          <p:nvPr/>
        </p:nvSpPr>
        <p:spPr>
          <a:xfrm>
            <a:off x="0" y="0"/>
            <a:ext cx="9144000" cy="635000"/>
          </a:xfrm>
          <a:prstGeom prst="rect">
            <a:avLst/>
          </a:prstGeom>
          <a:solidFill>
            <a:srgbClr val="1B3A5C"/>
          </a:solidFill>
          <a:ln>
            <a:noFill/>
          </a:ln>
        </p:spPr>
        <p:txBody>
          <a:bodyPr/>
          <a:lstStyle/>
          <a:p>
            <a:endParaRPr/>
          </a:p>
        </p:txBody>
      </p:sp>
      <p:sp>
        <p:nvSpPr>
          <p:cNvPr id="101" name="HeaderTitle"/>
          <p:cNvSpPr txBox="1"/>
          <p:nvPr/>
        </p:nvSpPr>
        <p:spPr>
          <a:xfrm>
            <a:off x="368300" y="63500"/>
            <a:ext cx="8407400" cy="508000"/>
          </a:xfrm>
          <a:prstGeom prst="rect">
            <a:avLst/>
          </a:prstGeom>
          <a:noFill/>
          <a:ln>
            <a:noFill/>
          </a:ln>
        </p:spPr>
        <p:txBody>
          <a:bodyPr wrap="square" lIns="0" tIns="0" rIns="0" bIns="0" anchor="ctr"/>
          <a:lstStyle/>
          <a:p>
            <a:pPr marL="0" indent="0">
              <a:buNone/>
            </a:pPr>
            <a:r>
              <a:rPr lang="en-US" sz="2400" b="1" dirty="0">
                <a:solidFill>
                  <a:srgbClr val="FFFFFF"/>
                </a:solidFill>
                <a:latin typeface="Georgia" pitchFamily="34" charset="0"/>
              </a:rPr>
              <a:t>What the Analysis Shows</a:t>
            </a:r>
          </a:p>
        </p:txBody>
      </p:sp>
      <p:sp>
        <p:nvSpPr>
          <p:cNvPr id="200" name="Card200"/>
          <p:cNvSpPr/>
          <p:nvPr/>
        </p:nvSpPr>
        <p:spPr>
          <a:xfrm>
            <a:off x="317500" y="825500"/>
            <a:ext cx="8509000" cy="1206500"/>
          </a:xfrm>
          <a:prstGeom prst="rect">
            <a:avLst/>
          </a:prstGeom>
          <a:solidFill>
            <a:srgbClr val="F0F7F5"/>
          </a:solidFill>
          <a:ln>
            <a:noFill/>
          </a:ln>
        </p:spPr>
        <p:txBody>
          <a:bodyPr/>
          <a:lstStyle/>
          <a:p>
            <a:endParaRPr/>
          </a:p>
        </p:txBody>
      </p:sp>
      <p:sp>
        <p:nvSpPr>
          <p:cNvPr id="201" name="Accent201"/>
          <p:cNvSpPr/>
          <p:nvPr/>
        </p:nvSpPr>
        <p:spPr>
          <a:xfrm>
            <a:off x="317500" y="825500"/>
            <a:ext cx="101600" cy="1206500"/>
          </a:xfrm>
          <a:prstGeom prst="rect">
            <a:avLst/>
          </a:prstGeom>
          <a:solidFill>
            <a:srgbClr val="1A7A6B"/>
          </a:solidFill>
          <a:ln>
            <a:noFill/>
          </a:ln>
        </p:spPr>
        <p:txBody>
          <a:bodyPr/>
          <a:lstStyle/>
          <a:p>
            <a:endParaRPr/>
          </a:p>
        </p:txBody>
      </p:sp>
      <p:sp>
        <p:nvSpPr>
          <p:cNvPr id="202" name="Heading202"/>
          <p:cNvSpPr txBox="1"/>
          <p:nvPr/>
        </p:nvSpPr>
        <p:spPr>
          <a:xfrm>
            <a:off x="596900" y="952500"/>
            <a:ext cx="8001000" cy="355600"/>
          </a:xfrm>
          <a:prstGeom prst="rect">
            <a:avLst/>
          </a:prstGeom>
          <a:noFill/>
          <a:ln>
            <a:noFill/>
          </a:ln>
        </p:spPr>
        <p:txBody>
          <a:bodyPr wrap="square" lIns="0" tIns="0" rIns="0" bIns="0"/>
          <a:lstStyle/>
          <a:p>
            <a:pPr marL="0" indent="0">
              <a:buNone/>
            </a:pPr>
            <a:r>
              <a:rPr lang="en-US" sz="1700" b="1" dirty="0">
                <a:solidFill>
                  <a:srgbClr val="1A7A6B"/>
                </a:solidFill>
                <a:latin typeface="Georgia" pitchFamily="34" charset="0"/>
              </a:rPr>
              <a:t>The Supply Is There</a:t>
            </a:r>
          </a:p>
        </p:txBody>
      </p:sp>
      <p:sp>
        <p:nvSpPr>
          <p:cNvPr id="203" name="Body203"/>
          <p:cNvSpPr txBox="1"/>
          <p:nvPr/>
        </p:nvSpPr>
        <p:spPr>
          <a:xfrm>
            <a:off x="596900" y="1358900"/>
            <a:ext cx="8001000" cy="635000"/>
          </a:xfrm>
          <a:prstGeom prst="rect">
            <a:avLst/>
          </a:prstGeom>
          <a:noFill/>
          <a:ln>
            <a:noFill/>
          </a:ln>
        </p:spPr>
        <p:txBody>
          <a:bodyPr wrap="square" lIns="0" tIns="0" rIns="0" bIns="0"/>
          <a:lstStyle/>
          <a:p>
            <a:pPr marL="0" indent="0">
              <a:buNone/>
            </a:pPr>
            <a:r>
              <a:rPr lang="en-US" sz="1400" dirty="0">
                <a:solidFill>
                  <a:srgbClr val="333333"/>
                </a:solidFill>
                <a:latin typeface="Calibri" pitchFamily="34" charset="0"/>
              </a:rPr>
              <a:t>22,565+ parcels analyzed county-wide. ~85% are underdeveloped under by-right zoning — consistent across all 50+ neighborhoods. ~75 million SF of unused floor area capacity exists today, well distributed across Arlington’s residential fabric.</a:t>
            </a:r>
          </a:p>
        </p:txBody>
      </p:sp>
      <p:sp>
        <p:nvSpPr>
          <p:cNvPr id="210" name="Card210"/>
          <p:cNvSpPr/>
          <p:nvPr/>
        </p:nvSpPr>
        <p:spPr>
          <a:xfrm>
            <a:off x="317500" y="2260600"/>
            <a:ext cx="8509000" cy="1206500"/>
          </a:xfrm>
          <a:prstGeom prst="rect">
            <a:avLst/>
          </a:prstGeom>
          <a:solidFill>
            <a:srgbClr val="EEF2F7"/>
          </a:solidFill>
          <a:ln>
            <a:noFill/>
          </a:ln>
        </p:spPr>
        <p:txBody>
          <a:bodyPr/>
          <a:lstStyle/>
          <a:p>
            <a:endParaRPr/>
          </a:p>
        </p:txBody>
      </p:sp>
      <p:sp>
        <p:nvSpPr>
          <p:cNvPr id="211" name="Accent211"/>
          <p:cNvSpPr/>
          <p:nvPr/>
        </p:nvSpPr>
        <p:spPr>
          <a:xfrm>
            <a:off x="317500" y="2260600"/>
            <a:ext cx="101600" cy="1206500"/>
          </a:xfrm>
          <a:prstGeom prst="rect">
            <a:avLst/>
          </a:prstGeom>
          <a:solidFill>
            <a:srgbClr val="1B3A5C"/>
          </a:solidFill>
          <a:ln>
            <a:noFill/>
          </a:ln>
        </p:spPr>
        <p:txBody>
          <a:bodyPr/>
          <a:lstStyle/>
          <a:p>
            <a:endParaRPr/>
          </a:p>
        </p:txBody>
      </p:sp>
      <p:sp>
        <p:nvSpPr>
          <p:cNvPr id="212" name="Heading212"/>
          <p:cNvSpPr txBox="1"/>
          <p:nvPr/>
        </p:nvSpPr>
        <p:spPr>
          <a:xfrm>
            <a:off x="596900" y="2387600"/>
            <a:ext cx="8001000" cy="355600"/>
          </a:xfrm>
          <a:prstGeom prst="rect">
            <a:avLst/>
          </a:prstGeom>
          <a:noFill/>
          <a:ln>
            <a:noFill/>
          </a:ln>
        </p:spPr>
        <p:txBody>
          <a:bodyPr wrap="square" lIns="0" tIns="0" rIns="0" bIns="0"/>
          <a:lstStyle/>
          <a:p>
            <a:pPr marL="0" indent="0">
              <a:buNone/>
            </a:pPr>
            <a:r>
              <a:rPr lang="en-US" sz="1700" b="1" dirty="0">
                <a:solidFill>
                  <a:srgbClr val="1B3A5C"/>
                </a:solidFill>
                <a:latin typeface="Georgia" pitchFamily="34" charset="0"/>
              </a:rPr>
              <a:t>The Value Is Real</a:t>
            </a:r>
          </a:p>
        </p:txBody>
      </p:sp>
      <p:sp>
        <p:nvSpPr>
          <p:cNvPr id="213" name="Body213"/>
          <p:cNvSpPr txBox="1"/>
          <p:nvPr/>
        </p:nvSpPr>
        <p:spPr>
          <a:xfrm>
            <a:off x="596900" y="2794000"/>
            <a:ext cx="8001000" cy="635000"/>
          </a:xfrm>
          <a:prstGeom prst="rect">
            <a:avLst/>
          </a:prstGeom>
          <a:noFill/>
          <a:ln>
            <a:noFill/>
          </a:ln>
        </p:spPr>
        <p:txBody>
          <a:bodyPr wrap="square" lIns="0" tIns="0" rIns="0" bIns="0"/>
          <a:lstStyle/>
          <a:p>
            <a:pPr marL="0" indent="0">
              <a:buNone/>
            </a:pPr>
            <a:r>
              <a:rPr lang="en-US" sz="1400" dirty="0">
                <a:solidFill>
                  <a:srgbClr val="333333"/>
                </a:solidFill>
                <a:latin typeface="Calibri" pitchFamily="34" charset="0"/>
              </a:rPr>
              <a:t>Aggregate estimated TDR value ranges from ~$6–8 billion (0.55–0.75 discount factor). Per-parcel values of $150K–$475K create genuine seller incentive. Assessed land data and neighborhood calibration rates provide a transparent, defensible valuation basis.</a:t>
            </a:r>
          </a:p>
        </p:txBody>
      </p:sp>
      <p:sp>
        <p:nvSpPr>
          <p:cNvPr id="220" name="Card220"/>
          <p:cNvSpPr/>
          <p:nvPr/>
        </p:nvSpPr>
        <p:spPr>
          <a:xfrm>
            <a:off x="317500" y="3695700"/>
            <a:ext cx="8509000" cy="1206500"/>
          </a:xfrm>
          <a:prstGeom prst="rect">
            <a:avLst/>
          </a:prstGeom>
          <a:solidFill>
            <a:srgbClr val="FDF5EE"/>
          </a:solidFill>
          <a:ln>
            <a:noFill/>
          </a:ln>
        </p:spPr>
        <p:txBody>
          <a:bodyPr/>
          <a:lstStyle/>
          <a:p>
            <a:endParaRPr/>
          </a:p>
        </p:txBody>
      </p:sp>
      <p:sp>
        <p:nvSpPr>
          <p:cNvPr id="221" name="Accent221"/>
          <p:cNvSpPr/>
          <p:nvPr/>
        </p:nvSpPr>
        <p:spPr>
          <a:xfrm>
            <a:off x="317500" y="3695700"/>
            <a:ext cx="101600" cy="1206500"/>
          </a:xfrm>
          <a:prstGeom prst="rect">
            <a:avLst/>
          </a:prstGeom>
          <a:solidFill>
            <a:srgbClr val="C8792A"/>
          </a:solidFill>
          <a:ln>
            <a:noFill/>
          </a:ln>
        </p:spPr>
        <p:txBody>
          <a:bodyPr/>
          <a:lstStyle/>
          <a:p>
            <a:endParaRPr/>
          </a:p>
        </p:txBody>
      </p:sp>
      <p:sp>
        <p:nvSpPr>
          <p:cNvPr id="222" name="Heading222"/>
          <p:cNvSpPr txBox="1"/>
          <p:nvPr/>
        </p:nvSpPr>
        <p:spPr>
          <a:xfrm>
            <a:off x="596900" y="3822700"/>
            <a:ext cx="8001000" cy="355600"/>
          </a:xfrm>
          <a:prstGeom prst="rect">
            <a:avLst/>
          </a:prstGeom>
          <a:noFill/>
          <a:ln>
            <a:noFill/>
          </a:ln>
        </p:spPr>
        <p:txBody>
          <a:bodyPr wrap="square" lIns="0" tIns="0" rIns="0" bIns="0"/>
          <a:lstStyle/>
          <a:p>
            <a:pPr marL="0" indent="0">
              <a:buNone/>
            </a:pPr>
            <a:r>
              <a:rPr lang="en-US" sz="1700" b="1" dirty="0">
                <a:solidFill>
                  <a:srgbClr val="C8792A"/>
                </a:solidFill>
                <a:latin typeface="Georgia" pitchFamily="34" charset="0"/>
              </a:rPr>
              <a:t>The Economics Work for Buyers</a:t>
            </a:r>
          </a:p>
        </p:txBody>
      </p:sp>
      <p:sp>
        <p:nvSpPr>
          <p:cNvPr id="223" name="Body223"/>
          <p:cNvSpPr txBox="1"/>
          <p:nvPr/>
        </p:nvSpPr>
        <p:spPr>
          <a:xfrm>
            <a:off x="596900" y="4229100"/>
            <a:ext cx="8001000" cy="635000"/>
          </a:xfrm>
          <a:prstGeom prst="rect">
            <a:avLst/>
          </a:prstGeom>
          <a:noFill/>
          <a:ln>
            <a:noFill/>
          </a:ln>
        </p:spPr>
        <p:txBody>
          <a:bodyPr wrap="square" lIns="0" tIns="0" rIns="0" bIns="0"/>
          <a:lstStyle/>
          <a:p>
            <a:pPr marL="0" indent="0">
              <a:buNone/>
            </a:pPr>
            <a:r>
              <a:rPr lang="en-US" sz="1400" dirty="0">
                <a:solidFill>
                  <a:srgbClr val="333333"/>
                </a:solidFill>
                <a:latin typeface="Calibri" pitchFamily="34" charset="0"/>
              </a:rPr>
              <a:t>TDR credits are an alternative the 12–24 month site plan process.  Market equilibrium exists between homeowner floor prices and developer ceiling — transactions can clear without subsidy.</a:t>
            </a:r>
          </a:p>
        </p:txBody>
      </p:sp>
    </p:spTree>
    <p:extLst>
      <p:ext uri="{BB962C8B-B14F-4D97-AF65-F5344CB8AC3E}">
        <p14:creationId xmlns:p14="http://schemas.microsoft.com/office/powerpoint/2010/main" val="31224321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
          <p:cNvSpPr/>
          <p:nvPr/>
        </p:nvSpPr>
        <p:spPr>
          <a:xfrm>
            <a:off x="0" y="0"/>
            <a:ext cx="9144000" cy="635000"/>
          </a:xfrm>
          <a:prstGeom prst="rect">
            <a:avLst/>
          </a:prstGeom>
          <a:solidFill>
            <a:srgbClr val="1B3A5C"/>
          </a:solidFill>
          <a:ln>
            <a:noFill/>
          </a:ln>
        </p:spPr>
        <p:txBody>
          <a:bodyPr/>
          <a:lstStyle/>
          <a:p>
            <a:endParaRPr/>
          </a:p>
        </p:txBody>
      </p:sp>
      <p:sp>
        <p:nvSpPr>
          <p:cNvPr id="3" name="Title"/>
          <p:cNvSpPr txBox="1"/>
          <p:nvPr/>
        </p:nvSpPr>
        <p:spPr>
          <a:xfrm>
            <a:off x="368300" y="63500"/>
            <a:ext cx="8407400" cy="508000"/>
          </a:xfrm>
          <a:prstGeom prst="rect">
            <a:avLst/>
          </a:prstGeom>
          <a:noFill/>
          <a:ln>
            <a:noFill/>
          </a:ln>
        </p:spPr>
        <p:txBody>
          <a:bodyPr wrap="square" lIns="0" tIns="0" rIns="0" bIns="0" anchor="ctr"/>
          <a:lstStyle/>
          <a:p>
            <a:pPr marL="0" indent="0">
              <a:buNone/>
            </a:pPr>
            <a:r>
              <a:rPr lang="en-US" sz="2400" b="1" dirty="0">
                <a:solidFill>
                  <a:srgbClr val="FFFFFF"/>
                </a:solidFill>
                <a:latin typeface="Georgia" pitchFamily="34" charset="0"/>
              </a:rPr>
              <a:t>The 4-Stage Analysis Pipeline</a:t>
            </a:r>
          </a:p>
        </p:txBody>
      </p:sp>
      <p:sp>
        <p:nvSpPr>
          <p:cNvPr id="10" name="Box10"/>
          <p:cNvSpPr/>
          <p:nvPr/>
        </p:nvSpPr>
        <p:spPr>
          <a:xfrm>
            <a:off x="368300" y="825500"/>
            <a:ext cx="1879600" cy="2921000"/>
          </a:xfrm>
          <a:prstGeom prst="rect">
            <a:avLst/>
          </a:prstGeom>
          <a:solidFill>
            <a:srgbClr val="F4F6F9"/>
          </a:solidFill>
          <a:ln>
            <a:noFill/>
          </a:ln>
        </p:spPr>
        <p:txBody>
          <a:bodyPr/>
          <a:lstStyle/>
          <a:p>
            <a:endParaRPr/>
          </a:p>
        </p:txBody>
      </p:sp>
      <p:sp>
        <p:nvSpPr>
          <p:cNvPr id="11" name="Top10"/>
          <p:cNvSpPr/>
          <p:nvPr/>
        </p:nvSpPr>
        <p:spPr>
          <a:xfrm>
            <a:off x="368300" y="825500"/>
            <a:ext cx="1879600" cy="101600"/>
          </a:xfrm>
          <a:prstGeom prst="rect">
            <a:avLst/>
          </a:prstGeom>
          <a:solidFill>
            <a:srgbClr val="1B3A5C"/>
          </a:solidFill>
          <a:ln>
            <a:noFill/>
          </a:ln>
        </p:spPr>
        <p:txBody>
          <a:bodyPr/>
          <a:lstStyle/>
          <a:p>
            <a:endParaRPr/>
          </a:p>
        </p:txBody>
      </p:sp>
      <p:sp>
        <p:nvSpPr>
          <p:cNvPr id="12" name="Num10"/>
          <p:cNvSpPr/>
          <p:nvPr/>
        </p:nvSpPr>
        <p:spPr>
          <a:xfrm>
            <a:off x="1028700" y="1054100"/>
            <a:ext cx="558800" cy="558800"/>
          </a:xfrm>
          <a:prstGeom prst="ellipse">
            <a:avLst/>
          </a:prstGeom>
          <a:solidFill>
            <a:srgbClr val="1B3A5C"/>
          </a:solidFill>
          <a:ln>
            <a:noFill/>
          </a:ln>
        </p:spPr>
        <p:txBody>
          <a:bodyPr anchor="ctr"/>
          <a:lstStyle/>
          <a:p>
            <a:pPr algn="ctr">
              <a:buNone/>
            </a:pPr>
            <a:r>
              <a:rPr lang="en-US" sz="2200" b="1" dirty="0">
                <a:solidFill>
                  <a:srgbClr val="FFFFFF"/>
                </a:solidFill>
                <a:latin typeface="Georgia"/>
              </a:rPr>
              <a:t>1</a:t>
            </a:r>
          </a:p>
        </p:txBody>
      </p:sp>
      <p:sp>
        <p:nvSpPr>
          <p:cNvPr id="13" name="Lbl10"/>
          <p:cNvSpPr txBox="1"/>
          <p:nvPr/>
        </p:nvSpPr>
        <p:spPr>
          <a:xfrm>
            <a:off x="469900" y="1739900"/>
            <a:ext cx="1676400" cy="558800"/>
          </a:xfrm>
          <a:prstGeom prst="rect">
            <a:avLst/>
          </a:prstGeom>
          <a:noFill/>
          <a:ln>
            <a:noFill/>
          </a:ln>
        </p:spPr>
        <p:txBody>
          <a:bodyPr wrap="square" lIns="0" tIns="0" rIns="0" bIns="0"/>
          <a:lstStyle/>
          <a:p>
            <a:pPr algn="ctr">
              <a:buNone/>
            </a:pPr>
            <a:r>
              <a:rPr lang="en-US" sz="1600" b="1" dirty="0">
                <a:solidFill>
                  <a:srgbClr val="1B3A5C"/>
                </a:solidFill>
                <a:latin typeface="Georgia"/>
              </a:rPr>
              <a:t>Development Potential</a:t>
            </a:r>
          </a:p>
        </p:txBody>
      </p:sp>
      <p:sp>
        <p:nvSpPr>
          <p:cNvPr id="14" name="Dsc10"/>
          <p:cNvSpPr txBox="1"/>
          <p:nvPr/>
        </p:nvSpPr>
        <p:spPr>
          <a:xfrm>
            <a:off x="469900" y="2400300"/>
            <a:ext cx="1676400" cy="1219200"/>
          </a:xfrm>
          <a:prstGeom prst="rect">
            <a:avLst/>
          </a:prstGeom>
          <a:noFill/>
          <a:ln>
            <a:noFill/>
          </a:ln>
        </p:spPr>
        <p:txBody>
          <a:bodyPr wrap="square" lIns="0" tIns="0" rIns="0" bIns="0"/>
          <a:lstStyle/>
          <a:p>
            <a:pPr algn="ctr">
              <a:buNone/>
            </a:pPr>
            <a:r>
              <a:rPr lang="en-US" sz="1300" dirty="0">
                <a:solidFill>
                  <a:srgbClr val="444444"/>
                </a:solidFill>
                <a:latin typeface="Calibri"/>
              </a:rPr>
              <a:t>Apply zoning rules to calculate maximum allowed GFA for each parcel</a:t>
            </a:r>
          </a:p>
        </p:txBody>
      </p:sp>
      <p:sp>
        <p:nvSpPr>
          <p:cNvPr id="15" name="Arr10"/>
          <p:cNvSpPr txBox="1"/>
          <p:nvPr/>
        </p:nvSpPr>
        <p:spPr>
          <a:xfrm>
            <a:off x="2260600" y="2095500"/>
            <a:ext cx="177800" cy="381000"/>
          </a:xfrm>
          <a:prstGeom prst="rect">
            <a:avLst/>
          </a:prstGeom>
          <a:noFill/>
          <a:ln>
            <a:noFill/>
          </a:ln>
        </p:spPr>
        <p:txBody>
          <a:bodyPr anchor="ctr"/>
          <a:lstStyle/>
          <a:p>
            <a:pPr algn="ctr">
              <a:buNone/>
            </a:pPr>
            <a:r>
              <a:rPr lang="en-US" sz="2000" b="1" dirty="0">
                <a:solidFill>
                  <a:srgbClr val="1A7A6B"/>
                </a:solidFill>
                <a:latin typeface="Calibri"/>
              </a:rPr>
              <a:t>→</a:t>
            </a:r>
          </a:p>
        </p:txBody>
      </p:sp>
      <p:sp>
        <p:nvSpPr>
          <p:cNvPr id="20" name="Box20"/>
          <p:cNvSpPr/>
          <p:nvPr/>
        </p:nvSpPr>
        <p:spPr>
          <a:xfrm>
            <a:off x="2438400" y="825500"/>
            <a:ext cx="1879600" cy="2921000"/>
          </a:xfrm>
          <a:prstGeom prst="rect">
            <a:avLst/>
          </a:prstGeom>
          <a:solidFill>
            <a:srgbClr val="F4F6F9"/>
          </a:solidFill>
          <a:ln>
            <a:noFill/>
          </a:ln>
        </p:spPr>
        <p:txBody>
          <a:bodyPr/>
          <a:lstStyle/>
          <a:p>
            <a:endParaRPr/>
          </a:p>
        </p:txBody>
      </p:sp>
      <p:sp>
        <p:nvSpPr>
          <p:cNvPr id="21" name="Top20"/>
          <p:cNvSpPr/>
          <p:nvPr/>
        </p:nvSpPr>
        <p:spPr>
          <a:xfrm>
            <a:off x="2438400" y="825500"/>
            <a:ext cx="1879600" cy="101600"/>
          </a:xfrm>
          <a:prstGeom prst="rect">
            <a:avLst/>
          </a:prstGeom>
          <a:solidFill>
            <a:srgbClr val="1A7A6B"/>
          </a:solidFill>
          <a:ln>
            <a:noFill/>
          </a:ln>
        </p:spPr>
        <p:txBody>
          <a:bodyPr/>
          <a:lstStyle/>
          <a:p>
            <a:endParaRPr/>
          </a:p>
        </p:txBody>
      </p:sp>
      <p:sp>
        <p:nvSpPr>
          <p:cNvPr id="22" name="Num20"/>
          <p:cNvSpPr/>
          <p:nvPr/>
        </p:nvSpPr>
        <p:spPr>
          <a:xfrm>
            <a:off x="3098800" y="1054100"/>
            <a:ext cx="558800" cy="558800"/>
          </a:xfrm>
          <a:prstGeom prst="ellipse">
            <a:avLst/>
          </a:prstGeom>
          <a:solidFill>
            <a:srgbClr val="1A7A6B"/>
          </a:solidFill>
          <a:ln>
            <a:noFill/>
          </a:ln>
        </p:spPr>
        <p:txBody>
          <a:bodyPr anchor="ctr"/>
          <a:lstStyle/>
          <a:p>
            <a:pPr algn="ctr">
              <a:buNone/>
            </a:pPr>
            <a:r>
              <a:rPr lang="en-US" sz="2200" b="1" dirty="0">
                <a:solidFill>
                  <a:srgbClr val="FFFFFF"/>
                </a:solidFill>
                <a:latin typeface="Georgia"/>
              </a:rPr>
              <a:t>2</a:t>
            </a:r>
          </a:p>
        </p:txBody>
      </p:sp>
      <p:sp>
        <p:nvSpPr>
          <p:cNvPr id="23" name="Lbl20"/>
          <p:cNvSpPr txBox="1"/>
          <p:nvPr/>
        </p:nvSpPr>
        <p:spPr>
          <a:xfrm>
            <a:off x="2540000" y="1739900"/>
            <a:ext cx="1676400" cy="558800"/>
          </a:xfrm>
          <a:prstGeom prst="rect">
            <a:avLst/>
          </a:prstGeom>
          <a:noFill/>
          <a:ln>
            <a:noFill/>
          </a:ln>
        </p:spPr>
        <p:txBody>
          <a:bodyPr wrap="square" lIns="0" tIns="0" rIns="0" bIns="0"/>
          <a:lstStyle/>
          <a:p>
            <a:pPr algn="ctr">
              <a:buNone/>
            </a:pPr>
            <a:r>
              <a:rPr lang="en-US" sz="1600" b="1" dirty="0">
                <a:solidFill>
                  <a:srgbClr val="1A7A6B"/>
                </a:solidFill>
                <a:latin typeface="Georgia"/>
              </a:rPr>
              <a:t>Current Built</a:t>
            </a:r>
          </a:p>
        </p:txBody>
      </p:sp>
      <p:sp>
        <p:nvSpPr>
          <p:cNvPr id="24" name="Dsc20"/>
          <p:cNvSpPr txBox="1"/>
          <p:nvPr/>
        </p:nvSpPr>
        <p:spPr>
          <a:xfrm>
            <a:off x="2540000" y="2400300"/>
            <a:ext cx="1676400" cy="1219200"/>
          </a:xfrm>
          <a:prstGeom prst="rect">
            <a:avLst/>
          </a:prstGeom>
          <a:noFill/>
          <a:ln>
            <a:noFill/>
          </a:ln>
        </p:spPr>
        <p:txBody>
          <a:bodyPr wrap="square" lIns="0" tIns="0" rIns="0" bIns="0"/>
          <a:lstStyle/>
          <a:p>
            <a:pPr algn="ctr">
              <a:buNone/>
            </a:pPr>
            <a:r>
              <a:rPr lang="en-US" sz="1300" dirty="0">
                <a:solidFill>
                  <a:srgbClr val="444444"/>
                </a:solidFill>
                <a:latin typeface="Calibri"/>
              </a:rPr>
              <a:t>Use assessment records to estimate actual current GFA</a:t>
            </a:r>
          </a:p>
        </p:txBody>
      </p:sp>
      <p:sp>
        <p:nvSpPr>
          <p:cNvPr id="25" name="Arr20"/>
          <p:cNvSpPr txBox="1"/>
          <p:nvPr/>
        </p:nvSpPr>
        <p:spPr>
          <a:xfrm>
            <a:off x="4330700" y="2095500"/>
            <a:ext cx="177800" cy="381000"/>
          </a:xfrm>
          <a:prstGeom prst="rect">
            <a:avLst/>
          </a:prstGeom>
          <a:noFill/>
          <a:ln>
            <a:noFill/>
          </a:ln>
        </p:spPr>
        <p:txBody>
          <a:bodyPr anchor="ctr"/>
          <a:lstStyle/>
          <a:p>
            <a:pPr algn="ctr">
              <a:buNone/>
            </a:pPr>
            <a:r>
              <a:rPr lang="en-US" sz="2000" b="1" dirty="0">
                <a:solidFill>
                  <a:srgbClr val="1A7A6B"/>
                </a:solidFill>
                <a:latin typeface="Calibri"/>
              </a:rPr>
              <a:t>→</a:t>
            </a:r>
          </a:p>
        </p:txBody>
      </p:sp>
      <p:sp>
        <p:nvSpPr>
          <p:cNvPr id="30" name="Box30"/>
          <p:cNvSpPr/>
          <p:nvPr/>
        </p:nvSpPr>
        <p:spPr>
          <a:xfrm>
            <a:off x="4508500" y="825500"/>
            <a:ext cx="1879600" cy="2921000"/>
          </a:xfrm>
          <a:prstGeom prst="rect">
            <a:avLst/>
          </a:prstGeom>
          <a:solidFill>
            <a:srgbClr val="F4F6F9"/>
          </a:solidFill>
          <a:ln>
            <a:noFill/>
          </a:ln>
        </p:spPr>
        <p:txBody>
          <a:bodyPr/>
          <a:lstStyle/>
          <a:p>
            <a:endParaRPr/>
          </a:p>
        </p:txBody>
      </p:sp>
      <p:sp>
        <p:nvSpPr>
          <p:cNvPr id="31" name="Top30"/>
          <p:cNvSpPr/>
          <p:nvPr/>
        </p:nvSpPr>
        <p:spPr>
          <a:xfrm>
            <a:off x="4508500" y="825500"/>
            <a:ext cx="1879600" cy="101600"/>
          </a:xfrm>
          <a:prstGeom prst="rect">
            <a:avLst/>
          </a:prstGeom>
          <a:solidFill>
            <a:srgbClr val="1B3A5C"/>
          </a:solidFill>
          <a:ln>
            <a:noFill/>
          </a:ln>
        </p:spPr>
        <p:txBody>
          <a:bodyPr/>
          <a:lstStyle/>
          <a:p>
            <a:endParaRPr/>
          </a:p>
        </p:txBody>
      </p:sp>
      <p:sp>
        <p:nvSpPr>
          <p:cNvPr id="32" name="Num30"/>
          <p:cNvSpPr/>
          <p:nvPr/>
        </p:nvSpPr>
        <p:spPr>
          <a:xfrm>
            <a:off x="5168900" y="1054100"/>
            <a:ext cx="558800" cy="558800"/>
          </a:xfrm>
          <a:prstGeom prst="ellipse">
            <a:avLst/>
          </a:prstGeom>
          <a:solidFill>
            <a:srgbClr val="1B3A5C"/>
          </a:solidFill>
          <a:ln>
            <a:noFill/>
          </a:ln>
        </p:spPr>
        <p:txBody>
          <a:bodyPr anchor="ctr"/>
          <a:lstStyle/>
          <a:p>
            <a:pPr algn="ctr">
              <a:buNone/>
            </a:pPr>
            <a:r>
              <a:rPr lang="en-US" sz="2200" b="1" dirty="0">
                <a:solidFill>
                  <a:srgbClr val="FFFFFF"/>
                </a:solidFill>
                <a:latin typeface="Georgia"/>
              </a:rPr>
              <a:t>3</a:t>
            </a:r>
          </a:p>
        </p:txBody>
      </p:sp>
      <p:sp>
        <p:nvSpPr>
          <p:cNvPr id="33" name="Lbl30"/>
          <p:cNvSpPr txBox="1"/>
          <p:nvPr/>
        </p:nvSpPr>
        <p:spPr>
          <a:xfrm>
            <a:off x="4610100" y="1739900"/>
            <a:ext cx="1676400" cy="558800"/>
          </a:xfrm>
          <a:prstGeom prst="rect">
            <a:avLst/>
          </a:prstGeom>
          <a:noFill/>
          <a:ln>
            <a:noFill/>
          </a:ln>
        </p:spPr>
        <p:txBody>
          <a:bodyPr wrap="square" lIns="0" tIns="0" rIns="0" bIns="0"/>
          <a:lstStyle/>
          <a:p>
            <a:pPr algn="ctr">
              <a:buNone/>
            </a:pPr>
            <a:r>
              <a:rPr lang="en-US" sz="1600" b="1" dirty="0">
                <a:solidFill>
                  <a:srgbClr val="1B3A5C"/>
                </a:solidFill>
                <a:latin typeface="Georgia"/>
              </a:rPr>
              <a:t>Available Rights</a:t>
            </a:r>
          </a:p>
        </p:txBody>
      </p:sp>
      <p:sp>
        <p:nvSpPr>
          <p:cNvPr id="34" name="Dsc30"/>
          <p:cNvSpPr txBox="1"/>
          <p:nvPr/>
        </p:nvSpPr>
        <p:spPr>
          <a:xfrm>
            <a:off x="4610100" y="2400300"/>
            <a:ext cx="1676400" cy="1219200"/>
          </a:xfrm>
          <a:prstGeom prst="rect">
            <a:avLst/>
          </a:prstGeom>
          <a:noFill/>
          <a:ln>
            <a:noFill/>
          </a:ln>
        </p:spPr>
        <p:txBody>
          <a:bodyPr wrap="square" lIns="0" tIns="0" rIns="0" bIns="0"/>
          <a:lstStyle/>
          <a:p>
            <a:pPr algn="ctr">
              <a:buNone/>
            </a:pPr>
            <a:r>
              <a:rPr lang="en-US" sz="1300" dirty="0">
                <a:solidFill>
                  <a:srgbClr val="444444"/>
                </a:solidFill>
                <a:latin typeface="Calibri"/>
              </a:rPr>
              <a:t>Compute unused capacity: Max GFA minus Current GFA</a:t>
            </a:r>
          </a:p>
        </p:txBody>
      </p:sp>
      <p:sp>
        <p:nvSpPr>
          <p:cNvPr id="35" name="Arr30"/>
          <p:cNvSpPr txBox="1"/>
          <p:nvPr/>
        </p:nvSpPr>
        <p:spPr>
          <a:xfrm>
            <a:off x="6400800" y="2095500"/>
            <a:ext cx="177800" cy="381000"/>
          </a:xfrm>
          <a:prstGeom prst="rect">
            <a:avLst/>
          </a:prstGeom>
          <a:noFill/>
          <a:ln>
            <a:noFill/>
          </a:ln>
        </p:spPr>
        <p:txBody>
          <a:bodyPr anchor="ctr"/>
          <a:lstStyle/>
          <a:p>
            <a:pPr algn="ctr">
              <a:buNone/>
            </a:pPr>
            <a:r>
              <a:rPr lang="en-US" sz="2000" b="1" dirty="0">
                <a:solidFill>
                  <a:srgbClr val="1A7A6B"/>
                </a:solidFill>
                <a:latin typeface="Calibri"/>
              </a:rPr>
              <a:t>→</a:t>
            </a:r>
          </a:p>
        </p:txBody>
      </p:sp>
      <p:sp>
        <p:nvSpPr>
          <p:cNvPr id="40" name="Box40"/>
          <p:cNvSpPr/>
          <p:nvPr/>
        </p:nvSpPr>
        <p:spPr>
          <a:xfrm>
            <a:off x="6578600" y="825500"/>
            <a:ext cx="1879600" cy="2921000"/>
          </a:xfrm>
          <a:prstGeom prst="rect">
            <a:avLst/>
          </a:prstGeom>
          <a:solidFill>
            <a:srgbClr val="F4F6F9"/>
          </a:solidFill>
          <a:ln>
            <a:noFill/>
          </a:ln>
        </p:spPr>
        <p:txBody>
          <a:bodyPr/>
          <a:lstStyle/>
          <a:p>
            <a:endParaRPr/>
          </a:p>
        </p:txBody>
      </p:sp>
      <p:sp>
        <p:nvSpPr>
          <p:cNvPr id="41" name="Top40"/>
          <p:cNvSpPr/>
          <p:nvPr/>
        </p:nvSpPr>
        <p:spPr>
          <a:xfrm>
            <a:off x="6578600" y="825500"/>
            <a:ext cx="1879600" cy="101600"/>
          </a:xfrm>
          <a:prstGeom prst="rect">
            <a:avLst/>
          </a:prstGeom>
          <a:solidFill>
            <a:srgbClr val="C8792A"/>
          </a:solidFill>
          <a:ln>
            <a:noFill/>
          </a:ln>
        </p:spPr>
        <p:txBody>
          <a:bodyPr/>
          <a:lstStyle/>
          <a:p>
            <a:endParaRPr/>
          </a:p>
        </p:txBody>
      </p:sp>
      <p:sp>
        <p:nvSpPr>
          <p:cNvPr id="42" name="Num40"/>
          <p:cNvSpPr/>
          <p:nvPr/>
        </p:nvSpPr>
        <p:spPr>
          <a:xfrm>
            <a:off x="7239000" y="1054100"/>
            <a:ext cx="558800" cy="558800"/>
          </a:xfrm>
          <a:prstGeom prst="ellipse">
            <a:avLst/>
          </a:prstGeom>
          <a:solidFill>
            <a:srgbClr val="C8792A"/>
          </a:solidFill>
          <a:ln>
            <a:noFill/>
          </a:ln>
        </p:spPr>
        <p:txBody>
          <a:bodyPr anchor="ctr"/>
          <a:lstStyle/>
          <a:p>
            <a:pPr algn="ctr">
              <a:buNone/>
            </a:pPr>
            <a:r>
              <a:rPr lang="en-US" sz="2200" b="1" dirty="0">
                <a:solidFill>
                  <a:srgbClr val="FFFFFF"/>
                </a:solidFill>
                <a:latin typeface="Georgia"/>
              </a:rPr>
              <a:t>4</a:t>
            </a:r>
          </a:p>
        </p:txBody>
      </p:sp>
      <p:sp>
        <p:nvSpPr>
          <p:cNvPr id="43" name="Lbl40"/>
          <p:cNvSpPr txBox="1"/>
          <p:nvPr/>
        </p:nvSpPr>
        <p:spPr>
          <a:xfrm>
            <a:off x="6680200" y="1739900"/>
            <a:ext cx="1676400" cy="558800"/>
          </a:xfrm>
          <a:prstGeom prst="rect">
            <a:avLst/>
          </a:prstGeom>
          <a:noFill/>
          <a:ln>
            <a:noFill/>
          </a:ln>
        </p:spPr>
        <p:txBody>
          <a:bodyPr wrap="square" lIns="0" tIns="0" rIns="0" bIns="0"/>
          <a:lstStyle/>
          <a:p>
            <a:pPr algn="ctr">
              <a:buNone/>
            </a:pPr>
            <a:r>
              <a:rPr lang="en-US" sz="1600" b="1" dirty="0">
                <a:solidFill>
                  <a:srgbClr val="C8792A"/>
                </a:solidFill>
                <a:latin typeface="Georgia"/>
              </a:rPr>
              <a:t>Valuation</a:t>
            </a:r>
          </a:p>
        </p:txBody>
      </p:sp>
      <p:sp>
        <p:nvSpPr>
          <p:cNvPr id="44" name="Dsc40"/>
          <p:cNvSpPr txBox="1"/>
          <p:nvPr/>
        </p:nvSpPr>
        <p:spPr>
          <a:xfrm>
            <a:off x="6680200" y="2400300"/>
            <a:ext cx="1676400" cy="1219200"/>
          </a:xfrm>
          <a:prstGeom prst="rect">
            <a:avLst/>
          </a:prstGeom>
          <a:noFill/>
          <a:ln>
            <a:noFill/>
          </a:ln>
        </p:spPr>
        <p:txBody>
          <a:bodyPr wrap="square" lIns="0" tIns="0" rIns="0" bIns="0"/>
          <a:lstStyle/>
          <a:p>
            <a:pPr algn="ctr">
              <a:buNone/>
            </a:pPr>
            <a:r>
              <a:rPr lang="en-US" sz="1300" dirty="0">
                <a:solidFill>
                  <a:srgbClr val="444444"/>
                </a:solidFill>
                <a:latin typeface="Calibri"/>
              </a:rPr>
              <a:t>Estimate market value of available rights (land residual method)</a:t>
            </a:r>
          </a:p>
        </p:txBody>
      </p:sp>
      <p:sp>
        <p:nvSpPr>
          <p:cNvPr id="60" name="Note"/>
          <p:cNvSpPr txBox="1"/>
          <p:nvPr/>
        </p:nvSpPr>
        <p:spPr>
          <a:xfrm>
            <a:off x="368300" y="3962400"/>
            <a:ext cx="8407400" cy="889000"/>
          </a:xfrm>
          <a:prstGeom prst="rect">
            <a:avLst/>
          </a:prstGeom>
          <a:solidFill>
            <a:srgbClr val="EEF2F7"/>
          </a:solidFill>
          <a:ln>
            <a:noFill/>
          </a:ln>
        </p:spPr>
        <p:txBody>
          <a:bodyPr wrap="square" lIns="91440" tIns="45720" rIns="91440" bIns="45720" anchor="ctr"/>
          <a:lstStyle/>
          <a:p>
            <a:pPr>
              <a:lnSpc>
                <a:spcPct val="150000"/>
              </a:lnSpc>
            </a:pPr>
            <a:r>
              <a:rPr lang="en-US" sz="1400" dirty="0">
                <a:solidFill>
                  <a:srgbClr val="1B3A5C"/>
                </a:solidFill>
              </a:rPr>
              <a:t>Project and supporting analysis is documented here: </a:t>
            </a:r>
            <a:r>
              <a:rPr lang="en-US" sz="1400" dirty="0">
                <a:solidFill>
                  <a:srgbClr val="1B3A5C"/>
                </a:solidFill>
                <a:hlinkClick r:id="rId3"/>
              </a:rPr>
              <a:t>https://github.com/joburke1/tdranalysis/</a:t>
            </a:r>
            <a:endParaRPr lang="en-US" sz="1400" dirty="0">
              <a:solidFill>
                <a:srgbClr val="1B3A5C"/>
              </a:solidFill>
            </a:endParaRPr>
          </a:p>
          <a:p>
            <a:pPr>
              <a:lnSpc>
                <a:spcPct val="150000"/>
              </a:lnSpc>
            </a:pPr>
            <a:r>
              <a:rPr lang="en-US" sz="1400" dirty="0">
                <a:solidFill>
                  <a:srgbClr val="333333"/>
                </a:solidFill>
              </a:rPr>
              <a:t>Output maps and summary statistics are hosted here: </a:t>
            </a:r>
            <a:r>
              <a:rPr lang="en-US" sz="1400" dirty="0">
                <a:solidFill>
                  <a:srgbClr val="333333"/>
                </a:solidFill>
                <a:hlinkClick r:id="rId4"/>
              </a:rPr>
              <a:t>https://joburke1.github.io/tdranalysis/</a:t>
            </a:r>
            <a:endParaRPr lang="en-US" sz="1400" dirty="0">
              <a:solidFill>
                <a:srgbClr val="1B3A5C"/>
              </a:solidFill>
            </a:endParaRPr>
          </a:p>
        </p:txBody>
      </p:sp>
    </p:spTree>
    <p:extLst>
      <p:ext uri="{BB962C8B-B14F-4D97-AF65-F5344CB8AC3E}">
        <p14:creationId xmlns:p14="http://schemas.microsoft.com/office/powerpoint/2010/main" val="826927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
          <p:cNvSpPr/>
          <p:nvPr/>
        </p:nvSpPr>
        <p:spPr>
          <a:xfrm>
            <a:off x="0" y="0"/>
            <a:ext cx="9144000" cy="635000"/>
          </a:xfrm>
          <a:prstGeom prst="rect">
            <a:avLst/>
          </a:prstGeom>
          <a:solidFill>
            <a:srgbClr val="1A7A6B"/>
          </a:solidFill>
          <a:ln>
            <a:noFill/>
          </a:ln>
        </p:spPr>
        <p:txBody>
          <a:bodyPr/>
          <a:lstStyle/>
          <a:p>
            <a:endParaRPr/>
          </a:p>
        </p:txBody>
      </p:sp>
      <p:sp>
        <p:nvSpPr>
          <p:cNvPr id="3" name="Title"/>
          <p:cNvSpPr txBox="1"/>
          <p:nvPr/>
        </p:nvSpPr>
        <p:spPr>
          <a:xfrm>
            <a:off x="368300" y="63500"/>
            <a:ext cx="8407400" cy="508000"/>
          </a:xfrm>
          <a:prstGeom prst="rect">
            <a:avLst/>
          </a:prstGeom>
          <a:noFill/>
          <a:ln>
            <a:noFill/>
          </a:ln>
        </p:spPr>
        <p:txBody>
          <a:bodyPr wrap="square" lIns="0" tIns="0" rIns="0" bIns="0" anchor="ctr"/>
          <a:lstStyle/>
          <a:p>
            <a:pPr marL="0" indent="0">
              <a:buNone/>
            </a:pPr>
            <a:r>
              <a:rPr lang="en-US" sz="2400" b="1" dirty="0">
                <a:solidFill>
                  <a:srgbClr val="FFFFFF"/>
                </a:solidFill>
                <a:latin typeface="Georgia" pitchFamily="34" charset="0"/>
              </a:rPr>
              <a:t>Data Sources</a:t>
            </a:r>
          </a:p>
        </p:txBody>
      </p:sp>
      <p:sp>
        <p:nvSpPr>
          <p:cNvPr id="10" name="Card10"/>
          <p:cNvSpPr/>
          <p:nvPr/>
        </p:nvSpPr>
        <p:spPr>
          <a:xfrm>
            <a:off x="368300" y="825500"/>
            <a:ext cx="2603500" cy="2032000"/>
          </a:xfrm>
          <a:prstGeom prst="rect">
            <a:avLst/>
          </a:prstGeom>
          <a:solidFill>
            <a:srgbClr val="F4F6F9"/>
          </a:solidFill>
          <a:ln>
            <a:noFill/>
          </a:ln>
        </p:spPr>
        <p:txBody>
          <a:bodyPr/>
          <a:lstStyle/>
          <a:p>
            <a:endParaRPr/>
          </a:p>
        </p:txBody>
      </p:sp>
      <p:sp>
        <p:nvSpPr>
          <p:cNvPr id="11" name="Top10"/>
          <p:cNvSpPr/>
          <p:nvPr/>
        </p:nvSpPr>
        <p:spPr>
          <a:xfrm>
            <a:off x="368300" y="825500"/>
            <a:ext cx="2603500" cy="76200"/>
          </a:xfrm>
          <a:prstGeom prst="rect">
            <a:avLst/>
          </a:prstGeom>
          <a:solidFill>
            <a:srgbClr val="1B3A5C"/>
          </a:solidFill>
          <a:ln>
            <a:noFill/>
          </a:ln>
        </p:spPr>
        <p:txBody>
          <a:bodyPr/>
          <a:lstStyle/>
          <a:p>
            <a:endParaRPr/>
          </a:p>
        </p:txBody>
      </p:sp>
      <p:sp>
        <p:nvSpPr>
          <p:cNvPr id="12" name="Lbl10"/>
          <p:cNvSpPr txBox="1"/>
          <p:nvPr/>
        </p:nvSpPr>
        <p:spPr>
          <a:xfrm>
            <a:off x="495300" y="1003300"/>
            <a:ext cx="2349500" cy="635000"/>
          </a:xfrm>
          <a:prstGeom prst="rect">
            <a:avLst/>
          </a:prstGeom>
          <a:noFill/>
          <a:ln>
            <a:noFill/>
          </a:ln>
        </p:spPr>
        <p:txBody>
          <a:bodyPr wrap="square" lIns="0" tIns="0" rIns="0" bIns="0"/>
          <a:lstStyle/>
          <a:p>
            <a:pPr marL="0" indent="0">
              <a:buNone/>
            </a:pPr>
            <a:r>
              <a:rPr lang="en-US" sz="1500" b="1" dirty="0">
                <a:solidFill>
                  <a:srgbClr val="1B3A5C"/>
                </a:solidFill>
                <a:latin typeface="Georgia" pitchFamily="34" charset="0"/>
              </a:rPr>
              <a:t>Arlington County Open Data Portal</a:t>
            </a:r>
          </a:p>
        </p:txBody>
      </p:sp>
      <p:sp>
        <p:nvSpPr>
          <p:cNvPr id="13" name="Desc10"/>
          <p:cNvSpPr txBox="1"/>
          <p:nvPr/>
        </p:nvSpPr>
        <p:spPr>
          <a:xfrm>
            <a:off x="495300" y="1739900"/>
            <a:ext cx="2349500" cy="1016000"/>
          </a:xfrm>
          <a:prstGeom prst="rect">
            <a:avLst/>
          </a:prstGeom>
          <a:noFill/>
          <a:ln>
            <a:noFill/>
          </a:ln>
        </p:spPr>
        <p:txBody>
          <a:bodyPr wrap="square" lIns="0" tIns="0" rIns="0" bIns="0"/>
          <a:lstStyle/>
          <a:p>
            <a:pPr marL="0" indent="0">
              <a:buNone/>
            </a:pPr>
            <a:r>
              <a:rPr lang="en-US" sz="1400" dirty="0">
                <a:solidFill>
                  <a:srgbClr val="444444"/>
                </a:solidFill>
                <a:latin typeface="Calibri"/>
              </a:rPr>
              <a:t>Parcel boundaries, zoning designations, land use classifications</a:t>
            </a:r>
          </a:p>
        </p:txBody>
      </p:sp>
      <p:sp>
        <p:nvSpPr>
          <p:cNvPr id="20" name="Card20"/>
          <p:cNvSpPr/>
          <p:nvPr/>
        </p:nvSpPr>
        <p:spPr>
          <a:xfrm>
            <a:off x="3276600" y="825500"/>
            <a:ext cx="2603500" cy="2032000"/>
          </a:xfrm>
          <a:prstGeom prst="rect">
            <a:avLst/>
          </a:prstGeom>
          <a:solidFill>
            <a:srgbClr val="F4F6F9"/>
          </a:solidFill>
          <a:ln>
            <a:noFill/>
          </a:ln>
        </p:spPr>
        <p:txBody>
          <a:bodyPr/>
          <a:lstStyle/>
          <a:p>
            <a:endParaRPr/>
          </a:p>
        </p:txBody>
      </p:sp>
      <p:sp>
        <p:nvSpPr>
          <p:cNvPr id="21" name="Top20"/>
          <p:cNvSpPr/>
          <p:nvPr/>
        </p:nvSpPr>
        <p:spPr>
          <a:xfrm>
            <a:off x="3276600" y="825500"/>
            <a:ext cx="2603500" cy="76200"/>
          </a:xfrm>
          <a:prstGeom prst="rect">
            <a:avLst/>
          </a:prstGeom>
          <a:solidFill>
            <a:srgbClr val="1A7A6B"/>
          </a:solidFill>
          <a:ln>
            <a:noFill/>
          </a:ln>
        </p:spPr>
        <p:txBody>
          <a:bodyPr/>
          <a:lstStyle/>
          <a:p>
            <a:endParaRPr/>
          </a:p>
        </p:txBody>
      </p:sp>
      <p:sp>
        <p:nvSpPr>
          <p:cNvPr id="22" name="Lbl20"/>
          <p:cNvSpPr txBox="1"/>
          <p:nvPr/>
        </p:nvSpPr>
        <p:spPr>
          <a:xfrm>
            <a:off x="3403600" y="1003300"/>
            <a:ext cx="2349500" cy="635000"/>
          </a:xfrm>
          <a:prstGeom prst="rect">
            <a:avLst/>
          </a:prstGeom>
          <a:noFill/>
          <a:ln>
            <a:noFill/>
          </a:ln>
        </p:spPr>
        <p:txBody>
          <a:bodyPr wrap="square" lIns="0" tIns="0" rIns="0" bIns="0"/>
          <a:lstStyle/>
          <a:p>
            <a:pPr marL="0" indent="0">
              <a:buNone/>
            </a:pPr>
            <a:r>
              <a:rPr lang="en-US" sz="1500" b="1" dirty="0">
                <a:solidFill>
                  <a:srgbClr val="1A7A6B"/>
                </a:solidFill>
                <a:latin typeface="Georgia" pitchFamily="34" charset="0"/>
              </a:rPr>
              <a:t>Arlington Datahub API</a:t>
            </a:r>
          </a:p>
        </p:txBody>
      </p:sp>
      <p:sp>
        <p:nvSpPr>
          <p:cNvPr id="23" name="Desc20"/>
          <p:cNvSpPr txBox="1"/>
          <p:nvPr/>
        </p:nvSpPr>
        <p:spPr>
          <a:xfrm>
            <a:off x="3403600" y="1739900"/>
            <a:ext cx="2349500" cy="1016000"/>
          </a:xfrm>
          <a:prstGeom prst="rect">
            <a:avLst/>
          </a:prstGeom>
          <a:noFill/>
          <a:ln>
            <a:noFill/>
          </a:ln>
        </p:spPr>
        <p:txBody>
          <a:bodyPr wrap="square" lIns="0" tIns="0" rIns="0" bIns="0"/>
          <a:lstStyle/>
          <a:p>
            <a:pPr marL="0" indent="0">
              <a:buNone/>
            </a:pPr>
            <a:r>
              <a:rPr lang="en-US" sz="1400" dirty="0">
                <a:solidFill>
                  <a:srgbClr val="444444"/>
                </a:solidFill>
                <a:latin typeface="Calibri"/>
              </a:rPr>
              <a:t>Property records, assessment values, improvement data per parcel</a:t>
            </a:r>
          </a:p>
        </p:txBody>
      </p:sp>
      <p:sp>
        <p:nvSpPr>
          <p:cNvPr id="30" name="Card30"/>
          <p:cNvSpPr/>
          <p:nvPr/>
        </p:nvSpPr>
        <p:spPr>
          <a:xfrm>
            <a:off x="6184900" y="825500"/>
            <a:ext cx="2590800" cy="2032000"/>
          </a:xfrm>
          <a:prstGeom prst="rect">
            <a:avLst/>
          </a:prstGeom>
          <a:solidFill>
            <a:srgbClr val="F4F6F9"/>
          </a:solidFill>
          <a:ln>
            <a:noFill/>
          </a:ln>
        </p:spPr>
        <p:txBody>
          <a:bodyPr/>
          <a:lstStyle/>
          <a:p>
            <a:endParaRPr/>
          </a:p>
        </p:txBody>
      </p:sp>
      <p:sp>
        <p:nvSpPr>
          <p:cNvPr id="31" name="Top30"/>
          <p:cNvSpPr/>
          <p:nvPr/>
        </p:nvSpPr>
        <p:spPr>
          <a:xfrm>
            <a:off x="6184900" y="825500"/>
            <a:ext cx="2590800" cy="76200"/>
          </a:xfrm>
          <a:prstGeom prst="rect">
            <a:avLst/>
          </a:prstGeom>
          <a:solidFill>
            <a:srgbClr val="C8792A"/>
          </a:solidFill>
          <a:ln>
            <a:noFill/>
          </a:ln>
        </p:spPr>
        <p:txBody>
          <a:bodyPr/>
          <a:lstStyle/>
          <a:p>
            <a:endParaRPr/>
          </a:p>
        </p:txBody>
      </p:sp>
      <p:sp>
        <p:nvSpPr>
          <p:cNvPr id="32" name="Lbl30"/>
          <p:cNvSpPr txBox="1"/>
          <p:nvPr/>
        </p:nvSpPr>
        <p:spPr>
          <a:xfrm>
            <a:off x="6311900" y="1003300"/>
            <a:ext cx="2336800" cy="635000"/>
          </a:xfrm>
          <a:prstGeom prst="rect">
            <a:avLst/>
          </a:prstGeom>
          <a:noFill/>
          <a:ln>
            <a:noFill/>
          </a:ln>
        </p:spPr>
        <p:txBody>
          <a:bodyPr wrap="square" lIns="0" tIns="0" rIns="0" bIns="0"/>
          <a:lstStyle/>
          <a:p>
            <a:pPr marL="0" indent="0">
              <a:buNone/>
            </a:pPr>
            <a:r>
              <a:rPr lang="en-US" sz="1500" b="1" dirty="0">
                <a:solidFill>
                  <a:srgbClr val="C8792A"/>
                </a:solidFill>
                <a:latin typeface="Georgia" pitchFamily="34" charset="0"/>
              </a:rPr>
              <a:t>County Zoning Ordinance</a:t>
            </a:r>
          </a:p>
        </p:txBody>
      </p:sp>
      <p:sp>
        <p:nvSpPr>
          <p:cNvPr id="33" name="Desc30"/>
          <p:cNvSpPr txBox="1"/>
          <p:nvPr/>
        </p:nvSpPr>
        <p:spPr>
          <a:xfrm>
            <a:off x="6311900" y="1739900"/>
            <a:ext cx="2336800" cy="1016000"/>
          </a:xfrm>
          <a:prstGeom prst="rect">
            <a:avLst/>
          </a:prstGeom>
          <a:noFill/>
          <a:ln>
            <a:noFill/>
          </a:ln>
        </p:spPr>
        <p:txBody>
          <a:bodyPr wrap="square" lIns="0" tIns="0" rIns="0" bIns="0"/>
          <a:lstStyle/>
          <a:p>
            <a:pPr marL="0" indent="0">
              <a:buNone/>
            </a:pPr>
            <a:r>
              <a:rPr lang="en-US" sz="1400" dirty="0">
                <a:solidFill>
                  <a:srgbClr val="444444"/>
                </a:solidFill>
                <a:latin typeface="Calibri"/>
              </a:rPr>
              <a:t>R-5, R-6, R-8, R-10, R-20 district rules — footprint %, height, GFA (eff. 10/1/2025)</a:t>
            </a:r>
          </a:p>
        </p:txBody>
      </p:sp>
      <p:sp>
        <p:nvSpPr>
          <p:cNvPr id="50" name="ScopeBar"/>
          <p:cNvSpPr/>
          <p:nvPr/>
        </p:nvSpPr>
        <p:spPr>
          <a:xfrm>
            <a:off x="368300" y="3175000"/>
            <a:ext cx="8407400" cy="635000"/>
          </a:xfrm>
          <a:prstGeom prst="rect">
            <a:avLst/>
          </a:prstGeom>
          <a:solidFill>
            <a:srgbClr val="1B3A5C"/>
          </a:solidFill>
          <a:ln>
            <a:noFill/>
          </a:ln>
        </p:spPr>
        <p:txBody>
          <a:bodyPr/>
          <a:lstStyle/>
          <a:p>
            <a:endParaRPr/>
          </a:p>
        </p:txBody>
      </p:sp>
      <p:sp>
        <p:nvSpPr>
          <p:cNvPr id="51" name="ScopeTxt"/>
          <p:cNvSpPr txBox="1"/>
          <p:nvPr/>
        </p:nvSpPr>
        <p:spPr>
          <a:xfrm>
            <a:off x="508000" y="3276600"/>
            <a:ext cx="8128000" cy="444500"/>
          </a:xfrm>
          <a:prstGeom prst="rect">
            <a:avLst/>
          </a:prstGeom>
          <a:noFill/>
          <a:ln>
            <a:noFill/>
          </a:ln>
        </p:spPr>
        <p:txBody>
          <a:bodyPr wrap="square" lIns="0" tIns="0" rIns="0" bIns="0" anchor="ctr"/>
          <a:lstStyle/>
          <a:p>
            <a:pPr marL="0" indent="0" algn="ctr">
              <a:buNone/>
            </a:pPr>
            <a:r>
              <a:rPr lang="en-US" sz="1500" b="1" dirty="0">
                <a:solidFill>
                  <a:srgbClr val="FFFFFF"/>
                </a:solidFill>
                <a:latin typeface="Calibri"/>
              </a:rPr>
              <a:t>Analysis Scope: 50+ residential neighborhoods  |  22,565+ parcels  |  All R-district properties</a:t>
            </a:r>
          </a:p>
        </p:txBody>
      </p:sp>
      <p:sp>
        <p:nvSpPr>
          <p:cNvPr id="52" name="Note"/>
          <p:cNvSpPr txBox="1"/>
          <p:nvPr/>
        </p:nvSpPr>
        <p:spPr>
          <a:xfrm>
            <a:off x="368300" y="4000500"/>
            <a:ext cx="8407400" cy="825500"/>
          </a:xfrm>
          <a:prstGeom prst="rect">
            <a:avLst/>
          </a:prstGeom>
          <a:solidFill>
            <a:srgbClr val="F0F7F5"/>
          </a:solidFill>
          <a:ln>
            <a:noFill/>
          </a:ln>
        </p:spPr>
        <p:txBody>
          <a:bodyPr wrap="square" lIns="91440" tIns="45720" rIns="91440" bIns="45720"/>
          <a:lstStyle/>
          <a:p>
            <a:pPr marL="0" indent="0">
              <a:buNone/>
            </a:pPr>
            <a:r>
              <a:rPr lang="en-US" sz="1300" i="1" dirty="0">
                <a:solidFill>
                  <a:srgbClr val="1A7A6B"/>
                </a:solidFill>
                <a:latin typeface="Calibri"/>
              </a:rPr>
              <a:t>Policy tool only — not a permit guide or appraisal. All figures are by-right zoning estimates based on county assessment records.</a:t>
            </a:r>
          </a:p>
        </p:txBody>
      </p:sp>
    </p:spTree>
    <p:extLst>
      <p:ext uri="{BB962C8B-B14F-4D97-AF65-F5344CB8AC3E}">
        <p14:creationId xmlns:p14="http://schemas.microsoft.com/office/powerpoint/2010/main" val="3642017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
          <p:cNvSpPr/>
          <p:nvPr/>
        </p:nvSpPr>
        <p:spPr>
          <a:xfrm>
            <a:off x="0" y="0"/>
            <a:ext cx="9144000" cy="635000"/>
          </a:xfrm>
          <a:prstGeom prst="rect">
            <a:avLst/>
          </a:prstGeom>
          <a:solidFill>
            <a:srgbClr val="1A7A6B"/>
          </a:solidFill>
          <a:ln>
            <a:noFill/>
          </a:ln>
        </p:spPr>
        <p:txBody>
          <a:bodyPr/>
          <a:lstStyle/>
          <a:p>
            <a:endParaRPr/>
          </a:p>
        </p:txBody>
      </p:sp>
      <p:sp>
        <p:nvSpPr>
          <p:cNvPr id="3" name="Title"/>
          <p:cNvSpPr txBox="1"/>
          <p:nvPr/>
        </p:nvSpPr>
        <p:spPr>
          <a:xfrm>
            <a:off x="368300" y="63500"/>
            <a:ext cx="8407400" cy="508000"/>
          </a:xfrm>
          <a:prstGeom prst="rect">
            <a:avLst/>
          </a:prstGeom>
          <a:noFill/>
          <a:ln>
            <a:noFill/>
          </a:ln>
        </p:spPr>
        <p:txBody>
          <a:bodyPr wrap="square" lIns="0" tIns="0" rIns="0" bIns="0" anchor="ctr"/>
          <a:lstStyle/>
          <a:p>
            <a:pPr marL="0" indent="0">
              <a:buNone/>
            </a:pPr>
            <a:r>
              <a:rPr lang="en-US" sz="2000" b="1" dirty="0">
                <a:solidFill>
                  <a:srgbClr val="FFFFFF"/>
                </a:solidFill>
                <a:latin typeface="Georgia" pitchFamily="34" charset="0"/>
              </a:rPr>
              <a:t>Stage 1 — Development Potential</a:t>
            </a:r>
          </a:p>
        </p:txBody>
      </p:sp>
      <p:sp>
        <p:nvSpPr>
          <p:cNvPr id="4" name="Sub"/>
          <p:cNvSpPr txBox="1"/>
          <p:nvPr/>
        </p:nvSpPr>
        <p:spPr>
          <a:xfrm>
            <a:off x="368300" y="698500"/>
            <a:ext cx="8407400" cy="279400"/>
          </a:xfrm>
          <a:prstGeom prst="rect">
            <a:avLst/>
          </a:prstGeom>
          <a:noFill/>
          <a:ln>
            <a:noFill/>
          </a:ln>
        </p:spPr>
        <p:txBody>
          <a:bodyPr wrap="square" lIns="0" tIns="0" rIns="0" bIns="0" anchor="ctr"/>
          <a:lstStyle/>
          <a:p>
            <a:pPr marL="0" indent="0">
              <a:buNone/>
            </a:pPr>
            <a:r>
              <a:rPr lang="en-US" sz="1400" i="1" dirty="0">
                <a:solidFill>
                  <a:srgbClr val="1A7A6B"/>
                </a:solidFill>
                <a:latin typeface="Calibri"/>
              </a:rPr>
              <a:t>Zoning rules translated into maximum gross floor area per parcel</a:t>
            </a:r>
          </a:p>
        </p:txBody>
      </p:sp>
      <p:sp>
        <p:nvSpPr>
          <p:cNvPr id="5" name="Left"/>
          <p:cNvSpPr/>
          <p:nvPr/>
        </p:nvSpPr>
        <p:spPr>
          <a:xfrm>
            <a:off x="317500" y="1079500"/>
            <a:ext cx="4191000" cy="3746500"/>
          </a:xfrm>
          <a:prstGeom prst="rect">
            <a:avLst/>
          </a:prstGeom>
          <a:solidFill>
            <a:srgbClr val="F4F6F9"/>
          </a:solidFill>
          <a:ln>
            <a:noFill/>
          </a:ln>
        </p:spPr>
        <p:txBody>
          <a:bodyPr/>
          <a:lstStyle/>
          <a:p>
            <a:endParaRPr/>
          </a:p>
        </p:txBody>
      </p:sp>
      <p:sp>
        <p:nvSpPr>
          <p:cNvPr id="6" name="LHdr"/>
          <p:cNvSpPr txBox="1"/>
          <p:nvPr/>
        </p:nvSpPr>
        <p:spPr>
          <a:xfrm>
            <a:off x="444500" y="1168400"/>
            <a:ext cx="3937000" cy="355600"/>
          </a:xfrm>
          <a:prstGeom prst="rect">
            <a:avLst/>
          </a:prstGeom>
          <a:noFill/>
          <a:ln>
            <a:noFill/>
          </a:ln>
        </p:spPr>
        <p:txBody>
          <a:bodyPr wrap="square" lIns="0" tIns="0" rIns="0" bIns="0"/>
          <a:lstStyle/>
          <a:p>
            <a:pPr marL="0" indent="0">
              <a:buNone/>
            </a:pPr>
            <a:r>
              <a:rPr lang="en-US" sz="1600" b="1" dirty="0">
                <a:solidFill>
                  <a:srgbClr val="1A7A6B"/>
                </a:solidFill>
                <a:latin typeface="Georgia"/>
              </a:rPr>
              <a:t>How It Works</a:t>
            </a:r>
          </a:p>
        </p:txBody>
      </p:sp>
      <p:sp>
        <p:nvSpPr>
          <p:cNvPr id="7" name="Method"/>
          <p:cNvSpPr txBox="1"/>
          <p:nvPr/>
        </p:nvSpPr>
        <p:spPr>
          <a:xfrm>
            <a:off x="444500" y="1600200"/>
            <a:ext cx="3937000" cy="3111500"/>
          </a:xfrm>
          <a:prstGeom prst="rect">
            <a:avLst/>
          </a:prstGeom>
          <a:noFill/>
          <a:ln>
            <a:noFill/>
          </a:ln>
        </p:spPr>
        <p:txBody>
          <a:bodyPr wrap="square" lIns="0" tIns="0" rIns="0" bIns="0"/>
          <a:lstStyle/>
          <a:p>
            <a:pPr marL="228600" indent="-228600">
              <a:buFont typeface="Arial"/>
              <a:buChar char="•"/>
            </a:pPr>
            <a:r>
              <a:rPr lang="en-US" sz="1400" b="1" dirty="0">
                <a:solidFill>
                  <a:srgbClr val="1B3A5C"/>
                </a:solidFill>
                <a:latin typeface="Calibri"/>
              </a:rPr>
              <a:t>Three constraints applied simultaneously to each parcel:</a:t>
            </a:r>
          </a:p>
          <a:p>
            <a:pPr marL="228600" indent="-228600">
              <a:buFont typeface="Arial"/>
              <a:buChar char="•"/>
            </a:pPr>
            <a:r>
              <a:rPr lang="en-US" sz="1400" dirty="0">
                <a:solidFill>
                  <a:srgbClr val="444444"/>
                </a:solidFill>
                <a:latin typeface="Calibri"/>
              </a:rPr>
              <a:t>Max footprint = min(lot area × footprint %, district cap in SF)</a:t>
            </a:r>
          </a:p>
          <a:p>
            <a:pPr marL="228600" indent="-228600">
              <a:buFont typeface="Arial"/>
              <a:buChar char="•"/>
            </a:pPr>
            <a:r>
              <a:rPr lang="en-US" sz="1400" dirty="0">
                <a:solidFill>
                  <a:srgbClr val="444444"/>
                </a:solidFill>
                <a:latin typeface="Calibri"/>
              </a:rPr>
              <a:t>Height factor = stories allowed by district (2.5× for R-5 through R-20)</a:t>
            </a:r>
          </a:p>
          <a:p>
            <a:pPr marL="228600" indent="-228600">
              <a:buFont typeface="Arial"/>
              <a:buChar char="•"/>
            </a:pPr>
            <a:r>
              <a:rPr lang="en-US" sz="1400" dirty="0">
                <a:solidFill>
                  <a:srgbClr val="444444"/>
                </a:solidFill>
                <a:latin typeface="Calibri"/>
              </a:rPr>
              <a:t>Max GFA = max footprint × height factor</a:t>
            </a:r>
          </a:p>
          <a:p>
            <a:pPr marL="228600" indent="-228600">
              <a:buFont typeface="Arial"/>
              <a:buChar char="•"/>
            </a:pPr>
            <a:r>
              <a:rPr lang="en-US" sz="1400" dirty="0">
                <a:solidFill>
                  <a:srgbClr val="444444"/>
                </a:solidFill>
                <a:latin typeface="Calibri"/>
              </a:rPr>
              <a:t>Lot coverage check applied independently</a:t>
            </a:r>
          </a:p>
          <a:p>
            <a:pPr marL="228600" indent="-228600">
              <a:buFont typeface="Arial"/>
              <a:buChar char="•"/>
            </a:pPr>
            <a:r>
              <a:rPr lang="en-US" sz="1400" dirty="0">
                <a:solidFill>
                  <a:srgbClr val="444444"/>
                </a:solidFill>
                <a:latin typeface="Calibri"/>
              </a:rPr>
              <a:t>Strictest constraint determines final max GFA</a:t>
            </a:r>
          </a:p>
        </p:txBody>
      </p:sp>
      <p:sp>
        <p:nvSpPr>
          <p:cNvPr id="8" name="Right"/>
          <p:cNvSpPr/>
          <p:nvPr/>
        </p:nvSpPr>
        <p:spPr>
          <a:xfrm>
            <a:off x="4660900" y="1079500"/>
            <a:ext cx="4165600" cy="3746500"/>
          </a:xfrm>
          <a:prstGeom prst="rect">
            <a:avLst/>
          </a:prstGeom>
          <a:solidFill>
            <a:srgbClr val="F4F6F9"/>
          </a:solidFill>
          <a:ln>
            <a:noFill/>
          </a:ln>
        </p:spPr>
        <p:txBody>
          <a:bodyPr/>
          <a:lstStyle/>
          <a:p>
            <a:endParaRPr/>
          </a:p>
        </p:txBody>
      </p:sp>
      <p:sp>
        <p:nvSpPr>
          <p:cNvPr id="9" name="TblHdr"/>
          <p:cNvSpPr/>
          <p:nvPr/>
        </p:nvSpPr>
        <p:spPr>
          <a:xfrm>
            <a:off x="4660900" y="1079500"/>
            <a:ext cx="4165600" cy="355600"/>
          </a:xfrm>
          <a:prstGeom prst="rect">
            <a:avLst/>
          </a:prstGeom>
          <a:solidFill>
            <a:srgbClr val="1B3A5C"/>
          </a:solidFill>
          <a:ln>
            <a:noFill/>
          </a:ln>
        </p:spPr>
        <p:txBody>
          <a:bodyPr anchor="ctr"/>
          <a:lstStyle/>
          <a:p>
            <a:pPr algn="ctr">
              <a:buNone/>
            </a:pPr>
            <a:r>
              <a:rPr lang="en-US" sz="1500" b="1" dirty="0">
                <a:solidFill>
                  <a:srgbClr val="FFFFFF"/>
                </a:solidFill>
                <a:latin typeface="Calibri"/>
              </a:rPr>
              <a:t>Limits by R-District</a:t>
            </a:r>
          </a:p>
        </p:txBody>
      </p:sp>
      <p:sp>
        <p:nvSpPr>
          <p:cNvPr id="100" name="CH0"/>
          <p:cNvSpPr txBox="1"/>
          <p:nvPr/>
        </p:nvSpPr>
        <p:spPr>
          <a:xfrm>
            <a:off x="4762500" y="1498600"/>
            <a:ext cx="533400" cy="381000"/>
          </a:xfrm>
          <a:prstGeom prst="rect">
            <a:avLst/>
          </a:prstGeom>
          <a:solidFill>
            <a:srgbClr val="1A7A6B"/>
          </a:solidFill>
          <a:ln>
            <a:noFill/>
          </a:ln>
        </p:spPr>
        <p:txBody>
          <a:bodyPr lIns="36000" rIns="36000" anchor="ctr"/>
          <a:lstStyle/>
          <a:p>
            <a:pPr algn="ctr">
              <a:buNone/>
            </a:pPr>
            <a:r>
              <a:rPr lang="en-US" sz="1200" b="1" dirty="0">
                <a:solidFill>
                  <a:srgbClr val="FFFFFF"/>
                </a:solidFill>
                <a:latin typeface="Calibri"/>
              </a:rPr>
              <a:t>District</a:t>
            </a:r>
          </a:p>
        </p:txBody>
      </p:sp>
      <p:sp>
        <p:nvSpPr>
          <p:cNvPr id="101" name="CH1"/>
          <p:cNvSpPr txBox="1"/>
          <p:nvPr/>
        </p:nvSpPr>
        <p:spPr>
          <a:xfrm>
            <a:off x="5295900" y="1498600"/>
            <a:ext cx="736600" cy="381000"/>
          </a:xfrm>
          <a:prstGeom prst="rect">
            <a:avLst/>
          </a:prstGeom>
          <a:solidFill>
            <a:srgbClr val="1A7A6B"/>
          </a:solidFill>
          <a:ln>
            <a:noFill/>
          </a:ln>
        </p:spPr>
        <p:txBody>
          <a:bodyPr lIns="36000" rIns="36000" anchor="ctr"/>
          <a:lstStyle/>
          <a:p>
            <a:pPr algn="ctr">
              <a:buNone/>
            </a:pPr>
            <a:r>
              <a:rPr lang="en-US" sz="1200" b="1" dirty="0">
                <a:solidFill>
                  <a:srgbClr val="FFFFFF"/>
                </a:solidFill>
                <a:latin typeface="Calibri"/>
              </a:rPr>
              <a:t>Min Lot</a:t>
            </a:r>
          </a:p>
        </p:txBody>
      </p:sp>
      <p:sp>
        <p:nvSpPr>
          <p:cNvPr id="102" name="CH2"/>
          <p:cNvSpPr txBox="1"/>
          <p:nvPr/>
        </p:nvSpPr>
        <p:spPr>
          <a:xfrm>
            <a:off x="6032500" y="1498600"/>
            <a:ext cx="1727200" cy="381000"/>
          </a:xfrm>
          <a:prstGeom prst="rect">
            <a:avLst/>
          </a:prstGeom>
          <a:solidFill>
            <a:srgbClr val="1A7A6B"/>
          </a:solidFill>
          <a:ln>
            <a:noFill/>
          </a:ln>
        </p:spPr>
        <p:txBody>
          <a:bodyPr lIns="36000" rIns="36000" anchor="ctr"/>
          <a:lstStyle/>
          <a:p>
            <a:pPr algn="ctr">
              <a:buNone/>
            </a:pPr>
            <a:r>
              <a:rPr lang="en-US" sz="1200" b="1" dirty="0">
                <a:solidFill>
                  <a:srgbClr val="FFFFFF"/>
                </a:solidFill>
                <a:latin typeface="Calibri"/>
              </a:rPr>
              <a:t>Max Footprint</a:t>
            </a:r>
          </a:p>
        </p:txBody>
      </p:sp>
      <p:sp>
        <p:nvSpPr>
          <p:cNvPr id="103" name="CH3"/>
          <p:cNvSpPr txBox="1"/>
          <p:nvPr/>
        </p:nvSpPr>
        <p:spPr>
          <a:xfrm>
            <a:off x="7759700" y="1498600"/>
            <a:ext cx="812800" cy="381000"/>
          </a:xfrm>
          <a:prstGeom prst="rect">
            <a:avLst/>
          </a:prstGeom>
          <a:solidFill>
            <a:srgbClr val="1A7A6B"/>
          </a:solidFill>
          <a:ln>
            <a:noFill/>
          </a:ln>
        </p:spPr>
        <p:txBody>
          <a:bodyPr lIns="36000" rIns="36000" anchor="ctr"/>
          <a:lstStyle/>
          <a:p>
            <a:pPr algn="ctr">
              <a:buNone/>
            </a:pPr>
            <a:r>
              <a:rPr lang="en-US" sz="1200" b="1" dirty="0">
                <a:solidFill>
                  <a:srgbClr val="FFFFFF"/>
                </a:solidFill>
                <a:latin typeface="Calibri"/>
              </a:rPr>
              <a:t>Height Factor</a:t>
            </a:r>
          </a:p>
        </p:txBody>
      </p:sp>
      <p:sp>
        <p:nvSpPr>
          <p:cNvPr id="110" name="R0C0"/>
          <p:cNvSpPr txBox="1"/>
          <p:nvPr/>
        </p:nvSpPr>
        <p:spPr>
          <a:xfrm>
            <a:off x="4762500" y="1879600"/>
            <a:ext cx="533400" cy="482600"/>
          </a:xfrm>
          <a:prstGeom prst="rect">
            <a:avLst/>
          </a:prstGeom>
          <a:solidFill>
            <a:srgbClr val="FFFFFF"/>
          </a:solidFill>
          <a:ln>
            <a:noFill/>
          </a:ln>
        </p:spPr>
        <p:txBody>
          <a:bodyPr lIns="36000" rIns="36000" anchor="ctr"/>
          <a:lstStyle/>
          <a:p>
            <a:pPr algn="ctr">
              <a:buNone/>
            </a:pPr>
            <a:r>
              <a:rPr lang="en-US" sz="1300" b="1" dirty="0">
                <a:solidFill>
                  <a:srgbClr val="1B3A5C"/>
                </a:solidFill>
                <a:latin typeface="Calibri"/>
              </a:rPr>
              <a:t>R-5</a:t>
            </a:r>
          </a:p>
        </p:txBody>
      </p:sp>
      <p:sp>
        <p:nvSpPr>
          <p:cNvPr id="111" name="R0C1"/>
          <p:cNvSpPr txBox="1"/>
          <p:nvPr/>
        </p:nvSpPr>
        <p:spPr>
          <a:xfrm>
            <a:off x="5295900" y="1879600"/>
            <a:ext cx="736600" cy="482600"/>
          </a:xfrm>
          <a:prstGeom prst="rect">
            <a:avLst/>
          </a:prstGeom>
          <a:solidFill>
            <a:srgbClr val="FFFFFF"/>
          </a:solidFill>
          <a:ln>
            <a:noFill/>
          </a:ln>
        </p:spPr>
        <p:txBody>
          <a:bodyPr lIns="36000" rIns="36000" anchor="ctr"/>
          <a:lstStyle/>
          <a:p>
            <a:pPr algn="ctr">
              <a:buNone/>
            </a:pPr>
            <a:r>
              <a:rPr lang="en-US" sz="1300" dirty="0">
                <a:solidFill>
                  <a:srgbClr val="333333"/>
                </a:solidFill>
                <a:latin typeface="Calibri"/>
              </a:rPr>
              <a:t>5,000 SF</a:t>
            </a:r>
          </a:p>
        </p:txBody>
      </p:sp>
      <p:sp>
        <p:nvSpPr>
          <p:cNvPr id="112" name="R0C2"/>
          <p:cNvSpPr txBox="1"/>
          <p:nvPr/>
        </p:nvSpPr>
        <p:spPr>
          <a:xfrm>
            <a:off x="6032500" y="1879600"/>
            <a:ext cx="1727200" cy="482600"/>
          </a:xfrm>
          <a:prstGeom prst="rect">
            <a:avLst/>
          </a:prstGeom>
          <a:solidFill>
            <a:srgbClr val="FFFFFF"/>
          </a:solidFill>
          <a:ln>
            <a:noFill/>
          </a:ln>
        </p:spPr>
        <p:txBody>
          <a:bodyPr lIns="36000" rIns="36000" anchor="ctr"/>
          <a:lstStyle/>
          <a:p>
            <a:pPr algn="ctr">
              <a:buNone/>
            </a:pPr>
            <a:r>
              <a:rPr lang="en-US" sz="1300" dirty="0">
                <a:solidFill>
                  <a:srgbClr val="333333"/>
                </a:solidFill>
                <a:latin typeface="Calibri"/>
              </a:rPr>
              <a:t>30% / 2,100 SF cap</a:t>
            </a:r>
          </a:p>
        </p:txBody>
      </p:sp>
      <p:sp>
        <p:nvSpPr>
          <p:cNvPr id="113" name="R0C3"/>
          <p:cNvSpPr txBox="1"/>
          <p:nvPr/>
        </p:nvSpPr>
        <p:spPr>
          <a:xfrm>
            <a:off x="7759700" y="1879600"/>
            <a:ext cx="812800" cy="482600"/>
          </a:xfrm>
          <a:prstGeom prst="rect">
            <a:avLst/>
          </a:prstGeom>
          <a:solidFill>
            <a:srgbClr val="FFFFFF"/>
          </a:solidFill>
          <a:ln>
            <a:noFill/>
          </a:ln>
        </p:spPr>
        <p:txBody>
          <a:bodyPr lIns="36000" rIns="36000" anchor="ctr"/>
          <a:lstStyle/>
          <a:p>
            <a:pPr algn="ctr">
              <a:buNone/>
            </a:pPr>
            <a:r>
              <a:rPr lang="en-US" sz="1300" dirty="0">
                <a:solidFill>
                  <a:srgbClr val="333333"/>
                </a:solidFill>
                <a:latin typeface="Calibri"/>
              </a:rPr>
              <a:t>2.5×</a:t>
            </a:r>
          </a:p>
        </p:txBody>
      </p:sp>
      <p:sp>
        <p:nvSpPr>
          <p:cNvPr id="114" name="R1C0"/>
          <p:cNvSpPr txBox="1"/>
          <p:nvPr/>
        </p:nvSpPr>
        <p:spPr>
          <a:xfrm>
            <a:off x="4762500" y="2362200"/>
            <a:ext cx="533400" cy="482600"/>
          </a:xfrm>
          <a:prstGeom prst="rect">
            <a:avLst/>
          </a:prstGeom>
          <a:solidFill>
            <a:srgbClr val="EEF2F7"/>
          </a:solidFill>
          <a:ln>
            <a:noFill/>
          </a:ln>
        </p:spPr>
        <p:txBody>
          <a:bodyPr lIns="36000" rIns="36000" anchor="ctr"/>
          <a:lstStyle/>
          <a:p>
            <a:pPr algn="ctr">
              <a:buNone/>
            </a:pPr>
            <a:r>
              <a:rPr lang="en-US" sz="1300" b="1" dirty="0">
                <a:solidFill>
                  <a:srgbClr val="1B3A5C"/>
                </a:solidFill>
                <a:latin typeface="Calibri"/>
              </a:rPr>
              <a:t>R-6</a:t>
            </a:r>
          </a:p>
        </p:txBody>
      </p:sp>
      <p:sp>
        <p:nvSpPr>
          <p:cNvPr id="115" name="R1C1"/>
          <p:cNvSpPr txBox="1"/>
          <p:nvPr/>
        </p:nvSpPr>
        <p:spPr>
          <a:xfrm>
            <a:off x="5295900" y="2362200"/>
            <a:ext cx="736600" cy="482600"/>
          </a:xfrm>
          <a:prstGeom prst="rect">
            <a:avLst/>
          </a:prstGeom>
          <a:solidFill>
            <a:srgbClr val="EEF2F7"/>
          </a:solidFill>
          <a:ln>
            <a:noFill/>
          </a:ln>
        </p:spPr>
        <p:txBody>
          <a:bodyPr lIns="36000" rIns="36000" anchor="ctr"/>
          <a:lstStyle/>
          <a:p>
            <a:pPr algn="ctr">
              <a:buNone/>
            </a:pPr>
            <a:r>
              <a:rPr lang="en-US" sz="1300" dirty="0">
                <a:solidFill>
                  <a:srgbClr val="333333"/>
                </a:solidFill>
                <a:latin typeface="Calibri"/>
              </a:rPr>
              <a:t>6,000 SF</a:t>
            </a:r>
          </a:p>
        </p:txBody>
      </p:sp>
      <p:sp>
        <p:nvSpPr>
          <p:cNvPr id="116" name="R1C2"/>
          <p:cNvSpPr txBox="1"/>
          <p:nvPr/>
        </p:nvSpPr>
        <p:spPr>
          <a:xfrm>
            <a:off x="6032500" y="2362200"/>
            <a:ext cx="1727200" cy="482600"/>
          </a:xfrm>
          <a:prstGeom prst="rect">
            <a:avLst/>
          </a:prstGeom>
          <a:solidFill>
            <a:srgbClr val="EEF2F7"/>
          </a:solidFill>
          <a:ln>
            <a:noFill/>
          </a:ln>
        </p:spPr>
        <p:txBody>
          <a:bodyPr lIns="36000" rIns="36000" anchor="ctr"/>
          <a:lstStyle/>
          <a:p>
            <a:pPr algn="ctr">
              <a:buNone/>
            </a:pPr>
            <a:r>
              <a:rPr lang="en-US" sz="1300" dirty="0">
                <a:solidFill>
                  <a:srgbClr val="333333"/>
                </a:solidFill>
                <a:latin typeface="Calibri"/>
              </a:rPr>
              <a:t>30% / 2,520 SF cap</a:t>
            </a:r>
          </a:p>
        </p:txBody>
      </p:sp>
      <p:sp>
        <p:nvSpPr>
          <p:cNvPr id="117" name="R1C3"/>
          <p:cNvSpPr txBox="1"/>
          <p:nvPr/>
        </p:nvSpPr>
        <p:spPr>
          <a:xfrm>
            <a:off x="7759700" y="2362200"/>
            <a:ext cx="812800" cy="482600"/>
          </a:xfrm>
          <a:prstGeom prst="rect">
            <a:avLst/>
          </a:prstGeom>
          <a:solidFill>
            <a:srgbClr val="EEF2F7"/>
          </a:solidFill>
          <a:ln>
            <a:noFill/>
          </a:ln>
        </p:spPr>
        <p:txBody>
          <a:bodyPr lIns="36000" rIns="36000" anchor="ctr"/>
          <a:lstStyle/>
          <a:p>
            <a:pPr algn="ctr">
              <a:buNone/>
            </a:pPr>
            <a:r>
              <a:rPr lang="en-US" sz="1300" dirty="0">
                <a:solidFill>
                  <a:srgbClr val="333333"/>
                </a:solidFill>
                <a:latin typeface="Calibri"/>
              </a:rPr>
              <a:t>2.5×</a:t>
            </a:r>
          </a:p>
        </p:txBody>
      </p:sp>
      <p:sp>
        <p:nvSpPr>
          <p:cNvPr id="118" name="R2C0"/>
          <p:cNvSpPr txBox="1"/>
          <p:nvPr/>
        </p:nvSpPr>
        <p:spPr>
          <a:xfrm>
            <a:off x="4762500" y="2844800"/>
            <a:ext cx="533400" cy="482600"/>
          </a:xfrm>
          <a:prstGeom prst="rect">
            <a:avLst/>
          </a:prstGeom>
          <a:solidFill>
            <a:srgbClr val="FFFFFF"/>
          </a:solidFill>
          <a:ln>
            <a:noFill/>
          </a:ln>
        </p:spPr>
        <p:txBody>
          <a:bodyPr lIns="36000" rIns="36000" anchor="ctr"/>
          <a:lstStyle/>
          <a:p>
            <a:pPr algn="ctr">
              <a:buNone/>
            </a:pPr>
            <a:r>
              <a:rPr lang="en-US" sz="1300" b="1" dirty="0">
                <a:solidFill>
                  <a:srgbClr val="1B3A5C"/>
                </a:solidFill>
                <a:latin typeface="Calibri"/>
              </a:rPr>
              <a:t>R-8</a:t>
            </a:r>
          </a:p>
        </p:txBody>
      </p:sp>
      <p:sp>
        <p:nvSpPr>
          <p:cNvPr id="119" name="R2C1"/>
          <p:cNvSpPr txBox="1"/>
          <p:nvPr/>
        </p:nvSpPr>
        <p:spPr>
          <a:xfrm>
            <a:off x="5295900" y="2844800"/>
            <a:ext cx="736600" cy="482600"/>
          </a:xfrm>
          <a:prstGeom prst="rect">
            <a:avLst/>
          </a:prstGeom>
          <a:solidFill>
            <a:srgbClr val="FFFFFF"/>
          </a:solidFill>
          <a:ln>
            <a:noFill/>
          </a:ln>
        </p:spPr>
        <p:txBody>
          <a:bodyPr lIns="36000" rIns="36000" anchor="ctr"/>
          <a:lstStyle/>
          <a:p>
            <a:pPr algn="ctr">
              <a:buNone/>
            </a:pPr>
            <a:r>
              <a:rPr lang="en-US" sz="1300" dirty="0">
                <a:solidFill>
                  <a:srgbClr val="333333"/>
                </a:solidFill>
                <a:latin typeface="Calibri"/>
              </a:rPr>
              <a:t>8,000 SF</a:t>
            </a:r>
          </a:p>
        </p:txBody>
      </p:sp>
      <p:sp>
        <p:nvSpPr>
          <p:cNvPr id="120" name="R2C2"/>
          <p:cNvSpPr txBox="1"/>
          <p:nvPr/>
        </p:nvSpPr>
        <p:spPr>
          <a:xfrm>
            <a:off x="6032500" y="2844800"/>
            <a:ext cx="1727200" cy="482600"/>
          </a:xfrm>
          <a:prstGeom prst="rect">
            <a:avLst/>
          </a:prstGeom>
          <a:solidFill>
            <a:srgbClr val="FFFFFF"/>
          </a:solidFill>
          <a:ln>
            <a:noFill/>
          </a:ln>
        </p:spPr>
        <p:txBody>
          <a:bodyPr lIns="36000" rIns="36000" anchor="ctr"/>
          <a:lstStyle/>
          <a:p>
            <a:pPr algn="ctr">
              <a:buNone/>
            </a:pPr>
            <a:r>
              <a:rPr lang="en-US" sz="1300" dirty="0">
                <a:solidFill>
                  <a:srgbClr val="333333"/>
                </a:solidFill>
                <a:latin typeface="Calibri"/>
              </a:rPr>
              <a:t>25% / 2,800 SF cap</a:t>
            </a:r>
          </a:p>
        </p:txBody>
      </p:sp>
      <p:sp>
        <p:nvSpPr>
          <p:cNvPr id="121" name="R2C3"/>
          <p:cNvSpPr txBox="1"/>
          <p:nvPr/>
        </p:nvSpPr>
        <p:spPr>
          <a:xfrm>
            <a:off x="7759700" y="2844800"/>
            <a:ext cx="812800" cy="482600"/>
          </a:xfrm>
          <a:prstGeom prst="rect">
            <a:avLst/>
          </a:prstGeom>
          <a:solidFill>
            <a:srgbClr val="FFFFFF"/>
          </a:solidFill>
          <a:ln>
            <a:noFill/>
          </a:ln>
        </p:spPr>
        <p:txBody>
          <a:bodyPr lIns="36000" rIns="36000" anchor="ctr"/>
          <a:lstStyle/>
          <a:p>
            <a:pPr algn="ctr">
              <a:buNone/>
            </a:pPr>
            <a:r>
              <a:rPr lang="en-US" sz="1300" dirty="0">
                <a:solidFill>
                  <a:srgbClr val="333333"/>
                </a:solidFill>
                <a:latin typeface="Calibri"/>
              </a:rPr>
              <a:t>2.5×</a:t>
            </a:r>
          </a:p>
        </p:txBody>
      </p:sp>
      <p:sp>
        <p:nvSpPr>
          <p:cNvPr id="122" name="R3C0"/>
          <p:cNvSpPr txBox="1"/>
          <p:nvPr/>
        </p:nvSpPr>
        <p:spPr>
          <a:xfrm>
            <a:off x="4762500" y="3327400"/>
            <a:ext cx="533400" cy="482600"/>
          </a:xfrm>
          <a:prstGeom prst="rect">
            <a:avLst/>
          </a:prstGeom>
          <a:solidFill>
            <a:srgbClr val="EEF2F7"/>
          </a:solidFill>
          <a:ln>
            <a:noFill/>
          </a:ln>
        </p:spPr>
        <p:txBody>
          <a:bodyPr lIns="36000" rIns="36000" anchor="ctr"/>
          <a:lstStyle/>
          <a:p>
            <a:pPr algn="ctr">
              <a:buNone/>
            </a:pPr>
            <a:r>
              <a:rPr lang="en-US" sz="1300" b="1" dirty="0">
                <a:solidFill>
                  <a:srgbClr val="1B3A5C"/>
                </a:solidFill>
                <a:latin typeface="Calibri"/>
              </a:rPr>
              <a:t>R-10</a:t>
            </a:r>
          </a:p>
        </p:txBody>
      </p:sp>
      <p:sp>
        <p:nvSpPr>
          <p:cNvPr id="123" name="R3C1"/>
          <p:cNvSpPr txBox="1"/>
          <p:nvPr/>
        </p:nvSpPr>
        <p:spPr>
          <a:xfrm>
            <a:off x="5295900" y="3327400"/>
            <a:ext cx="736600" cy="482600"/>
          </a:xfrm>
          <a:prstGeom prst="rect">
            <a:avLst/>
          </a:prstGeom>
          <a:solidFill>
            <a:srgbClr val="EEF2F7"/>
          </a:solidFill>
          <a:ln>
            <a:noFill/>
          </a:ln>
        </p:spPr>
        <p:txBody>
          <a:bodyPr lIns="36000" rIns="36000" anchor="ctr"/>
          <a:lstStyle/>
          <a:p>
            <a:pPr algn="ctr">
              <a:buNone/>
            </a:pPr>
            <a:r>
              <a:rPr lang="en-US" sz="1300" dirty="0">
                <a:solidFill>
                  <a:srgbClr val="333333"/>
                </a:solidFill>
                <a:latin typeface="Calibri"/>
              </a:rPr>
              <a:t>10,000 SF</a:t>
            </a:r>
          </a:p>
        </p:txBody>
      </p:sp>
      <p:sp>
        <p:nvSpPr>
          <p:cNvPr id="124" name="R3C2"/>
          <p:cNvSpPr txBox="1"/>
          <p:nvPr/>
        </p:nvSpPr>
        <p:spPr>
          <a:xfrm>
            <a:off x="6032500" y="3327400"/>
            <a:ext cx="1727200" cy="482600"/>
          </a:xfrm>
          <a:prstGeom prst="rect">
            <a:avLst/>
          </a:prstGeom>
          <a:solidFill>
            <a:srgbClr val="EEF2F7"/>
          </a:solidFill>
          <a:ln>
            <a:noFill/>
          </a:ln>
        </p:spPr>
        <p:txBody>
          <a:bodyPr lIns="36000" rIns="36000" anchor="ctr"/>
          <a:lstStyle/>
          <a:p>
            <a:pPr algn="ctr">
              <a:buNone/>
            </a:pPr>
            <a:r>
              <a:rPr lang="en-US" sz="1300" dirty="0">
                <a:solidFill>
                  <a:srgbClr val="333333"/>
                </a:solidFill>
                <a:latin typeface="Calibri"/>
              </a:rPr>
              <a:t>20% / 2,800 SF cap</a:t>
            </a:r>
          </a:p>
        </p:txBody>
      </p:sp>
      <p:sp>
        <p:nvSpPr>
          <p:cNvPr id="125" name="R3C3"/>
          <p:cNvSpPr txBox="1"/>
          <p:nvPr/>
        </p:nvSpPr>
        <p:spPr>
          <a:xfrm>
            <a:off x="7759700" y="3327400"/>
            <a:ext cx="812800" cy="482600"/>
          </a:xfrm>
          <a:prstGeom prst="rect">
            <a:avLst/>
          </a:prstGeom>
          <a:solidFill>
            <a:srgbClr val="EEF2F7"/>
          </a:solidFill>
          <a:ln>
            <a:noFill/>
          </a:ln>
        </p:spPr>
        <p:txBody>
          <a:bodyPr lIns="36000" rIns="36000" anchor="ctr"/>
          <a:lstStyle/>
          <a:p>
            <a:pPr algn="ctr">
              <a:buNone/>
            </a:pPr>
            <a:r>
              <a:rPr lang="en-US" sz="1300" dirty="0">
                <a:solidFill>
                  <a:srgbClr val="333333"/>
                </a:solidFill>
                <a:latin typeface="Calibri"/>
              </a:rPr>
              <a:t>2.5×</a:t>
            </a:r>
          </a:p>
        </p:txBody>
      </p:sp>
      <p:sp>
        <p:nvSpPr>
          <p:cNvPr id="126" name="R4C0"/>
          <p:cNvSpPr txBox="1"/>
          <p:nvPr/>
        </p:nvSpPr>
        <p:spPr>
          <a:xfrm>
            <a:off x="4762500" y="3810000"/>
            <a:ext cx="533400" cy="482600"/>
          </a:xfrm>
          <a:prstGeom prst="rect">
            <a:avLst/>
          </a:prstGeom>
          <a:solidFill>
            <a:srgbClr val="FFFFFF"/>
          </a:solidFill>
          <a:ln>
            <a:noFill/>
          </a:ln>
        </p:spPr>
        <p:txBody>
          <a:bodyPr lIns="36000" rIns="36000" anchor="ctr"/>
          <a:lstStyle/>
          <a:p>
            <a:pPr algn="ctr">
              <a:buNone/>
            </a:pPr>
            <a:r>
              <a:rPr lang="en-US" sz="1300" b="1" dirty="0">
                <a:solidFill>
                  <a:srgbClr val="1B3A5C"/>
                </a:solidFill>
                <a:latin typeface="Calibri"/>
              </a:rPr>
              <a:t>R-20</a:t>
            </a:r>
          </a:p>
        </p:txBody>
      </p:sp>
      <p:sp>
        <p:nvSpPr>
          <p:cNvPr id="127" name="R4C1"/>
          <p:cNvSpPr txBox="1"/>
          <p:nvPr/>
        </p:nvSpPr>
        <p:spPr>
          <a:xfrm>
            <a:off x="5295900" y="3810000"/>
            <a:ext cx="736600" cy="482600"/>
          </a:xfrm>
          <a:prstGeom prst="rect">
            <a:avLst/>
          </a:prstGeom>
          <a:solidFill>
            <a:srgbClr val="FFFFFF"/>
          </a:solidFill>
          <a:ln>
            <a:noFill/>
          </a:ln>
        </p:spPr>
        <p:txBody>
          <a:bodyPr lIns="36000" rIns="36000" anchor="ctr"/>
          <a:lstStyle/>
          <a:p>
            <a:pPr algn="ctr">
              <a:buNone/>
            </a:pPr>
            <a:r>
              <a:rPr lang="en-US" sz="1300" dirty="0">
                <a:solidFill>
                  <a:srgbClr val="333333"/>
                </a:solidFill>
                <a:latin typeface="Calibri"/>
              </a:rPr>
              <a:t>20,000 SF</a:t>
            </a:r>
          </a:p>
        </p:txBody>
      </p:sp>
      <p:sp>
        <p:nvSpPr>
          <p:cNvPr id="128" name="R4C2"/>
          <p:cNvSpPr txBox="1"/>
          <p:nvPr/>
        </p:nvSpPr>
        <p:spPr>
          <a:xfrm>
            <a:off x="6032500" y="3810000"/>
            <a:ext cx="1727200" cy="482600"/>
          </a:xfrm>
          <a:prstGeom prst="rect">
            <a:avLst/>
          </a:prstGeom>
          <a:solidFill>
            <a:srgbClr val="FFFFFF"/>
          </a:solidFill>
          <a:ln>
            <a:noFill/>
          </a:ln>
        </p:spPr>
        <p:txBody>
          <a:bodyPr lIns="36000" rIns="36000" anchor="ctr"/>
          <a:lstStyle/>
          <a:p>
            <a:pPr algn="ctr">
              <a:buNone/>
            </a:pPr>
            <a:r>
              <a:rPr lang="en-US" sz="1300" dirty="0">
                <a:solidFill>
                  <a:srgbClr val="333333"/>
                </a:solidFill>
                <a:latin typeface="Calibri"/>
              </a:rPr>
              <a:t>15% / 3,000 SF cap</a:t>
            </a:r>
          </a:p>
        </p:txBody>
      </p:sp>
      <p:sp>
        <p:nvSpPr>
          <p:cNvPr id="129" name="R4C3"/>
          <p:cNvSpPr txBox="1"/>
          <p:nvPr/>
        </p:nvSpPr>
        <p:spPr>
          <a:xfrm>
            <a:off x="7759700" y="3810000"/>
            <a:ext cx="812800" cy="482600"/>
          </a:xfrm>
          <a:prstGeom prst="rect">
            <a:avLst/>
          </a:prstGeom>
          <a:solidFill>
            <a:srgbClr val="FFFFFF"/>
          </a:solidFill>
          <a:ln>
            <a:noFill/>
          </a:ln>
        </p:spPr>
        <p:txBody>
          <a:bodyPr lIns="36000" rIns="36000" anchor="ctr"/>
          <a:lstStyle/>
          <a:p>
            <a:pPr algn="ctr">
              <a:buNone/>
            </a:pPr>
            <a:r>
              <a:rPr lang="en-US" sz="1300" dirty="0">
                <a:solidFill>
                  <a:srgbClr val="333333"/>
                </a:solidFill>
                <a:latin typeface="Calibri"/>
              </a:rPr>
              <a:t>2.5×</a:t>
            </a:r>
          </a:p>
        </p:txBody>
      </p:sp>
      <p:sp>
        <p:nvSpPr>
          <p:cNvPr id="200" name="Ex"/>
          <p:cNvSpPr txBox="1"/>
          <p:nvPr/>
        </p:nvSpPr>
        <p:spPr>
          <a:xfrm>
            <a:off x="457200" y="4089400"/>
            <a:ext cx="3937000" cy="736600"/>
          </a:xfrm>
          <a:prstGeom prst="rect">
            <a:avLst/>
          </a:prstGeom>
          <a:solidFill>
            <a:srgbClr val="F0F7F5"/>
          </a:solidFill>
          <a:ln>
            <a:noFill/>
          </a:ln>
        </p:spPr>
        <p:txBody>
          <a:bodyPr wrap="square" lIns="91440" tIns="45720" rIns="91440" bIns="45720"/>
          <a:lstStyle/>
          <a:p>
            <a:pPr marL="0" indent="0">
              <a:buNone/>
            </a:pPr>
            <a:r>
              <a:rPr lang="en-US" sz="1300" b="1" dirty="0">
                <a:solidFill>
                  <a:srgbClr val="1A7A6B"/>
                </a:solidFill>
                <a:latin typeface="Calibri"/>
              </a:rPr>
              <a:t>Example: R-6 Zone, 6,000 SF Lot</a:t>
            </a:r>
            <a:br>
              <a:rPr lang="en-US" sz="1300" dirty="0"/>
            </a:br>
            <a:r>
              <a:rPr lang="en-US" sz="1300" dirty="0">
                <a:solidFill>
                  <a:srgbClr val="333333"/>
                </a:solidFill>
                <a:latin typeface="Calibri"/>
              </a:rPr>
              <a:t>Max footprint: min(6,000 × 30%, 2,520 cap) = 1,800 SF  →  Max GFA: 1,800 × 2.5 = 4,500 SF</a:t>
            </a:r>
          </a:p>
        </p:txBody>
      </p:sp>
    </p:spTree>
    <p:extLst>
      <p:ext uri="{BB962C8B-B14F-4D97-AF65-F5344CB8AC3E}">
        <p14:creationId xmlns:p14="http://schemas.microsoft.com/office/powerpoint/2010/main" val="17657293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
          <p:cNvSpPr/>
          <p:nvPr/>
        </p:nvSpPr>
        <p:spPr>
          <a:xfrm>
            <a:off x="0" y="0"/>
            <a:ext cx="9144000" cy="635000"/>
          </a:xfrm>
          <a:prstGeom prst="rect">
            <a:avLst/>
          </a:prstGeom>
          <a:solidFill>
            <a:srgbClr val="1B3A5C"/>
          </a:solidFill>
          <a:ln>
            <a:noFill/>
          </a:ln>
        </p:spPr>
        <p:txBody>
          <a:bodyPr/>
          <a:lstStyle/>
          <a:p>
            <a:endParaRPr/>
          </a:p>
        </p:txBody>
      </p:sp>
      <p:sp>
        <p:nvSpPr>
          <p:cNvPr id="3" name="Title"/>
          <p:cNvSpPr txBox="1"/>
          <p:nvPr/>
        </p:nvSpPr>
        <p:spPr>
          <a:xfrm>
            <a:off x="368300" y="63500"/>
            <a:ext cx="8407400" cy="508000"/>
          </a:xfrm>
          <a:prstGeom prst="rect">
            <a:avLst/>
          </a:prstGeom>
          <a:noFill/>
          <a:ln>
            <a:noFill/>
          </a:ln>
        </p:spPr>
        <p:txBody>
          <a:bodyPr wrap="square" lIns="0" tIns="0" rIns="0" bIns="0" anchor="ctr"/>
          <a:lstStyle/>
          <a:p>
            <a:pPr marL="0" indent="0">
              <a:buNone/>
            </a:pPr>
            <a:r>
              <a:rPr lang="en-US" sz="2000" b="1" dirty="0">
                <a:solidFill>
                  <a:srgbClr val="FFFFFF"/>
                </a:solidFill>
                <a:latin typeface="Georgia" pitchFamily="34" charset="0"/>
              </a:rPr>
              <a:t>Stage 2 — Current Built GFA</a:t>
            </a:r>
          </a:p>
        </p:txBody>
      </p:sp>
      <p:sp>
        <p:nvSpPr>
          <p:cNvPr id="4" name="Sub"/>
          <p:cNvSpPr txBox="1"/>
          <p:nvPr/>
        </p:nvSpPr>
        <p:spPr>
          <a:xfrm>
            <a:off x="368300" y="685800"/>
            <a:ext cx="8407400" cy="279400"/>
          </a:xfrm>
          <a:prstGeom prst="rect">
            <a:avLst/>
          </a:prstGeom>
          <a:noFill/>
          <a:ln>
            <a:noFill/>
          </a:ln>
        </p:spPr>
        <p:txBody>
          <a:bodyPr wrap="square" lIns="0" tIns="0" rIns="0" bIns="0"/>
          <a:lstStyle/>
          <a:p>
            <a:pPr marL="0" indent="0">
              <a:buNone/>
            </a:pPr>
            <a:r>
              <a:rPr lang="en-US" sz="1400" i="1" dirty="0">
                <a:solidFill>
                  <a:srgbClr val="1B3A5C"/>
                </a:solidFill>
                <a:latin typeface="Calibri"/>
              </a:rPr>
              <a:t>Assessment records reveal actual GFA; neighborhood rates calibrated from recent builds</a:t>
            </a:r>
          </a:p>
        </p:txBody>
      </p:sp>
      <p:sp>
        <p:nvSpPr>
          <p:cNvPr id="10" name="Card10"/>
          <p:cNvSpPr/>
          <p:nvPr/>
        </p:nvSpPr>
        <p:spPr>
          <a:xfrm>
            <a:off x="368300" y="1066800"/>
            <a:ext cx="1968500" cy="1397000"/>
          </a:xfrm>
          <a:prstGeom prst="rect">
            <a:avLst/>
          </a:prstGeom>
          <a:solidFill>
            <a:srgbClr val="F4F6F9"/>
          </a:solidFill>
          <a:ln>
            <a:noFill/>
          </a:ln>
        </p:spPr>
        <p:txBody>
          <a:bodyPr/>
          <a:lstStyle/>
          <a:p>
            <a:endParaRPr/>
          </a:p>
        </p:txBody>
      </p:sp>
      <p:sp>
        <p:nvSpPr>
          <p:cNvPr id="11" name="TopBar10"/>
          <p:cNvSpPr/>
          <p:nvPr/>
        </p:nvSpPr>
        <p:spPr>
          <a:xfrm>
            <a:off x="368300" y="1066800"/>
            <a:ext cx="1968500" cy="76200"/>
          </a:xfrm>
          <a:prstGeom prst="rect">
            <a:avLst/>
          </a:prstGeom>
          <a:solidFill>
            <a:srgbClr val="1A7A6B"/>
          </a:solidFill>
          <a:ln>
            <a:noFill/>
          </a:ln>
        </p:spPr>
        <p:txBody>
          <a:bodyPr/>
          <a:lstStyle/>
          <a:p>
            <a:endParaRPr/>
          </a:p>
        </p:txBody>
      </p:sp>
      <p:sp>
        <p:nvSpPr>
          <p:cNvPr id="12" name="Lbl10"/>
          <p:cNvSpPr txBox="1"/>
          <p:nvPr/>
        </p:nvSpPr>
        <p:spPr>
          <a:xfrm>
            <a:off x="469900" y="1244600"/>
            <a:ext cx="1765300" cy="330200"/>
          </a:xfrm>
          <a:prstGeom prst="rect">
            <a:avLst/>
          </a:prstGeom>
          <a:noFill/>
          <a:ln>
            <a:noFill/>
          </a:ln>
        </p:spPr>
        <p:txBody>
          <a:bodyPr wrap="square" lIns="0" tIns="0" rIns="0" bIns="0"/>
          <a:lstStyle/>
          <a:p>
            <a:pPr marL="0" indent="0">
              <a:buNone/>
            </a:pPr>
            <a:r>
              <a:rPr lang="en-US" sz="1500" b="1" dirty="0">
                <a:solidFill>
                  <a:srgbClr val="1A7A6B"/>
                </a:solidFill>
                <a:latin typeface="Georgia"/>
              </a:rPr>
              <a:t>GFA Source</a:t>
            </a:r>
          </a:p>
        </p:txBody>
      </p:sp>
      <p:sp>
        <p:nvSpPr>
          <p:cNvPr id="13" name="Body10"/>
          <p:cNvSpPr txBox="1"/>
          <p:nvPr/>
        </p:nvSpPr>
        <p:spPr>
          <a:xfrm>
            <a:off x="469900" y="1625600"/>
            <a:ext cx="1765300" cy="787400"/>
          </a:xfrm>
          <a:prstGeom prst="rect">
            <a:avLst/>
          </a:prstGeom>
          <a:noFill/>
          <a:ln>
            <a:noFill/>
          </a:ln>
        </p:spPr>
        <p:txBody>
          <a:bodyPr wrap="square" lIns="0" tIns="0" rIns="0" bIns="0"/>
          <a:lstStyle/>
          <a:p>
            <a:pPr marL="0" indent="0">
              <a:buNone/>
            </a:pPr>
            <a:r>
              <a:rPr lang="en-US" sz="1300" dirty="0">
                <a:solidFill>
                  <a:srgbClr val="444444"/>
                </a:solidFill>
                <a:latin typeface="Calibri"/>
              </a:rPr>
              <a:t>Estimated from improvement value in county assessment records</a:t>
            </a:r>
          </a:p>
        </p:txBody>
      </p:sp>
      <p:sp>
        <p:nvSpPr>
          <p:cNvPr id="20" name="Card20"/>
          <p:cNvSpPr/>
          <p:nvPr/>
        </p:nvSpPr>
        <p:spPr>
          <a:xfrm>
            <a:off x="2527300" y="1066800"/>
            <a:ext cx="1968500" cy="1397000"/>
          </a:xfrm>
          <a:prstGeom prst="rect">
            <a:avLst/>
          </a:prstGeom>
          <a:solidFill>
            <a:srgbClr val="F4F6F9"/>
          </a:solidFill>
          <a:ln>
            <a:noFill/>
          </a:ln>
        </p:spPr>
        <p:txBody>
          <a:bodyPr/>
          <a:lstStyle/>
          <a:p>
            <a:endParaRPr/>
          </a:p>
        </p:txBody>
      </p:sp>
      <p:sp>
        <p:nvSpPr>
          <p:cNvPr id="21" name="TopBar20"/>
          <p:cNvSpPr/>
          <p:nvPr/>
        </p:nvSpPr>
        <p:spPr>
          <a:xfrm>
            <a:off x="2527300" y="1066800"/>
            <a:ext cx="1968500" cy="76200"/>
          </a:xfrm>
          <a:prstGeom prst="rect">
            <a:avLst/>
          </a:prstGeom>
          <a:solidFill>
            <a:srgbClr val="1B3A5C"/>
          </a:solidFill>
          <a:ln>
            <a:noFill/>
          </a:ln>
        </p:spPr>
        <p:txBody>
          <a:bodyPr/>
          <a:lstStyle/>
          <a:p>
            <a:endParaRPr/>
          </a:p>
        </p:txBody>
      </p:sp>
      <p:sp>
        <p:nvSpPr>
          <p:cNvPr id="22" name="Lbl20"/>
          <p:cNvSpPr txBox="1"/>
          <p:nvPr/>
        </p:nvSpPr>
        <p:spPr>
          <a:xfrm>
            <a:off x="2628900" y="1244600"/>
            <a:ext cx="1765300" cy="330200"/>
          </a:xfrm>
          <a:prstGeom prst="rect">
            <a:avLst/>
          </a:prstGeom>
          <a:noFill/>
          <a:ln>
            <a:noFill/>
          </a:ln>
        </p:spPr>
        <p:txBody>
          <a:bodyPr wrap="square" lIns="0" tIns="0" rIns="0" bIns="0"/>
          <a:lstStyle/>
          <a:p>
            <a:pPr marL="0" indent="0">
              <a:buNone/>
            </a:pPr>
            <a:r>
              <a:rPr lang="en-US" sz="1500" b="1" dirty="0">
                <a:solidFill>
                  <a:srgbClr val="1B3A5C"/>
                </a:solidFill>
                <a:latin typeface="Georgia"/>
              </a:rPr>
              <a:t>Calibration</a:t>
            </a:r>
          </a:p>
        </p:txBody>
      </p:sp>
      <p:sp>
        <p:nvSpPr>
          <p:cNvPr id="23" name="Body20"/>
          <p:cNvSpPr txBox="1"/>
          <p:nvPr/>
        </p:nvSpPr>
        <p:spPr>
          <a:xfrm>
            <a:off x="2628900" y="1625600"/>
            <a:ext cx="1765300" cy="787400"/>
          </a:xfrm>
          <a:prstGeom prst="rect">
            <a:avLst/>
          </a:prstGeom>
          <a:noFill/>
          <a:ln>
            <a:noFill/>
          </a:ln>
        </p:spPr>
        <p:txBody>
          <a:bodyPr wrap="square" lIns="0" tIns="0" rIns="0" bIns="0"/>
          <a:lstStyle/>
          <a:p>
            <a:pPr marL="0" indent="0">
              <a:buNone/>
            </a:pPr>
            <a:r>
              <a:rPr lang="en-US" sz="1300" dirty="0">
                <a:solidFill>
                  <a:srgbClr val="444444"/>
                </a:solidFill>
                <a:latin typeface="Calibri"/>
              </a:rPr>
              <a:t>Improvement rate ($/SF) derived from recent construction in each neighborhood</a:t>
            </a:r>
          </a:p>
        </p:txBody>
      </p:sp>
      <p:sp>
        <p:nvSpPr>
          <p:cNvPr id="30" name="Card30"/>
          <p:cNvSpPr/>
          <p:nvPr/>
        </p:nvSpPr>
        <p:spPr>
          <a:xfrm>
            <a:off x="4686300" y="1066800"/>
            <a:ext cx="1968500" cy="1397000"/>
          </a:xfrm>
          <a:prstGeom prst="rect">
            <a:avLst/>
          </a:prstGeom>
          <a:solidFill>
            <a:srgbClr val="F4F6F9"/>
          </a:solidFill>
          <a:ln>
            <a:noFill/>
          </a:ln>
        </p:spPr>
        <p:txBody>
          <a:bodyPr/>
          <a:lstStyle/>
          <a:p>
            <a:endParaRPr/>
          </a:p>
        </p:txBody>
      </p:sp>
      <p:sp>
        <p:nvSpPr>
          <p:cNvPr id="31" name="TopBar30"/>
          <p:cNvSpPr/>
          <p:nvPr/>
        </p:nvSpPr>
        <p:spPr>
          <a:xfrm>
            <a:off x="4686300" y="1066800"/>
            <a:ext cx="1968500" cy="76200"/>
          </a:xfrm>
          <a:prstGeom prst="rect">
            <a:avLst/>
          </a:prstGeom>
          <a:solidFill>
            <a:srgbClr val="C8792A"/>
          </a:solidFill>
          <a:ln>
            <a:noFill/>
          </a:ln>
        </p:spPr>
        <p:txBody>
          <a:bodyPr/>
          <a:lstStyle/>
          <a:p>
            <a:endParaRPr/>
          </a:p>
        </p:txBody>
      </p:sp>
      <p:sp>
        <p:nvSpPr>
          <p:cNvPr id="32" name="Lbl30"/>
          <p:cNvSpPr txBox="1"/>
          <p:nvPr/>
        </p:nvSpPr>
        <p:spPr>
          <a:xfrm>
            <a:off x="4787900" y="1244600"/>
            <a:ext cx="1765300" cy="330200"/>
          </a:xfrm>
          <a:prstGeom prst="rect">
            <a:avLst/>
          </a:prstGeom>
          <a:noFill/>
          <a:ln>
            <a:noFill/>
          </a:ln>
        </p:spPr>
        <p:txBody>
          <a:bodyPr wrap="square" lIns="0" tIns="0" rIns="0" bIns="0"/>
          <a:lstStyle/>
          <a:p>
            <a:pPr marL="0" indent="0">
              <a:buNone/>
            </a:pPr>
            <a:r>
              <a:rPr lang="en-US" sz="1500" b="1" dirty="0">
                <a:solidFill>
                  <a:srgbClr val="C8792A"/>
                </a:solidFill>
                <a:latin typeface="Georgia"/>
              </a:rPr>
              <a:t>Fallback Rate</a:t>
            </a:r>
          </a:p>
        </p:txBody>
      </p:sp>
      <p:sp>
        <p:nvSpPr>
          <p:cNvPr id="33" name="Body30"/>
          <p:cNvSpPr txBox="1"/>
          <p:nvPr/>
        </p:nvSpPr>
        <p:spPr>
          <a:xfrm>
            <a:off x="4787900" y="1625600"/>
            <a:ext cx="1765300" cy="787400"/>
          </a:xfrm>
          <a:prstGeom prst="rect">
            <a:avLst/>
          </a:prstGeom>
          <a:noFill/>
          <a:ln>
            <a:noFill/>
          </a:ln>
        </p:spPr>
        <p:txBody>
          <a:bodyPr wrap="square" lIns="0" tIns="0" rIns="0" bIns="0"/>
          <a:lstStyle/>
          <a:p>
            <a:pPr marL="0" indent="0">
              <a:buNone/>
            </a:pPr>
            <a:r>
              <a:rPr lang="en-US" sz="1300" dirty="0">
                <a:solidFill>
                  <a:srgbClr val="444444"/>
                </a:solidFill>
                <a:latin typeface="Calibri"/>
              </a:rPr>
              <a:t>$185/SF applied when fewer than 5 recent builds are available in a neighborhood</a:t>
            </a:r>
          </a:p>
        </p:txBody>
      </p:sp>
      <p:sp>
        <p:nvSpPr>
          <p:cNvPr id="40" name="Card40"/>
          <p:cNvSpPr/>
          <p:nvPr/>
        </p:nvSpPr>
        <p:spPr>
          <a:xfrm>
            <a:off x="6845300" y="1066800"/>
            <a:ext cx="1968500" cy="1397000"/>
          </a:xfrm>
          <a:prstGeom prst="rect">
            <a:avLst/>
          </a:prstGeom>
          <a:solidFill>
            <a:srgbClr val="F4F6F9"/>
          </a:solidFill>
          <a:ln>
            <a:noFill/>
          </a:ln>
        </p:spPr>
        <p:txBody>
          <a:bodyPr/>
          <a:lstStyle/>
          <a:p>
            <a:endParaRPr/>
          </a:p>
        </p:txBody>
      </p:sp>
      <p:sp>
        <p:nvSpPr>
          <p:cNvPr id="41" name="TopBar40"/>
          <p:cNvSpPr/>
          <p:nvPr/>
        </p:nvSpPr>
        <p:spPr>
          <a:xfrm>
            <a:off x="6845300" y="1066800"/>
            <a:ext cx="1968500" cy="76200"/>
          </a:xfrm>
          <a:prstGeom prst="rect">
            <a:avLst/>
          </a:prstGeom>
          <a:solidFill>
            <a:srgbClr val="666666"/>
          </a:solidFill>
          <a:ln>
            <a:noFill/>
          </a:ln>
        </p:spPr>
        <p:txBody>
          <a:bodyPr/>
          <a:lstStyle/>
          <a:p>
            <a:endParaRPr/>
          </a:p>
        </p:txBody>
      </p:sp>
      <p:sp>
        <p:nvSpPr>
          <p:cNvPr id="42" name="Lbl40"/>
          <p:cNvSpPr txBox="1"/>
          <p:nvPr/>
        </p:nvSpPr>
        <p:spPr>
          <a:xfrm>
            <a:off x="6946900" y="1244600"/>
            <a:ext cx="1765300" cy="330200"/>
          </a:xfrm>
          <a:prstGeom prst="rect">
            <a:avLst/>
          </a:prstGeom>
          <a:noFill/>
          <a:ln>
            <a:noFill/>
          </a:ln>
        </p:spPr>
        <p:txBody>
          <a:bodyPr wrap="square" lIns="0" tIns="0" rIns="0" bIns="0"/>
          <a:lstStyle/>
          <a:p>
            <a:pPr marL="0" indent="0">
              <a:buNone/>
            </a:pPr>
            <a:r>
              <a:rPr lang="en-US" sz="1500" b="1" dirty="0">
                <a:solidFill>
                  <a:srgbClr val="666666"/>
                </a:solidFill>
                <a:latin typeface="Georgia"/>
              </a:rPr>
              <a:t>Exclusions</a:t>
            </a:r>
          </a:p>
        </p:txBody>
      </p:sp>
      <p:sp>
        <p:nvSpPr>
          <p:cNvPr id="43" name="Body40"/>
          <p:cNvSpPr txBox="1"/>
          <p:nvPr/>
        </p:nvSpPr>
        <p:spPr>
          <a:xfrm>
            <a:off x="6946900" y="1625600"/>
            <a:ext cx="1765300" cy="787400"/>
          </a:xfrm>
          <a:prstGeom prst="rect">
            <a:avLst/>
          </a:prstGeom>
          <a:noFill/>
          <a:ln>
            <a:noFill/>
          </a:ln>
        </p:spPr>
        <p:txBody>
          <a:bodyPr wrap="square" lIns="0" tIns="0" rIns="0" bIns="0"/>
          <a:lstStyle/>
          <a:p>
            <a:pPr marL="0" indent="0">
              <a:buNone/>
            </a:pPr>
            <a:r>
              <a:rPr lang="en-US" sz="1300" dirty="0">
                <a:solidFill>
                  <a:srgbClr val="444444"/>
                </a:solidFill>
                <a:latin typeface="Calibri"/>
              </a:rPr>
              <a:t>Parcels missing API record or with no improvement value on improved lots</a:t>
            </a:r>
          </a:p>
        </p:txBody>
      </p:sp>
      <p:sp>
        <p:nvSpPr>
          <p:cNvPr id="60" name="CalHdr"/>
          <p:cNvSpPr/>
          <p:nvPr/>
        </p:nvSpPr>
        <p:spPr>
          <a:xfrm>
            <a:off x="368300" y="2641600"/>
            <a:ext cx="8407400" cy="381000"/>
          </a:xfrm>
          <a:prstGeom prst="rect">
            <a:avLst/>
          </a:prstGeom>
          <a:solidFill>
            <a:srgbClr val="1A7A6B"/>
          </a:solidFill>
          <a:ln>
            <a:noFill/>
          </a:ln>
        </p:spPr>
        <p:txBody>
          <a:bodyPr anchor="ctr"/>
          <a:lstStyle/>
          <a:p>
            <a:pPr algn="ctr">
              <a:buNone/>
            </a:pPr>
            <a:r>
              <a:rPr lang="en-US" sz="1400" b="1" dirty="0">
                <a:solidFill>
                  <a:srgbClr val="FFFFFF"/>
                </a:solidFill>
                <a:latin typeface="Calibri"/>
              </a:rPr>
              <a:t>Neighborhood Calibration Examples</a:t>
            </a:r>
          </a:p>
        </p:txBody>
      </p:sp>
      <p:sp>
        <p:nvSpPr>
          <p:cNvPr id="70" name="Ex70"/>
          <p:cNvSpPr txBox="1"/>
          <p:nvPr/>
        </p:nvSpPr>
        <p:spPr>
          <a:xfrm>
            <a:off x="368300" y="3073400"/>
            <a:ext cx="2667000" cy="1016000"/>
          </a:xfrm>
          <a:prstGeom prst="rect">
            <a:avLst/>
          </a:prstGeom>
          <a:solidFill>
            <a:srgbClr val="EEF2F7"/>
          </a:solidFill>
          <a:ln>
            <a:noFill/>
          </a:ln>
        </p:spPr>
        <p:txBody>
          <a:bodyPr wrap="square" lIns="91440" tIns="45720" rIns="91440" bIns="45720"/>
          <a:lstStyle/>
          <a:p>
            <a:pPr marL="0" indent="0">
              <a:buNone/>
            </a:pPr>
            <a:r>
              <a:rPr lang="en-US" sz="1400" b="1" dirty="0">
                <a:solidFill>
                  <a:srgbClr val="1B3A5C"/>
                </a:solidFill>
                <a:latin typeface="Georgia"/>
              </a:rPr>
              <a:t>Yorktown: </a:t>
            </a:r>
            <a:r>
              <a:rPr lang="en-US" sz="1800" b="1" dirty="0">
                <a:solidFill>
                  <a:srgbClr val="1A7A6B"/>
                </a:solidFill>
                <a:latin typeface="Georgia"/>
              </a:rPr>
              <a:t>$235/SF</a:t>
            </a:r>
            <a:br>
              <a:rPr lang="en-US" sz="1300" dirty="0"/>
            </a:br>
            <a:r>
              <a:rPr lang="en-US" sz="1300" i="1" dirty="0">
                <a:solidFill>
                  <a:srgbClr val="666666"/>
                </a:solidFill>
                <a:latin typeface="Calibri"/>
              </a:rPr>
              <a:t>76 recent builds calibrated</a:t>
            </a:r>
          </a:p>
        </p:txBody>
      </p:sp>
      <p:sp>
        <p:nvSpPr>
          <p:cNvPr id="80" name="Ex80"/>
          <p:cNvSpPr txBox="1"/>
          <p:nvPr/>
        </p:nvSpPr>
        <p:spPr>
          <a:xfrm>
            <a:off x="3225800" y="3073400"/>
            <a:ext cx="2667000" cy="1016000"/>
          </a:xfrm>
          <a:prstGeom prst="rect">
            <a:avLst/>
          </a:prstGeom>
          <a:solidFill>
            <a:srgbClr val="EEF2F7"/>
          </a:solidFill>
          <a:ln>
            <a:noFill/>
          </a:ln>
        </p:spPr>
        <p:txBody>
          <a:bodyPr wrap="square" lIns="91440" tIns="45720" rIns="91440" bIns="45720"/>
          <a:lstStyle/>
          <a:p>
            <a:pPr marL="0" indent="0">
              <a:buNone/>
            </a:pPr>
            <a:r>
              <a:rPr lang="en-US" sz="1400" b="1" dirty="0">
                <a:solidFill>
                  <a:srgbClr val="1B3A5C"/>
                </a:solidFill>
                <a:latin typeface="Georgia"/>
              </a:rPr>
              <a:t>Douglas Park: </a:t>
            </a:r>
            <a:r>
              <a:rPr lang="en-US" sz="1800" b="1" dirty="0">
                <a:solidFill>
                  <a:srgbClr val="1A7A6B"/>
                </a:solidFill>
                <a:latin typeface="Georgia"/>
              </a:rPr>
              <a:t>$124/SF</a:t>
            </a:r>
            <a:br>
              <a:rPr lang="en-US" sz="1300" dirty="0"/>
            </a:br>
            <a:r>
              <a:rPr lang="en-US" sz="1300" i="1" dirty="0">
                <a:solidFill>
                  <a:srgbClr val="666666"/>
                </a:solidFill>
                <a:latin typeface="Calibri"/>
              </a:rPr>
              <a:t>limited sample — lower confidence</a:t>
            </a:r>
          </a:p>
        </p:txBody>
      </p:sp>
      <p:sp>
        <p:nvSpPr>
          <p:cNvPr id="90" name="Ex90"/>
          <p:cNvSpPr txBox="1"/>
          <p:nvPr/>
        </p:nvSpPr>
        <p:spPr>
          <a:xfrm>
            <a:off x="6083300" y="3073400"/>
            <a:ext cx="2667000" cy="1016000"/>
          </a:xfrm>
          <a:prstGeom prst="rect">
            <a:avLst/>
          </a:prstGeom>
          <a:solidFill>
            <a:srgbClr val="EEF2F7"/>
          </a:solidFill>
          <a:ln>
            <a:noFill/>
          </a:ln>
        </p:spPr>
        <p:txBody>
          <a:bodyPr wrap="square" lIns="91440" tIns="45720" rIns="91440" bIns="45720"/>
          <a:lstStyle/>
          <a:p>
            <a:pPr marL="0" indent="0">
              <a:buNone/>
            </a:pPr>
            <a:r>
              <a:rPr lang="en-US" sz="1400" b="1" dirty="0">
                <a:solidFill>
                  <a:srgbClr val="1B3A5C"/>
                </a:solidFill>
                <a:latin typeface="Georgia"/>
              </a:rPr>
              <a:t>Fallback Rate: </a:t>
            </a:r>
            <a:r>
              <a:rPr lang="en-US" sz="1800" b="1" dirty="0">
                <a:solidFill>
                  <a:srgbClr val="1A7A6B"/>
                </a:solidFill>
                <a:latin typeface="Georgia"/>
              </a:rPr>
              <a:t>$185/SF</a:t>
            </a:r>
            <a:br>
              <a:rPr lang="en-US" sz="1300" dirty="0"/>
            </a:br>
            <a:r>
              <a:rPr lang="en-US" sz="1300" i="1" dirty="0">
                <a:solidFill>
                  <a:srgbClr val="666666"/>
                </a:solidFill>
                <a:latin typeface="Calibri"/>
              </a:rPr>
              <a:t>applied when fewer than 5 recent builds</a:t>
            </a:r>
          </a:p>
        </p:txBody>
      </p:sp>
      <p:sp>
        <p:nvSpPr>
          <p:cNvPr id="100" name="Insight"/>
          <p:cNvSpPr txBox="1"/>
          <p:nvPr/>
        </p:nvSpPr>
        <p:spPr>
          <a:xfrm>
            <a:off x="368300" y="4267200"/>
            <a:ext cx="8407400" cy="635000"/>
          </a:xfrm>
          <a:prstGeom prst="rect">
            <a:avLst/>
          </a:prstGeom>
          <a:solidFill>
            <a:srgbClr val="F0F7F5"/>
          </a:solidFill>
          <a:ln>
            <a:noFill/>
          </a:ln>
        </p:spPr>
        <p:txBody>
          <a:bodyPr wrap="square" lIns="91440" tIns="45720" rIns="91440" bIns="45720"/>
          <a:lstStyle/>
          <a:p>
            <a:pPr marL="0" indent="0">
              <a:buNone/>
            </a:pPr>
            <a:r>
              <a:rPr lang="en-US" sz="1300" i="1" dirty="0">
                <a:solidFill>
                  <a:srgbClr val="1A7A6B"/>
                </a:solidFill>
                <a:latin typeface="Calibri"/>
              </a:rPr>
              <a:t>The neighborhood improvement rate is the primary driver of GFA estimation accuracy. More recent construction data = more reliable estimates.</a:t>
            </a:r>
          </a:p>
        </p:txBody>
      </p:sp>
    </p:spTree>
    <p:extLst>
      <p:ext uri="{BB962C8B-B14F-4D97-AF65-F5344CB8AC3E}">
        <p14:creationId xmlns:p14="http://schemas.microsoft.com/office/powerpoint/2010/main" val="21142586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
          <p:cNvSpPr/>
          <p:nvPr/>
        </p:nvSpPr>
        <p:spPr>
          <a:xfrm>
            <a:off x="0" y="0"/>
            <a:ext cx="9144000" cy="635000"/>
          </a:xfrm>
          <a:prstGeom prst="rect">
            <a:avLst/>
          </a:prstGeom>
          <a:solidFill>
            <a:srgbClr val="1A7A6B"/>
          </a:solidFill>
          <a:ln>
            <a:noFill/>
          </a:ln>
        </p:spPr>
        <p:txBody>
          <a:bodyPr/>
          <a:lstStyle/>
          <a:p>
            <a:endParaRPr/>
          </a:p>
        </p:txBody>
      </p:sp>
      <p:sp>
        <p:nvSpPr>
          <p:cNvPr id="3" name="Title"/>
          <p:cNvSpPr txBox="1"/>
          <p:nvPr/>
        </p:nvSpPr>
        <p:spPr>
          <a:xfrm>
            <a:off x="368300" y="63500"/>
            <a:ext cx="8407400" cy="508000"/>
          </a:xfrm>
          <a:prstGeom prst="rect">
            <a:avLst/>
          </a:prstGeom>
          <a:noFill/>
          <a:ln>
            <a:noFill/>
          </a:ln>
        </p:spPr>
        <p:txBody>
          <a:bodyPr wrap="square" lIns="0" tIns="0" rIns="0" bIns="0" anchor="ctr"/>
          <a:lstStyle/>
          <a:p>
            <a:pPr marL="0" indent="0">
              <a:buNone/>
            </a:pPr>
            <a:r>
              <a:rPr lang="en-US" sz="2000" b="1" dirty="0">
                <a:solidFill>
                  <a:srgbClr val="FFFFFF"/>
                </a:solidFill>
                <a:latin typeface="Georgia" pitchFamily="34" charset="0"/>
              </a:rPr>
              <a:t>Stage 3 — Available Development Rights</a:t>
            </a:r>
          </a:p>
        </p:txBody>
      </p:sp>
      <p:sp>
        <p:nvSpPr>
          <p:cNvPr id="4" name="Sub"/>
          <p:cNvSpPr txBox="1"/>
          <p:nvPr/>
        </p:nvSpPr>
        <p:spPr>
          <a:xfrm>
            <a:off x="368300" y="685800"/>
            <a:ext cx="8407400" cy="279400"/>
          </a:xfrm>
          <a:prstGeom prst="rect">
            <a:avLst/>
          </a:prstGeom>
          <a:noFill/>
          <a:ln>
            <a:noFill/>
          </a:ln>
        </p:spPr>
        <p:txBody>
          <a:bodyPr wrap="square" lIns="0" tIns="0" rIns="0" bIns="0"/>
          <a:lstStyle/>
          <a:p>
            <a:pPr marL="0" indent="0">
              <a:buNone/>
            </a:pPr>
            <a:r>
              <a:rPr lang="en-US" sz="1400" i="1" dirty="0">
                <a:solidFill>
                  <a:srgbClr val="1A7A6B"/>
                </a:solidFill>
                <a:latin typeface="Calibri"/>
              </a:rPr>
              <a:t>Unused GFA capacity and development status for every parcel</a:t>
            </a:r>
          </a:p>
        </p:txBody>
      </p:sp>
      <p:sp>
        <p:nvSpPr>
          <p:cNvPr id="5" name="Formulas"/>
          <p:cNvSpPr txBox="1"/>
          <p:nvPr/>
        </p:nvSpPr>
        <p:spPr>
          <a:xfrm>
            <a:off x="368300" y="1066800"/>
            <a:ext cx="8407400" cy="444500"/>
          </a:xfrm>
          <a:prstGeom prst="rect">
            <a:avLst/>
          </a:prstGeom>
          <a:solidFill>
            <a:srgbClr val="EEF2F7"/>
          </a:solidFill>
          <a:ln>
            <a:noFill/>
          </a:ln>
        </p:spPr>
        <p:txBody>
          <a:bodyPr wrap="square" lIns="91440" tIns="45720" rIns="91440" bIns="45720" anchor="ctr"/>
          <a:lstStyle/>
          <a:p>
            <a:pPr marL="0" indent="0">
              <a:buNone/>
            </a:pPr>
            <a:r>
              <a:rPr lang="en-US" sz="1400" b="1" dirty="0">
                <a:solidFill>
                  <a:srgbClr val="1B3A5C"/>
                </a:solidFill>
                <a:latin typeface="Calibri"/>
              </a:rPr>
              <a:t>Available GFA = Max GFA − Current GFA  </a:t>
            </a:r>
            <a:r>
              <a:rPr lang="en-US" sz="1400" dirty="0">
                <a:solidFill>
                  <a:srgbClr val="666666"/>
                </a:solidFill>
                <a:latin typeface="Calibri"/>
              </a:rPr>
              <a:t>|  GFA Utilization % = Current GFA ÷ Max GFA × 100</a:t>
            </a:r>
          </a:p>
        </p:txBody>
      </p:sp>
      <p:sp>
        <p:nvSpPr>
          <p:cNvPr id="10" name="Cat10"/>
          <p:cNvSpPr/>
          <p:nvPr/>
        </p:nvSpPr>
        <p:spPr>
          <a:xfrm>
            <a:off x="368300" y="1651000"/>
            <a:ext cx="1955800" cy="1397000"/>
          </a:xfrm>
          <a:prstGeom prst="rect">
            <a:avLst/>
          </a:prstGeom>
          <a:solidFill>
            <a:srgbClr val="F4F4F4"/>
          </a:solidFill>
          <a:ln>
            <a:noFill/>
          </a:ln>
        </p:spPr>
        <p:txBody>
          <a:bodyPr/>
          <a:lstStyle/>
          <a:p>
            <a:endParaRPr/>
          </a:p>
        </p:txBody>
      </p:sp>
      <p:sp>
        <p:nvSpPr>
          <p:cNvPr id="11" name="TB10"/>
          <p:cNvSpPr/>
          <p:nvPr/>
        </p:nvSpPr>
        <p:spPr>
          <a:xfrm>
            <a:off x="368300" y="1651000"/>
            <a:ext cx="1955800" cy="76200"/>
          </a:xfrm>
          <a:prstGeom prst="rect">
            <a:avLst/>
          </a:prstGeom>
          <a:solidFill>
            <a:srgbClr val="666666"/>
          </a:solidFill>
          <a:ln>
            <a:noFill/>
          </a:ln>
        </p:spPr>
        <p:txBody>
          <a:bodyPr/>
          <a:lstStyle/>
          <a:p>
            <a:endParaRPr/>
          </a:p>
        </p:txBody>
      </p:sp>
      <p:sp>
        <p:nvSpPr>
          <p:cNvPr id="12" name="CL10"/>
          <p:cNvSpPr txBox="1"/>
          <p:nvPr/>
        </p:nvSpPr>
        <p:spPr>
          <a:xfrm>
            <a:off x="469900" y="1828800"/>
            <a:ext cx="1752600" cy="381000"/>
          </a:xfrm>
          <a:prstGeom prst="rect">
            <a:avLst/>
          </a:prstGeom>
          <a:noFill/>
          <a:ln>
            <a:noFill/>
          </a:ln>
        </p:spPr>
        <p:txBody>
          <a:bodyPr wrap="square" lIns="0" tIns="0" rIns="0" bIns="0"/>
          <a:lstStyle/>
          <a:p>
            <a:pPr marL="0" indent="0">
              <a:buNone/>
            </a:pPr>
            <a:r>
              <a:rPr lang="en-US" sz="1500" b="1" dirty="0">
                <a:solidFill>
                  <a:srgbClr val="666666"/>
                </a:solidFill>
                <a:latin typeface="Georgia"/>
              </a:rPr>
              <a:t>Vacant</a:t>
            </a:r>
          </a:p>
        </p:txBody>
      </p:sp>
      <p:sp>
        <p:nvSpPr>
          <p:cNvPr id="13" name="CT10"/>
          <p:cNvSpPr txBox="1"/>
          <p:nvPr/>
        </p:nvSpPr>
        <p:spPr>
          <a:xfrm>
            <a:off x="469900" y="2260600"/>
            <a:ext cx="1752600" cy="254000"/>
          </a:xfrm>
          <a:prstGeom prst="rect">
            <a:avLst/>
          </a:prstGeom>
          <a:noFill/>
          <a:ln>
            <a:noFill/>
          </a:ln>
        </p:spPr>
        <p:txBody>
          <a:bodyPr wrap="square" lIns="0" tIns="0" rIns="0" bIns="0"/>
          <a:lstStyle/>
          <a:p>
            <a:pPr marL="0" indent="0">
              <a:buNone/>
            </a:pPr>
            <a:r>
              <a:rPr lang="en-US" sz="1300" b="1" dirty="0">
                <a:solidFill>
                  <a:srgbClr val="666666"/>
                </a:solidFill>
                <a:latin typeface="Calibri"/>
              </a:rPr>
              <a:t>0% utilization</a:t>
            </a:r>
          </a:p>
        </p:txBody>
      </p:sp>
      <p:sp>
        <p:nvSpPr>
          <p:cNvPr id="14" name="CD10"/>
          <p:cNvSpPr txBox="1"/>
          <p:nvPr/>
        </p:nvSpPr>
        <p:spPr>
          <a:xfrm>
            <a:off x="469900" y="2565400"/>
            <a:ext cx="1752600" cy="431800"/>
          </a:xfrm>
          <a:prstGeom prst="rect">
            <a:avLst/>
          </a:prstGeom>
          <a:noFill/>
          <a:ln>
            <a:noFill/>
          </a:ln>
        </p:spPr>
        <p:txBody>
          <a:bodyPr wrap="square" lIns="0" tIns="0" rIns="0" bIns="0"/>
          <a:lstStyle/>
          <a:p>
            <a:pPr marL="0" indent="0">
              <a:buNone/>
            </a:pPr>
            <a:r>
              <a:rPr lang="en-US" sz="1200" dirty="0">
                <a:solidFill>
                  <a:srgbClr val="444444"/>
                </a:solidFill>
                <a:latin typeface="Calibri"/>
              </a:rPr>
              <a:t>No structure present</a:t>
            </a:r>
          </a:p>
        </p:txBody>
      </p:sp>
      <p:sp>
        <p:nvSpPr>
          <p:cNvPr id="20" name="Cat20"/>
          <p:cNvSpPr/>
          <p:nvPr/>
        </p:nvSpPr>
        <p:spPr>
          <a:xfrm>
            <a:off x="2527300" y="1651000"/>
            <a:ext cx="1955800" cy="1397000"/>
          </a:xfrm>
          <a:prstGeom prst="rect">
            <a:avLst/>
          </a:prstGeom>
          <a:solidFill>
            <a:srgbClr val="F0F7F5"/>
          </a:solidFill>
          <a:ln>
            <a:noFill/>
          </a:ln>
        </p:spPr>
        <p:txBody>
          <a:bodyPr/>
          <a:lstStyle/>
          <a:p>
            <a:endParaRPr/>
          </a:p>
        </p:txBody>
      </p:sp>
      <p:sp>
        <p:nvSpPr>
          <p:cNvPr id="21" name="TB20"/>
          <p:cNvSpPr/>
          <p:nvPr/>
        </p:nvSpPr>
        <p:spPr>
          <a:xfrm>
            <a:off x="2527300" y="1651000"/>
            <a:ext cx="1955800" cy="76200"/>
          </a:xfrm>
          <a:prstGeom prst="rect">
            <a:avLst/>
          </a:prstGeom>
          <a:solidFill>
            <a:srgbClr val="1A7A6B"/>
          </a:solidFill>
          <a:ln>
            <a:noFill/>
          </a:ln>
        </p:spPr>
        <p:txBody>
          <a:bodyPr/>
          <a:lstStyle/>
          <a:p>
            <a:endParaRPr/>
          </a:p>
        </p:txBody>
      </p:sp>
      <p:sp>
        <p:nvSpPr>
          <p:cNvPr id="22" name="CL20"/>
          <p:cNvSpPr txBox="1"/>
          <p:nvPr/>
        </p:nvSpPr>
        <p:spPr>
          <a:xfrm>
            <a:off x="2628900" y="1828800"/>
            <a:ext cx="1752600" cy="381000"/>
          </a:xfrm>
          <a:prstGeom prst="rect">
            <a:avLst/>
          </a:prstGeom>
          <a:noFill/>
          <a:ln>
            <a:noFill/>
          </a:ln>
        </p:spPr>
        <p:txBody>
          <a:bodyPr wrap="square" lIns="0" tIns="0" rIns="0" bIns="0"/>
          <a:lstStyle/>
          <a:p>
            <a:pPr marL="0" indent="0">
              <a:buNone/>
            </a:pPr>
            <a:r>
              <a:rPr lang="en-US" sz="1500" b="1" dirty="0">
                <a:solidFill>
                  <a:srgbClr val="1A7A6B"/>
                </a:solidFill>
                <a:latin typeface="Georgia"/>
              </a:rPr>
              <a:t>High potential</a:t>
            </a:r>
          </a:p>
        </p:txBody>
      </p:sp>
      <p:sp>
        <p:nvSpPr>
          <p:cNvPr id="23" name="CT20"/>
          <p:cNvSpPr txBox="1"/>
          <p:nvPr/>
        </p:nvSpPr>
        <p:spPr>
          <a:xfrm>
            <a:off x="2628900" y="2260600"/>
            <a:ext cx="1752600" cy="254000"/>
          </a:xfrm>
          <a:prstGeom prst="rect">
            <a:avLst/>
          </a:prstGeom>
          <a:noFill/>
          <a:ln>
            <a:noFill/>
          </a:ln>
        </p:spPr>
        <p:txBody>
          <a:bodyPr wrap="square" lIns="0" tIns="0" rIns="0" bIns="0"/>
          <a:lstStyle/>
          <a:p>
            <a:pPr marL="0" indent="0">
              <a:buNone/>
            </a:pPr>
            <a:r>
              <a:rPr lang="en-US" sz="1300" b="1" dirty="0">
                <a:solidFill>
                  <a:srgbClr val="1A7A6B"/>
                </a:solidFill>
                <a:latin typeface="Calibri"/>
              </a:rPr>
              <a:t>&lt; 80% utilization</a:t>
            </a:r>
          </a:p>
        </p:txBody>
      </p:sp>
      <p:sp>
        <p:nvSpPr>
          <p:cNvPr id="24" name="CD20"/>
          <p:cNvSpPr txBox="1"/>
          <p:nvPr/>
        </p:nvSpPr>
        <p:spPr>
          <a:xfrm>
            <a:off x="2628900" y="2565400"/>
            <a:ext cx="1752600" cy="431800"/>
          </a:xfrm>
          <a:prstGeom prst="rect">
            <a:avLst/>
          </a:prstGeom>
          <a:noFill/>
          <a:ln>
            <a:noFill/>
          </a:ln>
        </p:spPr>
        <p:txBody>
          <a:bodyPr wrap="square" lIns="0" tIns="0" rIns="0" bIns="0"/>
          <a:lstStyle/>
          <a:p>
            <a:pPr marL="0" indent="0">
              <a:buNone/>
            </a:pPr>
            <a:r>
              <a:rPr lang="en-US" sz="1200" dirty="0">
                <a:solidFill>
                  <a:srgbClr val="444444"/>
                </a:solidFill>
                <a:latin typeface="Calibri"/>
              </a:rPr>
              <a:t>Clear remaining capacity — primary TDR supply</a:t>
            </a:r>
          </a:p>
        </p:txBody>
      </p:sp>
      <p:sp>
        <p:nvSpPr>
          <p:cNvPr id="30" name="Cat30"/>
          <p:cNvSpPr/>
          <p:nvPr/>
        </p:nvSpPr>
        <p:spPr>
          <a:xfrm>
            <a:off x="4686300" y="1651000"/>
            <a:ext cx="1955800" cy="1397000"/>
          </a:xfrm>
          <a:prstGeom prst="rect">
            <a:avLst/>
          </a:prstGeom>
          <a:solidFill>
            <a:srgbClr val="FDF5EE"/>
          </a:solidFill>
          <a:ln>
            <a:noFill/>
          </a:ln>
        </p:spPr>
        <p:txBody>
          <a:bodyPr/>
          <a:lstStyle/>
          <a:p>
            <a:endParaRPr/>
          </a:p>
        </p:txBody>
      </p:sp>
      <p:sp>
        <p:nvSpPr>
          <p:cNvPr id="31" name="TB30"/>
          <p:cNvSpPr/>
          <p:nvPr/>
        </p:nvSpPr>
        <p:spPr>
          <a:xfrm>
            <a:off x="4686300" y="1651000"/>
            <a:ext cx="1955800" cy="76200"/>
          </a:xfrm>
          <a:prstGeom prst="rect">
            <a:avLst/>
          </a:prstGeom>
          <a:solidFill>
            <a:srgbClr val="C8792A"/>
          </a:solidFill>
          <a:ln>
            <a:noFill/>
          </a:ln>
        </p:spPr>
        <p:txBody>
          <a:bodyPr/>
          <a:lstStyle/>
          <a:p>
            <a:endParaRPr/>
          </a:p>
        </p:txBody>
      </p:sp>
      <p:sp>
        <p:nvSpPr>
          <p:cNvPr id="32" name="CL30"/>
          <p:cNvSpPr txBox="1"/>
          <p:nvPr/>
        </p:nvSpPr>
        <p:spPr>
          <a:xfrm>
            <a:off x="4787900" y="1828800"/>
            <a:ext cx="1752600" cy="381000"/>
          </a:xfrm>
          <a:prstGeom prst="rect">
            <a:avLst/>
          </a:prstGeom>
          <a:noFill/>
          <a:ln>
            <a:noFill/>
          </a:ln>
        </p:spPr>
        <p:txBody>
          <a:bodyPr wrap="square" lIns="0" tIns="0" rIns="0" bIns="0"/>
          <a:lstStyle/>
          <a:p>
            <a:pPr marL="0" indent="0">
              <a:buNone/>
            </a:pPr>
            <a:r>
              <a:rPr lang="en-US" sz="1500" b="1" dirty="0">
                <a:solidFill>
                  <a:srgbClr val="C8792A"/>
                </a:solidFill>
                <a:latin typeface="Georgia"/>
              </a:rPr>
              <a:t>Low potential</a:t>
            </a:r>
          </a:p>
        </p:txBody>
      </p:sp>
      <p:sp>
        <p:nvSpPr>
          <p:cNvPr id="33" name="CT30"/>
          <p:cNvSpPr txBox="1"/>
          <p:nvPr/>
        </p:nvSpPr>
        <p:spPr>
          <a:xfrm>
            <a:off x="4787900" y="2260600"/>
            <a:ext cx="1752600" cy="254000"/>
          </a:xfrm>
          <a:prstGeom prst="rect">
            <a:avLst/>
          </a:prstGeom>
          <a:noFill/>
          <a:ln>
            <a:noFill/>
          </a:ln>
        </p:spPr>
        <p:txBody>
          <a:bodyPr wrap="square" lIns="0" tIns="0" rIns="0" bIns="0"/>
          <a:lstStyle/>
          <a:p>
            <a:pPr marL="0" indent="0">
              <a:buNone/>
            </a:pPr>
            <a:r>
              <a:rPr lang="en-US" sz="1300" b="1" dirty="0">
                <a:solidFill>
                  <a:srgbClr val="C8792A"/>
                </a:solidFill>
                <a:latin typeface="Calibri"/>
              </a:rPr>
              <a:t>80–100% utilized</a:t>
            </a:r>
          </a:p>
        </p:txBody>
      </p:sp>
      <p:sp>
        <p:nvSpPr>
          <p:cNvPr id="34" name="CD30"/>
          <p:cNvSpPr txBox="1"/>
          <p:nvPr/>
        </p:nvSpPr>
        <p:spPr>
          <a:xfrm>
            <a:off x="4787900" y="2565400"/>
            <a:ext cx="1752600" cy="431800"/>
          </a:xfrm>
          <a:prstGeom prst="rect">
            <a:avLst/>
          </a:prstGeom>
          <a:noFill/>
          <a:ln>
            <a:noFill/>
          </a:ln>
        </p:spPr>
        <p:txBody>
          <a:bodyPr wrap="square" lIns="0" tIns="0" rIns="0" bIns="0"/>
          <a:lstStyle/>
          <a:p>
            <a:pPr marL="0" indent="0">
              <a:buNone/>
            </a:pPr>
            <a:r>
              <a:rPr lang="en-US" sz="1200" dirty="0">
                <a:solidFill>
                  <a:srgbClr val="444444"/>
                </a:solidFill>
                <a:latin typeface="Calibri"/>
              </a:rPr>
              <a:t>Limited remaining capacity</a:t>
            </a:r>
          </a:p>
        </p:txBody>
      </p:sp>
      <p:sp>
        <p:nvSpPr>
          <p:cNvPr id="40" name="Cat40"/>
          <p:cNvSpPr/>
          <p:nvPr/>
        </p:nvSpPr>
        <p:spPr>
          <a:xfrm>
            <a:off x="6845300" y="1651000"/>
            <a:ext cx="1955800" cy="1397000"/>
          </a:xfrm>
          <a:prstGeom prst="rect">
            <a:avLst/>
          </a:prstGeom>
          <a:solidFill>
            <a:srgbClr val="EEF2F7"/>
          </a:solidFill>
          <a:ln>
            <a:noFill/>
          </a:ln>
        </p:spPr>
        <p:txBody>
          <a:bodyPr/>
          <a:lstStyle/>
          <a:p>
            <a:endParaRPr/>
          </a:p>
        </p:txBody>
      </p:sp>
      <p:sp>
        <p:nvSpPr>
          <p:cNvPr id="41" name="TB40"/>
          <p:cNvSpPr/>
          <p:nvPr/>
        </p:nvSpPr>
        <p:spPr>
          <a:xfrm>
            <a:off x="6845300" y="1651000"/>
            <a:ext cx="1955800" cy="76200"/>
          </a:xfrm>
          <a:prstGeom prst="rect">
            <a:avLst/>
          </a:prstGeom>
          <a:solidFill>
            <a:srgbClr val="1B3A5C"/>
          </a:solidFill>
          <a:ln>
            <a:noFill/>
          </a:ln>
        </p:spPr>
        <p:txBody>
          <a:bodyPr/>
          <a:lstStyle/>
          <a:p>
            <a:endParaRPr/>
          </a:p>
        </p:txBody>
      </p:sp>
      <p:sp>
        <p:nvSpPr>
          <p:cNvPr id="42" name="CL40"/>
          <p:cNvSpPr txBox="1"/>
          <p:nvPr/>
        </p:nvSpPr>
        <p:spPr>
          <a:xfrm>
            <a:off x="6946900" y="1828800"/>
            <a:ext cx="1752600" cy="381000"/>
          </a:xfrm>
          <a:prstGeom prst="rect">
            <a:avLst/>
          </a:prstGeom>
          <a:noFill/>
          <a:ln>
            <a:noFill/>
          </a:ln>
        </p:spPr>
        <p:txBody>
          <a:bodyPr wrap="square" lIns="0" tIns="0" rIns="0" bIns="0"/>
          <a:lstStyle/>
          <a:p>
            <a:pPr marL="0" indent="0">
              <a:buNone/>
            </a:pPr>
            <a:r>
              <a:rPr lang="en-US" sz="1500" b="1" dirty="0">
                <a:solidFill>
                  <a:srgbClr val="1B3A5C"/>
                </a:solidFill>
                <a:latin typeface="Georgia"/>
              </a:rPr>
              <a:t>No potential</a:t>
            </a:r>
          </a:p>
        </p:txBody>
      </p:sp>
      <p:sp>
        <p:nvSpPr>
          <p:cNvPr id="43" name="CT40"/>
          <p:cNvSpPr txBox="1"/>
          <p:nvPr/>
        </p:nvSpPr>
        <p:spPr>
          <a:xfrm>
            <a:off x="6946900" y="2260600"/>
            <a:ext cx="1752600" cy="254000"/>
          </a:xfrm>
          <a:prstGeom prst="rect">
            <a:avLst/>
          </a:prstGeom>
          <a:noFill/>
          <a:ln>
            <a:noFill/>
          </a:ln>
        </p:spPr>
        <p:txBody>
          <a:bodyPr wrap="square" lIns="0" tIns="0" rIns="0" bIns="0"/>
          <a:lstStyle/>
          <a:p>
            <a:pPr marL="0" indent="0">
              <a:buNone/>
            </a:pPr>
            <a:r>
              <a:rPr lang="en-US" sz="1300" b="1" dirty="0">
                <a:solidFill>
                  <a:srgbClr val="1B3A5C"/>
                </a:solidFill>
                <a:latin typeface="Calibri"/>
              </a:rPr>
              <a:t>&gt; 100% utilized</a:t>
            </a:r>
          </a:p>
        </p:txBody>
      </p:sp>
      <p:sp>
        <p:nvSpPr>
          <p:cNvPr id="44" name="CD40"/>
          <p:cNvSpPr txBox="1"/>
          <p:nvPr/>
        </p:nvSpPr>
        <p:spPr>
          <a:xfrm>
            <a:off x="6946900" y="2565400"/>
            <a:ext cx="1752600" cy="431800"/>
          </a:xfrm>
          <a:prstGeom prst="rect">
            <a:avLst/>
          </a:prstGeom>
          <a:noFill/>
          <a:ln>
            <a:noFill/>
          </a:ln>
        </p:spPr>
        <p:txBody>
          <a:bodyPr wrap="square" lIns="0" tIns="0" rIns="0" bIns="0"/>
          <a:lstStyle/>
          <a:p>
            <a:pPr marL="0" indent="0">
              <a:buNone/>
            </a:pPr>
            <a:r>
              <a:rPr lang="en-US" sz="1200" dirty="0">
                <a:solidFill>
                  <a:srgbClr val="444444"/>
                </a:solidFill>
                <a:latin typeface="Calibri"/>
              </a:rPr>
              <a:t>At or above zoning maximum</a:t>
            </a:r>
          </a:p>
        </p:txBody>
      </p:sp>
      <p:sp>
        <p:nvSpPr>
          <p:cNvPr id="60" name="SampleHdr"/>
          <p:cNvSpPr/>
          <p:nvPr/>
        </p:nvSpPr>
        <p:spPr>
          <a:xfrm>
            <a:off x="368300" y="3238500"/>
            <a:ext cx="8407400" cy="355600"/>
          </a:xfrm>
          <a:prstGeom prst="rect">
            <a:avLst/>
          </a:prstGeom>
          <a:solidFill>
            <a:srgbClr val="1B3A5C"/>
          </a:solidFill>
          <a:ln>
            <a:noFill/>
          </a:ln>
        </p:spPr>
        <p:txBody>
          <a:bodyPr anchor="ctr"/>
          <a:lstStyle/>
          <a:p>
            <a:pPr algn="ctr">
              <a:buNone/>
            </a:pPr>
            <a:r>
              <a:rPr lang="en-US" sz="1400" b="1" dirty="0">
                <a:solidFill>
                  <a:srgbClr val="FFFFFF"/>
                </a:solidFill>
                <a:latin typeface="Calibri"/>
              </a:rPr>
              <a:t>Sample — Yorktown Neighborhood</a:t>
            </a:r>
          </a:p>
        </p:txBody>
      </p:sp>
      <p:sp>
        <p:nvSpPr>
          <p:cNvPr id="70" name="Yk70"/>
          <p:cNvSpPr txBox="1"/>
          <p:nvPr/>
        </p:nvSpPr>
        <p:spPr>
          <a:xfrm>
            <a:off x="368300" y="3644900"/>
            <a:ext cx="1930400" cy="1016000"/>
          </a:xfrm>
          <a:prstGeom prst="rect">
            <a:avLst/>
          </a:prstGeom>
          <a:solidFill>
            <a:srgbClr val="F4F6F9"/>
          </a:solidFill>
          <a:ln>
            <a:noFill/>
          </a:ln>
        </p:spPr>
        <p:txBody>
          <a:bodyPr wrap="square" lIns="91440" tIns="45720" rIns="91440" bIns="45720" anchor="ctr"/>
          <a:lstStyle/>
          <a:p>
            <a:pPr algn="ctr">
              <a:buNone/>
            </a:pPr>
            <a:r>
              <a:rPr lang="en-US" sz="2800" b="1" dirty="0">
                <a:solidFill>
                  <a:srgbClr val="1B3A5C"/>
                </a:solidFill>
                <a:latin typeface="Georgia"/>
              </a:rPr>
              <a:t>974</a:t>
            </a:r>
            <a:br>
              <a:rPr lang="en-US" sz="1300" dirty="0"/>
            </a:br>
            <a:r>
              <a:rPr lang="en-US" sz="1300" dirty="0">
                <a:solidFill>
                  <a:srgbClr val="444444"/>
                </a:solidFill>
                <a:latin typeface="Calibri"/>
              </a:rPr>
              <a:t>Parcels analyzed</a:t>
            </a:r>
          </a:p>
        </p:txBody>
      </p:sp>
      <p:sp>
        <p:nvSpPr>
          <p:cNvPr id="80" name="Yk80"/>
          <p:cNvSpPr txBox="1"/>
          <p:nvPr/>
        </p:nvSpPr>
        <p:spPr>
          <a:xfrm>
            <a:off x="2501900" y="3644900"/>
            <a:ext cx="1930400" cy="1016000"/>
          </a:xfrm>
          <a:prstGeom prst="rect">
            <a:avLst/>
          </a:prstGeom>
          <a:solidFill>
            <a:srgbClr val="F4F6F9"/>
          </a:solidFill>
          <a:ln>
            <a:noFill/>
          </a:ln>
        </p:spPr>
        <p:txBody>
          <a:bodyPr wrap="square" lIns="91440" tIns="45720" rIns="91440" bIns="45720" anchor="ctr"/>
          <a:lstStyle/>
          <a:p>
            <a:pPr algn="ctr">
              <a:buNone/>
            </a:pPr>
            <a:r>
              <a:rPr lang="en-US" sz="2800" b="1" dirty="0">
                <a:solidFill>
                  <a:srgbClr val="1A7A6B"/>
                </a:solidFill>
                <a:latin typeface="Georgia"/>
              </a:rPr>
              <a:t>83.5%</a:t>
            </a:r>
            <a:br>
              <a:rPr lang="en-US" sz="1300" dirty="0"/>
            </a:br>
            <a:r>
              <a:rPr lang="en-US" sz="1300" dirty="0">
                <a:solidFill>
                  <a:srgbClr val="444444"/>
                </a:solidFill>
                <a:latin typeface="Calibri"/>
              </a:rPr>
              <a:t>High potential</a:t>
            </a:r>
          </a:p>
        </p:txBody>
      </p:sp>
      <p:sp>
        <p:nvSpPr>
          <p:cNvPr id="90" name="Yk90"/>
          <p:cNvSpPr txBox="1"/>
          <p:nvPr/>
        </p:nvSpPr>
        <p:spPr>
          <a:xfrm>
            <a:off x="4635500" y="3644900"/>
            <a:ext cx="1930400" cy="1016000"/>
          </a:xfrm>
          <a:prstGeom prst="rect">
            <a:avLst/>
          </a:prstGeom>
          <a:solidFill>
            <a:srgbClr val="F4F6F9"/>
          </a:solidFill>
          <a:ln>
            <a:noFill/>
          </a:ln>
        </p:spPr>
        <p:txBody>
          <a:bodyPr wrap="square" lIns="91440" tIns="45720" rIns="91440" bIns="45720" anchor="ctr"/>
          <a:lstStyle/>
          <a:p>
            <a:pPr algn="ctr">
              <a:buNone/>
            </a:pPr>
            <a:r>
              <a:rPr lang="en-US" sz="2800" b="1" dirty="0">
                <a:solidFill>
                  <a:srgbClr val="C8792A"/>
                </a:solidFill>
                <a:latin typeface="Georgia"/>
              </a:rPr>
              <a:t>11.5%</a:t>
            </a:r>
            <a:br>
              <a:rPr lang="en-US" sz="1300" dirty="0"/>
            </a:br>
            <a:r>
              <a:rPr lang="en-US" sz="1300" dirty="0">
                <a:solidFill>
                  <a:srgbClr val="444444"/>
                </a:solidFill>
                <a:latin typeface="Calibri"/>
              </a:rPr>
              <a:t>Low potential</a:t>
            </a:r>
          </a:p>
        </p:txBody>
      </p:sp>
      <p:sp>
        <p:nvSpPr>
          <p:cNvPr id="100" name="Yk100"/>
          <p:cNvSpPr txBox="1"/>
          <p:nvPr/>
        </p:nvSpPr>
        <p:spPr>
          <a:xfrm>
            <a:off x="6769100" y="3644900"/>
            <a:ext cx="1930400" cy="1016000"/>
          </a:xfrm>
          <a:prstGeom prst="rect">
            <a:avLst/>
          </a:prstGeom>
          <a:solidFill>
            <a:srgbClr val="F4F6F9"/>
          </a:solidFill>
          <a:ln>
            <a:noFill/>
          </a:ln>
        </p:spPr>
        <p:txBody>
          <a:bodyPr wrap="square" lIns="91440" tIns="45720" rIns="91440" bIns="45720" anchor="ctr"/>
          <a:lstStyle/>
          <a:p>
            <a:pPr algn="ctr">
              <a:buNone/>
            </a:pPr>
            <a:r>
              <a:rPr lang="en-US" sz="2800" b="1" dirty="0">
                <a:solidFill>
                  <a:srgbClr val="666666"/>
                </a:solidFill>
                <a:latin typeface="Georgia"/>
              </a:rPr>
              <a:t>5.0%</a:t>
            </a:r>
            <a:br>
              <a:rPr lang="en-US" sz="1300" dirty="0"/>
            </a:br>
            <a:r>
              <a:rPr lang="en-US" sz="1300" dirty="0">
                <a:solidFill>
                  <a:srgbClr val="444444"/>
                </a:solidFill>
                <a:latin typeface="Calibri"/>
              </a:rPr>
              <a:t>No potential</a:t>
            </a:r>
          </a:p>
        </p:txBody>
      </p:sp>
    </p:spTree>
    <p:extLst>
      <p:ext uri="{BB962C8B-B14F-4D97-AF65-F5344CB8AC3E}">
        <p14:creationId xmlns:p14="http://schemas.microsoft.com/office/powerpoint/2010/main" val="16542476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
          <p:cNvSpPr/>
          <p:nvPr/>
        </p:nvSpPr>
        <p:spPr>
          <a:xfrm>
            <a:off x="0" y="0"/>
            <a:ext cx="9144000" cy="635000"/>
          </a:xfrm>
          <a:prstGeom prst="rect">
            <a:avLst/>
          </a:prstGeom>
          <a:solidFill>
            <a:srgbClr val="1B3A5C"/>
          </a:solidFill>
          <a:ln>
            <a:noFill/>
          </a:ln>
        </p:spPr>
        <p:txBody>
          <a:bodyPr/>
          <a:lstStyle/>
          <a:p>
            <a:endParaRPr/>
          </a:p>
        </p:txBody>
      </p:sp>
      <p:sp>
        <p:nvSpPr>
          <p:cNvPr id="3" name="Title"/>
          <p:cNvSpPr txBox="1"/>
          <p:nvPr/>
        </p:nvSpPr>
        <p:spPr>
          <a:xfrm>
            <a:off x="368300" y="63500"/>
            <a:ext cx="8407400" cy="508000"/>
          </a:xfrm>
          <a:prstGeom prst="rect">
            <a:avLst/>
          </a:prstGeom>
          <a:noFill/>
          <a:ln>
            <a:noFill/>
          </a:ln>
        </p:spPr>
        <p:txBody>
          <a:bodyPr wrap="square" lIns="0" tIns="0" rIns="0" bIns="0" anchor="ctr"/>
          <a:lstStyle/>
          <a:p>
            <a:pPr marL="0" indent="0">
              <a:buNone/>
            </a:pPr>
            <a:r>
              <a:rPr lang="en-US" sz="2000" b="1" dirty="0">
                <a:solidFill>
                  <a:srgbClr val="FFFFFF"/>
                </a:solidFill>
                <a:latin typeface="Georgia" pitchFamily="34" charset="0"/>
              </a:rPr>
              <a:t>Stage 4 — Valuation</a:t>
            </a:r>
          </a:p>
        </p:txBody>
      </p:sp>
      <p:sp>
        <p:nvSpPr>
          <p:cNvPr id="4" name="Sub"/>
          <p:cNvSpPr txBox="1"/>
          <p:nvPr/>
        </p:nvSpPr>
        <p:spPr>
          <a:xfrm>
            <a:off x="368300" y="685800"/>
            <a:ext cx="8407400" cy="279400"/>
          </a:xfrm>
          <a:prstGeom prst="rect">
            <a:avLst/>
          </a:prstGeom>
          <a:noFill/>
          <a:ln>
            <a:noFill/>
          </a:ln>
        </p:spPr>
        <p:txBody>
          <a:bodyPr wrap="square" lIns="0" tIns="0" rIns="0" bIns="0"/>
          <a:lstStyle/>
          <a:p>
            <a:pPr marL="0" indent="0">
              <a:buNone/>
            </a:pPr>
            <a:r>
              <a:rPr lang="en-US" sz="1400" i="1" dirty="0">
                <a:solidFill>
                  <a:srgbClr val="1B3A5C"/>
                </a:solidFill>
                <a:latin typeface="Calibri"/>
              </a:rPr>
              <a:t>Land residual method estimates dollar value of available development rights</a:t>
            </a:r>
          </a:p>
        </p:txBody>
      </p:sp>
      <p:sp>
        <p:nvSpPr>
          <p:cNvPr id="5" name="FormulaBox"/>
          <p:cNvSpPr/>
          <p:nvPr/>
        </p:nvSpPr>
        <p:spPr>
          <a:xfrm>
            <a:off x="368300" y="1066800"/>
            <a:ext cx="4127500" cy="2908300"/>
          </a:xfrm>
          <a:prstGeom prst="rect">
            <a:avLst/>
          </a:prstGeom>
          <a:solidFill>
            <a:srgbClr val="1B3A5C"/>
          </a:solidFill>
          <a:ln>
            <a:noFill/>
          </a:ln>
        </p:spPr>
        <p:txBody>
          <a:bodyPr/>
          <a:lstStyle/>
          <a:p>
            <a:endParaRPr/>
          </a:p>
        </p:txBody>
      </p:sp>
      <p:sp>
        <p:nvSpPr>
          <p:cNvPr id="6" name="FTitle"/>
          <p:cNvSpPr txBox="1"/>
          <p:nvPr/>
        </p:nvSpPr>
        <p:spPr>
          <a:xfrm>
            <a:off x="508000" y="1168400"/>
            <a:ext cx="3873500" cy="304800"/>
          </a:xfrm>
          <a:prstGeom prst="rect">
            <a:avLst/>
          </a:prstGeom>
          <a:noFill/>
          <a:ln>
            <a:noFill/>
          </a:ln>
        </p:spPr>
        <p:txBody>
          <a:bodyPr wrap="square" lIns="0" tIns="0" rIns="0" bIns="0"/>
          <a:lstStyle/>
          <a:p>
            <a:pPr marL="0" indent="0">
              <a:buNone/>
            </a:pPr>
            <a:r>
              <a:rPr lang="en-US" sz="1500" b="1" dirty="0">
                <a:solidFill>
                  <a:srgbClr val="1A7A6B"/>
                </a:solidFill>
                <a:latin typeface="Georgia"/>
              </a:rPr>
              <a:t>Land Residual Method</a:t>
            </a:r>
          </a:p>
        </p:txBody>
      </p:sp>
      <p:sp>
        <p:nvSpPr>
          <p:cNvPr id="7" name="F0"/>
          <p:cNvSpPr txBox="1"/>
          <p:nvPr/>
        </p:nvSpPr>
        <p:spPr>
          <a:xfrm>
            <a:off x="508000" y="1625600"/>
            <a:ext cx="3873500" cy="406400"/>
          </a:xfrm>
          <a:prstGeom prst="rect">
            <a:avLst/>
          </a:prstGeom>
          <a:solidFill>
            <a:srgbClr val="162F4A"/>
          </a:solidFill>
          <a:ln>
            <a:noFill/>
          </a:ln>
        </p:spPr>
        <p:txBody>
          <a:bodyPr wrap="square" lIns="91440" tIns="45720" rIns="91440" bIns="45720" anchor="ctr"/>
          <a:lstStyle/>
          <a:p>
            <a:pPr marL="0" indent="0">
              <a:buNone/>
            </a:pPr>
            <a:r>
              <a:rPr lang="en-US" sz="1300" dirty="0">
                <a:solidFill>
                  <a:srgbClr val="A8D5CC"/>
                </a:solidFill>
                <a:latin typeface="Calibri"/>
              </a:rPr>
              <a:t>land_rate = land_value ÷ max_gfa</a:t>
            </a:r>
          </a:p>
        </p:txBody>
      </p:sp>
      <p:sp>
        <p:nvSpPr>
          <p:cNvPr id="8" name="F1"/>
          <p:cNvSpPr txBox="1"/>
          <p:nvPr/>
        </p:nvSpPr>
        <p:spPr>
          <a:xfrm>
            <a:off x="495300" y="2484120"/>
            <a:ext cx="3873500" cy="406400"/>
          </a:xfrm>
          <a:prstGeom prst="rect">
            <a:avLst/>
          </a:prstGeom>
          <a:solidFill>
            <a:srgbClr val="162F4A"/>
          </a:solidFill>
          <a:ln>
            <a:noFill/>
          </a:ln>
        </p:spPr>
        <p:txBody>
          <a:bodyPr wrap="square" lIns="91440" tIns="45720" rIns="91440" bIns="45720" anchor="ctr"/>
          <a:lstStyle/>
          <a:p>
            <a:pPr marL="0" indent="0">
              <a:buNone/>
            </a:pPr>
            <a:r>
              <a:rPr lang="en-US" sz="1300" dirty="0">
                <a:solidFill>
                  <a:srgbClr val="A8D5CC"/>
                </a:solidFill>
                <a:latin typeface="Calibri"/>
              </a:rPr>
              <a:t>estimated_value = available_gfa × land_rate × discount_factor</a:t>
            </a:r>
          </a:p>
        </p:txBody>
      </p:sp>
      <p:sp>
        <p:nvSpPr>
          <p:cNvPr id="20" name="D20"/>
          <p:cNvSpPr txBox="1"/>
          <p:nvPr/>
        </p:nvSpPr>
        <p:spPr>
          <a:xfrm>
            <a:off x="4572000" y="2862580"/>
            <a:ext cx="4191000" cy="673100"/>
          </a:xfrm>
          <a:prstGeom prst="rect">
            <a:avLst/>
          </a:prstGeom>
          <a:solidFill>
            <a:srgbClr val="F4F6F9"/>
          </a:solidFill>
          <a:ln>
            <a:noFill/>
          </a:ln>
        </p:spPr>
        <p:txBody>
          <a:bodyPr wrap="square" lIns="91440" tIns="45720" rIns="91440" bIns="45720"/>
          <a:lstStyle/>
          <a:p>
            <a:pPr marL="0" indent="0">
              <a:buNone/>
            </a:pPr>
            <a:r>
              <a:rPr lang="en-US" sz="1400" b="1" dirty="0">
                <a:solidFill>
                  <a:srgbClr val="C8792A"/>
                </a:solidFill>
                <a:latin typeface="Georgia"/>
              </a:rPr>
              <a:t>Discount Factor: </a:t>
            </a:r>
            <a:r>
              <a:rPr lang="en-US" sz="1300" dirty="0">
                <a:solidFill>
                  <a:srgbClr val="333333"/>
                </a:solidFill>
                <a:latin typeface="Calibri"/>
              </a:rPr>
              <a:t>0.55–0.75 range — anchored to conservation easement comps, demand-side analysis, and comparable TDR programs</a:t>
            </a:r>
          </a:p>
        </p:txBody>
      </p:sp>
      <p:sp>
        <p:nvSpPr>
          <p:cNvPr id="40" name="D40"/>
          <p:cNvSpPr txBox="1"/>
          <p:nvPr/>
        </p:nvSpPr>
        <p:spPr>
          <a:xfrm>
            <a:off x="4572000" y="1695450"/>
            <a:ext cx="4191000" cy="673100"/>
          </a:xfrm>
          <a:prstGeom prst="rect">
            <a:avLst/>
          </a:prstGeom>
          <a:solidFill>
            <a:srgbClr val="F4F6F9"/>
          </a:solidFill>
          <a:ln>
            <a:noFill/>
          </a:ln>
        </p:spPr>
        <p:txBody>
          <a:bodyPr wrap="square" lIns="91440" tIns="45720" rIns="91440" bIns="45720"/>
          <a:lstStyle/>
          <a:p>
            <a:pPr marL="0" indent="0">
              <a:buNone/>
            </a:pPr>
            <a:r>
              <a:rPr lang="en-US" sz="1400" b="1" dirty="0">
                <a:solidFill>
                  <a:srgbClr val="1B3A5C"/>
                </a:solidFill>
                <a:latin typeface="Georgia"/>
              </a:rPr>
              <a:t>What It Captures: </a:t>
            </a:r>
            <a:r>
              <a:rPr lang="en-US" sz="1300" dirty="0">
                <a:solidFill>
                  <a:srgbClr val="333333"/>
                </a:solidFill>
                <a:latin typeface="Calibri"/>
              </a:rPr>
              <a:t>Portion of the land value attributable to development rights</a:t>
            </a:r>
          </a:p>
        </p:txBody>
      </p:sp>
      <p:sp>
        <p:nvSpPr>
          <p:cNvPr id="50" name="Insight"/>
          <p:cNvSpPr txBox="1"/>
          <p:nvPr/>
        </p:nvSpPr>
        <p:spPr>
          <a:xfrm>
            <a:off x="368300" y="4076700"/>
            <a:ext cx="8394700" cy="673100"/>
          </a:xfrm>
          <a:prstGeom prst="rect">
            <a:avLst/>
          </a:prstGeom>
          <a:solidFill>
            <a:srgbClr val="FDF5EE"/>
          </a:solidFill>
          <a:ln>
            <a:noFill/>
          </a:ln>
        </p:spPr>
        <p:txBody>
          <a:bodyPr wrap="square" lIns="91440" tIns="45720" rIns="91440" bIns="45720" anchor="t"/>
          <a:lstStyle/>
          <a:p>
            <a:pPr>
              <a:lnSpc>
                <a:spcPct val="150000"/>
              </a:lnSpc>
              <a:spcAft>
                <a:spcPts val="600"/>
              </a:spcAft>
            </a:pPr>
            <a:r>
              <a:rPr lang="en-US" sz="1300" i="1" dirty="0">
                <a:solidFill>
                  <a:srgbClr val="C8792A"/>
                </a:solidFill>
                <a:latin typeface="Calibri"/>
              </a:rPr>
              <a:t>Economic </a:t>
            </a:r>
            <a:r>
              <a:rPr lang="en-US" sz="1300" i="1" dirty="0">
                <a:solidFill>
                  <a:srgbClr val="C8792A"/>
                </a:solidFill>
              </a:rPr>
              <a:t>analysis documented here: </a:t>
            </a:r>
            <a:r>
              <a:rPr lang="en-US" sz="1200" i="1" dirty="0">
                <a:solidFill>
                  <a:srgbClr val="C8792A"/>
                </a:solidFill>
                <a:hlinkClick r:id="rId3"/>
              </a:rPr>
              <a:t>https://github.com/joburke1/tdranalysis/blob/main/supporting%20documentation/Valuation%20of%20Development%20Rights.md</a:t>
            </a:r>
            <a:endParaRPr lang="en-US" sz="1300" i="1" dirty="0">
              <a:solidFill>
                <a:srgbClr val="C8792A"/>
              </a:solidFill>
              <a:latin typeface="Calibri"/>
            </a:endParaRPr>
          </a:p>
        </p:txBody>
      </p:sp>
      <p:sp>
        <p:nvSpPr>
          <p:cNvPr id="9" name="F1">
            <a:extLst>
              <a:ext uri="{FF2B5EF4-FFF2-40B4-BE49-F238E27FC236}">
                <a16:creationId xmlns:a16="http://schemas.microsoft.com/office/drawing/2014/main" id="{3CA4CFD1-C22B-AAEA-68B9-24240A0C85A3}"/>
              </a:ext>
            </a:extLst>
          </p:cNvPr>
          <p:cNvSpPr txBox="1"/>
          <p:nvPr/>
        </p:nvSpPr>
        <p:spPr>
          <a:xfrm>
            <a:off x="508000" y="3362960"/>
            <a:ext cx="3873500" cy="406400"/>
          </a:xfrm>
          <a:prstGeom prst="rect">
            <a:avLst/>
          </a:prstGeom>
          <a:solidFill>
            <a:srgbClr val="162F4A"/>
          </a:solidFill>
          <a:ln>
            <a:noFill/>
          </a:ln>
        </p:spPr>
        <p:txBody>
          <a:bodyPr wrap="square" lIns="91440" tIns="45720" rIns="91440" bIns="45720" anchor="ctr"/>
          <a:lstStyle/>
          <a:p>
            <a:pPr marL="0" indent="0">
              <a:buNone/>
            </a:pPr>
            <a:r>
              <a:rPr lang="en-US" sz="1300" dirty="0">
                <a:solidFill>
                  <a:srgbClr val="A8D5CC"/>
                </a:solidFill>
                <a:latin typeface="Calibri"/>
              </a:rPr>
              <a:t>Estimates produced at 0.55 and 0.75 discount factors</a:t>
            </a:r>
          </a:p>
        </p:txBody>
      </p:sp>
    </p:spTree>
    <p:extLst>
      <p:ext uri="{BB962C8B-B14F-4D97-AF65-F5344CB8AC3E}">
        <p14:creationId xmlns:p14="http://schemas.microsoft.com/office/powerpoint/2010/main" val="13750315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
          <p:cNvSpPr/>
          <p:nvPr/>
        </p:nvSpPr>
        <p:spPr>
          <a:xfrm>
            <a:off x="0" y="0"/>
            <a:ext cx="9144000" cy="635000"/>
          </a:xfrm>
          <a:prstGeom prst="rect">
            <a:avLst/>
          </a:prstGeom>
          <a:solidFill>
            <a:srgbClr val="1A7A6B"/>
          </a:solidFill>
          <a:ln>
            <a:noFill/>
          </a:ln>
        </p:spPr>
        <p:txBody>
          <a:bodyPr/>
          <a:lstStyle/>
          <a:p>
            <a:endParaRPr/>
          </a:p>
        </p:txBody>
      </p:sp>
      <p:sp>
        <p:nvSpPr>
          <p:cNvPr id="3" name="Title"/>
          <p:cNvSpPr txBox="1"/>
          <p:nvPr/>
        </p:nvSpPr>
        <p:spPr>
          <a:xfrm>
            <a:off x="368300" y="63500"/>
            <a:ext cx="8407400" cy="508000"/>
          </a:xfrm>
          <a:prstGeom prst="rect">
            <a:avLst/>
          </a:prstGeom>
          <a:noFill/>
          <a:ln>
            <a:noFill/>
          </a:ln>
        </p:spPr>
        <p:txBody>
          <a:bodyPr wrap="square" lIns="0" tIns="0" rIns="0" bIns="0" anchor="ctr"/>
          <a:lstStyle/>
          <a:p>
            <a:pPr marL="0" indent="0">
              <a:buNone/>
            </a:pPr>
            <a:r>
              <a:rPr lang="en-US" sz="2400" b="1" dirty="0">
                <a:solidFill>
                  <a:srgbClr val="FFFFFF"/>
                </a:solidFill>
                <a:latin typeface="Georgia" pitchFamily="34" charset="0"/>
              </a:rPr>
              <a:t>The Cost of Site Plan Approval</a:t>
            </a:r>
          </a:p>
        </p:txBody>
      </p:sp>
      <p:sp>
        <p:nvSpPr>
          <p:cNvPr id="10" name="H0"/>
          <p:cNvSpPr txBox="1"/>
          <p:nvPr/>
        </p:nvSpPr>
        <p:spPr>
          <a:xfrm>
            <a:off x="368300" y="762000"/>
            <a:ext cx="1968500" cy="482600"/>
          </a:xfrm>
          <a:prstGeom prst="rect">
            <a:avLst/>
          </a:prstGeom>
          <a:solidFill>
            <a:srgbClr val="1B3A5C"/>
          </a:solidFill>
          <a:ln>
            <a:noFill/>
          </a:ln>
        </p:spPr>
        <p:txBody>
          <a:bodyPr lIns="91440" rIns="91440" anchor="ctr"/>
          <a:lstStyle/>
          <a:p>
            <a:pPr algn="l">
              <a:buNone/>
            </a:pPr>
            <a:r>
              <a:rPr lang="en-US" sz="1400" b="1" dirty="0">
                <a:solidFill>
                  <a:srgbClr val="FFFFFF"/>
                </a:solidFill>
                <a:latin typeface="Calibri"/>
              </a:rPr>
              <a:t>Metric</a:t>
            </a:r>
          </a:p>
        </p:txBody>
      </p:sp>
      <p:sp>
        <p:nvSpPr>
          <p:cNvPr id="11" name="H1"/>
          <p:cNvSpPr txBox="1"/>
          <p:nvPr/>
        </p:nvSpPr>
        <p:spPr>
          <a:xfrm>
            <a:off x="2336800" y="762000"/>
            <a:ext cx="3175000" cy="482600"/>
          </a:xfrm>
          <a:prstGeom prst="rect">
            <a:avLst/>
          </a:prstGeom>
          <a:solidFill>
            <a:srgbClr val="1B3A5C"/>
          </a:solidFill>
          <a:ln>
            <a:noFill/>
          </a:ln>
        </p:spPr>
        <p:txBody>
          <a:bodyPr lIns="91440" rIns="91440" anchor="ctr"/>
          <a:lstStyle/>
          <a:p>
            <a:pPr algn="ctr">
              <a:buNone/>
            </a:pPr>
            <a:r>
              <a:rPr lang="en-US" sz="1400" b="1" dirty="0">
                <a:solidFill>
                  <a:srgbClr val="FFFFFF"/>
                </a:solidFill>
                <a:latin typeface="Calibri"/>
              </a:rPr>
              <a:t>Current Requirement</a:t>
            </a:r>
          </a:p>
        </p:txBody>
      </p:sp>
      <p:sp>
        <p:nvSpPr>
          <p:cNvPr id="12" name="H2"/>
          <p:cNvSpPr txBox="1"/>
          <p:nvPr/>
        </p:nvSpPr>
        <p:spPr>
          <a:xfrm>
            <a:off x="5511800" y="762000"/>
            <a:ext cx="3378200" cy="482600"/>
          </a:xfrm>
          <a:prstGeom prst="rect">
            <a:avLst/>
          </a:prstGeom>
          <a:solidFill>
            <a:srgbClr val="1A7A6B"/>
          </a:solidFill>
          <a:ln>
            <a:noFill/>
          </a:ln>
        </p:spPr>
        <p:txBody>
          <a:bodyPr lIns="91440" rIns="91440" anchor="ctr"/>
          <a:lstStyle/>
          <a:p>
            <a:pPr algn="ctr">
              <a:buNone/>
            </a:pPr>
            <a:r>
              <a:rPr lang="en-US" sz="1400" b="1" dirty="0">
                <a:solidFill>
                  <a:srgbClr val="FFFFFF"/>
                </a:solidFill>
                <a:latin typeface="Calibri"/>
              </a:rPr>
              <a:t>What It Means for Developers</a:t>
            </a:r>
          </a:p>
        </p:txBody>
      </p:sp>
      <p:sp>
        <p:nvSpPr>
          <p:cNvPr id="20" name="R0C0"/>
          <p:cNvSpPr txBox="1"/>
          <p:nvPr/>
        </p:nvSpPr>
        <p:spPr>
          <a:xfrm>
            <a:off x="368300" y="1244600"/>
            <a:ext cx="1968500" cy="584200"/>
          </a:xfrm>
          <a:prstGeom prst="rect">
            <a:avLst/>
          </a:prstGeom>
          <a:solidFill>
            <a:srgbClr val="FFFFFF"/>
          </a:solidFill>
          <a:ln>
            <a:noFill/>
          </a:ln>
        </p:spPr>
        <p:txBody>
          <a:bodyPr lIns="91440" tIns="45720" rIns="91440" bIns="45720" anchor="ctr"/>
          <a:lstStyle/>
          <a:p>
            <a:pPr algn="l">
              <a:buNone/>
            </a:pPr>
            <a:r>
              <a:rPr lang="en-US" sz="1300" b="1" dirty="0">
                <a:solidFill>
                  <a:srgbClr val="1B3A5C"/>
                </a:solidFill>
                <a:latin typeface="Calibri"/>
              </a:rPr>
              <a:t>Cost per SF</a:t>
            </a:r>
          </a:p>
        </p:txBody>
      </p:sp>
      <p:sp>
        <p:nvSpPr>
          <p:cNvPr id="21" name="R0C1"/>
          <p:cNvSpPr txBox="1"/>
          <p:nvPr/>
        </p:nvSpPr>
        <p:spPr>
          <a:xfrm>
            <a:off x="2336800" y="1244600"/>
            <a:ext cx="3175000" cy="584200"/>
          </a:xfrm>
          <a:prstGeom prst="rect">
            <a:avLst/>
          </a:prstGeom>
          <a:solidFill>
            <a:srgbClr val="FFFFFF"/>
          </a:solidFill>
          <a:ln>
            <a:noFill/>
          </a:ln>
        </p:spPr>
        <p:txBody>
          <a:bodyPr lIns="91440" tIns="45720" rIns="91440" bIns="45720" anchor="ctr"/>
          <a:lstStyle/>
          <a:p>
            <a:pPr algn="l">
              <a:buNone/>
            </a:pPr>
            <a:r>
              <a:rPr lang="en-US" sz="1300" dirty="0">
                <a:solidFill>
                  <a:srgbClr val="333333"/>
                </a:solidFill>
                <a:latin typeface="Calibri"/>
              </a:rPr>
              <a:t>$122–$193 per SF</a:t>
            </a:r>
          </a:p>
        </p:txBody>
      </p:sp>
      <p:sp>
        <p:nvSpPr>
          <p:cNvPr id="22" name="R0C2"/>
          <p:cNvSpPr txBox="1"/>
          <p:nvPr/>
        </p:nvSpPr>
        <p:spPr>
          <a:xfrm>
            <a:off x="5511800" y="1244600"/>
            <a:ext cx="3378200" cy="584200"/>
          </a:xfrm>
          <a:prstGeom prst="rect">
            <a:avLst/>
          </a:prstGeom>
          <a:solidFill>
            <a:srgbClr val="F0F7F5"/>
          </a:solidFill>
          <a:ln>
            <a:noFill/>
          </a:ln>
        </p:spPr>
        <p:txBody>
          <a:bodyPr lIns="91440" tIns="45720" rIns="91440" bIns="45720" anchor="ctr"/>
          <a:lstStyle/>
          <a:p>
            <a:pPr algn="l">
              <a:buNone/>
            </a:pPr>
            <a:r>
              <a:rPr lang="en-US" sz="1300" dirty="0">
                <a:solidFill>
                  <a:srgbClr val="174035"/>
                </a:solidFill>
                <a:latin typeface="Calibri"/>
              </a:rPr>
              <a:t>High upfront cost before construction starts, compressing margins</a:t>
            </a:r>
          </a:p>
        </p:txBody>
      </p:sp>
      <p:sp>
        <p:nvSpPr>
          <p:cNvPr id="23" name="R1C0"/>
          <p:cNvSpPr txBox="1"/>
          <p:nvPr/>
        </p:nvSpPr>
        <p:spPr>
          <a:xfrm>
            <a:off x="368300" y="1828800"/>
            <a:ext cx="1968500" cy="584200"/>
          </a:xfrm>
          <a:prstGeom prst="rect">
            <a:avLst/>
          </a:prstGeom>
          <a:solidFill>
            <a:srgbClr val="F4F6F9"/>
          </a:solidFill>
          <a:ln>
            <a:noFill/>
          </a:ln>
        </p:spPr>
        <p:txBody>
          <a:bodyPr lIns="91440" tIns="45720" rIns="91440" bIns="45720" anchor="ctr"/>
          <a:lstStyle/>
          <a:p>
            <a:pPr algn="l">
              <a:buNone/>
            </a:pPr>
            <a:r>
              <a:rPr lang="en-US" sz="1300" b="1" dirty="0">
                <a:solidFill>
                  <a:srgbClr val="1B3A5C"/>
                </a:solidFill>
                <a:latin typeface="Calibri"/>
              </a:rPr>
              <a:t>Timeline</a:t>
            </a:r>
          </a:p>
        </p:txBody>
      </p:sp>
      <p:sp>
        <p:nvSpPr>
          <p:cNvPr id="24" name="R1C1"/>
          <p:cNvSpPr txBox="1"/>
          <p:nvPr/>
        </p:nvSpPr>
        <p:spPr>
          <a:xfrm>
            <a:off x="2336800" y="1828800"/>
            <a:ext cx="3175000" cy="584200"/>
          </a:xfrm>
          <a:prstGeom prst="rect">
            <a:avLst/>
          </a:prstGeom>
          <a:solidFill>
            <a:srgbClr val="F4F6F9"/>
          </a:solidFill>
          <a:ln>
            <a:noFill/>
          </a:ln>
        </p:spPr>
        <p:txBody>
          <a:bodyPr lIns="91440" tIns="45720" rIns="91440" bIns="45720" anchor="ctr"/>
          <a:lstStyle/>
          <a:p>
            <a:pPr algn="l">
              <a:buNone/>
            </a:pPr>
            <a:r>
              <a:rPr lang="en-US" sz="1300" dirty="0">
                <a:solidFill>
                  <a:srgbClr val="333333"/>
                </a:solidFill>
                <a:latin typeface="Calibri"/>
              </a:rPr>
              <a:t>18–21 months</a:t>
            </a:r>
          </a:p>
        </p:txBody>
      </p:sp>
      <p:sp>
        <p:nvSpPr>
          <p:cNvPr id="25" name="R1C2"/>
          <p:cNvSpPr txBox="1"/>
          <p:nvPr/>
        </p:nvSpPr>
        <p:spPr>
          <a:xfrm>
            <a:off x="5511800" y="1828800"/>
            <a:ext cx="3378200" cy="584200"/>
          </a:xfrm>
          <a:prstGeom prst="rect">
            <a:avLst/>
          </a:prstGeom>
          <a:solidFill>
            <a:srgbClr val="E8F3F0"/>
          </a:solidFill>
          <a:ln>
            <a:noFill/>
          </a:ln>
        </p:spPr>
        <p:txBody>
          <a:bodyPr lIns="91440" tIns="45720" rIns="91440" bIns="45720" anchor="ctr"/>
          <a:lstStyle/>
          <a:p>
            <a:pPr algn="l">
              <a:buNone/>
            </a:pPr>
            <a:r>
              <a:rPr lang="en-US" sz="1300" dirty="0">
                <a:solidFill>
                  <a:srgbClr val="174035"/>
                </a:solidFill>
                <a:latin typeface="Calibri"/>
              </a:rPr>
              <a:t>Capital locked up with carrying costs mounting throughout approval</a:t>
            </a:r>
          </a:p>
        </p:txBody>
      </p:sp>
      <p:sp>
        <p:nvSpPr>
          <p:cNvPr id="26" name="R2C0"/>
          <p:cNvSpPr txBox="1"/>
          <p:nvPr/>
        </p:nvSpPr>
        <p:spPr>
          <a:xfrm>
            <a:off x="368300" y="2413000"/>
            <a:ext cx="1968500" cy="584200"/>
          </a:xfrm>
          <a:prstGeom prst="rect">
            <a:avLst/>
          </a:prstGeom>
          <a:solidFill>
            <a:srgbClr val="FFFFFF"/>
          </a:solidFill>
          <a:ln>
            <a:noFill/>
          </a:ln>
        </p:spPr>
        <p:txBody>
          <a:bodyPr lIns="91440" tIns="45720" rIns="91440" bIns="45720" anchor="ctr"/>
          <a:lstStyle/>
          <a:p>
            <a:pPr algn="l">
              <a:buNone/>
            </a:pPr>
            <a:r>
              <a:rPr lang="en-US" sz="1300" b="1" dirty="0">
                <a:solidFill>
                  <a:srgbClr val="1B3A5C"/>
                </a:solidFill>
                <a:latin typeface="Calibri"/>
              </a:rPr>
              <a:t>Regulatory risk</a:t>
            </a:r>
          </a:p>
        </p:txBody>
      </p:sp>
      <p:sp>
        <p:nvSpPr>
          <p:cNvPr id="27" name="R2C1"/>
          <p:cNvSpPr txBox="1"/>
          <p:nvPr/>
        </p:nvSpPr>
        <p:spPr>
          <a:xfrm>
            <a:off x="2336800" y="2413000"/>
            <a:ext cx="3175000" cy="584200"/>
          </a:xfrm>
          <a:prstGeom prst="rect">
            <a:avLst/>
          </a:prstGeom>
          <a:solidFill>
            <a:srgbClr val="FFFFFF"/>
          </a:solidFill>
          <a:ln>
            <a:noFill/>
          </a:ln>
        </p:spPr>
        <p:txBody>
          <a:bodyPr lIns="91440" tIns="45720" rIns="91440" bIns="45720" anchor="ctr"/>
          <a:lstStyle/>
          <a:p>
            <a:pPr algn="l">
              <a:buNone/>
            </a:pPr>
            <a:r>
              <a:rPr lang="en-US" sz="1300" dirty="0">
                <a:solidFill>
                  <a:srgbClr val="333333"/>
                </a:solidFill>
                <a:latin typeface="Calibri"/>
              </a:rPr>
              <a:t>High — discretionary approval</a:t>
            </a:r>
          </a:p>
        </p:txBody>
      </p:sp>
      <p:sp>
        <p:nvSpPr>
          <p:cNvPr id="28" name="R2C2"/>
          <p:cNvSpPr txBox="1"/>
          <p:nvPr/>
        </p:nvSpPr>
        <p:spPr>
          <a:xfrm>
            <a:off x="5511800" y="2413000"/>
            <a:ext cx="3378200" cy="584200"/>
          </a:xfrm>
          <a:prstGeom prst="rect">
            <a:avLst/>
          </a:prstGeom>
          <a:solidFill>
            <a:srgbClr val="F0F7F5"/>
          </a:solidFill>
          <a:ln>
            <a:noFill/>
          </a:ln>
        </p:spPr>
        <p:txBody>
          <a:bodyPr lIns="91440" tIns="45720" rIns="91440" bIns="45720" anchor="ctr"/>
          <a:lstStyle/>
          <a:p>
            <a:pPr algn="l">
              <a:buNone/>
            </a:pPr>
            <a:r>
              <a:rPr lang="en-US" sz="1300" dirty="0">
                <a:solidFill>
                  <a:srgbClr val="174035"/>
                </a:solidFill>
                <a:latin typeface="Calibri"/>
              </a:rPr>
              <a:t>Uncertain outcome even after full investment in plans and outreach</a:t>
            </a:r>
          </a:p>
        </p:txBody>
      </p:sp>
      <p:sp>
        <p:nvSpPr>
          <p:cNvPr id="29" name="R3C0"/>
          <p:cNvSpPr txBox="1"/>
          <p:nvPr/>
        </p:nvSpPr>
        <p:spPr>
          <a:xfrm>
            <a:off x="368300" y="2997200"/>
            <a:ext cx="1968500" cy="584200"/>
          </a:xfrm>
          <a:prstGeom prst="rect">
            <a:avLst/>
          </a:prstGeom>
          <a:solidFill>
            <a:srgbClr val="F4F6F9"/>
          </a:solidFill>
          <a:ln>
            <a:noFill/>
          </a:ln>
        </p:spPr>
        <p:txBody>
          <a:bodyPr lIns="91440" tIns="45720" rIns="91440" bIns="45720" anchor="ctr"/>
          <a:lstStyle/>
          <a:p>
            <a:pPr algn="l">
              <a:buNone/>
            </a:pPr>
            <a:r>
              <a:rPr lang="en-US" sz="1300" b="1" dirty="0">
                <a:solidFill>
                  <a:srgbClr val="1B3A5C"/>
                </a:solidFill>
                <a:latin typeface="Calibri"/>
              </a:rPr>
              <a:t>Community engagement</a:t>
            </a:r>
          </a:p>
        </p:txBody>
      </p:sp>
      <p:sp>
        <p:nvSpPr>
          <p:cNvPr id="30" name="R3C1"/>
          <p:cNvSpPr txBox="1"/>
          <p:nvPr/>
        </p:nvSpPr>
        <p:spPr>
          <a:xfrm>
            <a:off x="2336800" y="2997200"/>
            <a:ext cx="3175000" cy="584200"/>
          </a:xfrm>
          <a:prstGeom prst="rect">
            <a:avLst/>
          </a:prstGeom>
          <a:solidFill>
            <a:srgbClr val="F4F6F9"/>
          </a:solidFill>
          <a:ln>
            <a:noFill/>
          </a:ln>
        </p:spPr>
        <p:txBody>
          <a:bodyPr lIns="91440" tIns="45720" rIns="91440" bIns="45720" anchor="ctr"/>
          <a:lstStyle/>
          <a:p>
            <a:pPr algn="l">
              <a:buNone/>
            </a:pPr>
            <a:r>
              <a:rPr lang="en-US" sz="1300" dirty="0">
                <a:solidFill>
                  <a:srgbClr val="333333"/>
                </a:solidFill>
                <a:latin typeface="Calibri"/>
              </a:rPr>
              <a:t>Public hearings required</a:t>
            </a:r>
          </a:p>
        </p:txBody>
      </p:sp>
      <p:sp>
        <p:nvSpPr>
          <p:cNvPr id="31" name="R3C2"/>
          <p:cNvSpPr txBox="1"/>
          <p:nvPr/>
        </p:nvSpPr>
        <p:spPr>
          <a:xfrm>
            <a:off x="5511800" y="2997200"/>
            <a:ext cx="3378200" cy="584200"/>
          </a:xfrm>
          <a:prstGeom prst="rect">
            <a:avLst/>
          </a:prstGeom>
          <a:solidFill>
            <a:srgbClr val="E8F3F0"/>
          </a:solidFill>
          <a:ln>
            <a:noFill/>
          </a:ln>
        </p:spPr>
        <p:txBody>
          <a:bodyPr lIns="91440" tIns="45720" rIns="91440" bIns="45720" anchor="ctr"/>
          <a:lstStyle/>
          <a:p>
            <a:pPr algn="l">
              <a:buNone/>
            </a:pPr>
            <a:r>
              <a:rPr lang="en-US" sz="1300" dirty="0">
                <a:solidFill>
                  <a:srgbClr val="174035"/>
                </a:solidFill>
                <a:latin typeface="Calibri"/>
              </a:rPr>
              <a:t>Potential for multiple project revisions</a:t>
            </a:r>
          </a:p>
        </p:txBody>
      </p:sp>
      <p:sp>
        <p:nvSpPr>
          <p:cNvPr id="60" name="InsightBg"/>
          <p:cNvSpPr/>
          <p:nvPr/>
        </p:nvSpPr>
        <p:spPr>
          <a:xfrm>
            <a:off x="368300" y="3893820"/>
            <a:ext cx="8407400" cy="792480"/>
          </a:xfrm>
          <a:prstGeom prst="rect">
            <a:avLst/>
          </a:prstGeom>
          <a:solidFill>
            <a:srgbClr val="E8EFF8"/>
          </a:solidFill>
          <a:ln>
            <a:noFill/>
          </a:ln>
        </p:spPr>
        <p:txBody>
          <a:bodyPr/>
          <a:lstStyle/>
          <a:p>
            <a:endParaRPr/>
          </a:p>
        </p:txBody>
      </p:sp>
      <p:sp>
        <p:nvSpPr>
          <p:cNvPr id="61" name="InsightAccent"/>
          <p:cNvSpPr/>
          <p:nvPr/>
        </p:nvSpPr>
        <p:spPr>
          <a:xfrm>
            <a:off x="368300" y="3893820"/>
            <a:ext cx="101600" cy="792480"/>
          </a:xfrm>
          <a:prstGeom prst="rect">
            <a:avLst/>
          </a:prstGeom>
          <a:solidFill>
            <a:srgbClr val="1B3A5C"/>
          </a:solidFill>
          <a:ln>
            <a:noFill/>
          </a:ln>
        </p:spPr>
        <p:txBody>
          <a:bodyPr/>
          <a:lstStyle/>
          <a:p>
            <a:endParaRPr/>
          </a:p>
        </p:txBody>
      </p:sp>
      <p:sp>
        <p:nvSpPr>
          <p:cNvPr id="62" name="InsightTxt"/>
          <p:cNvSpPr txBox="1"/>
          <p:nvPr/>
        </p:nvSpPr>
        <p:spPr>
          <a:xfrm>
            <a:off x="571500" y="3893820"/>
            <a:ext cx="8128000" cy="792480"/>
          </a:xfrm>
          <a:prstGeom prst="rect">
            <a:avLst/>
          </a:prstGeom>
          <a:noFill/>
          <a:ln>
            <a:noFill/>
          </a:ln>
        </p:spPr>
        <p:txBody>
          <a:bodyPr wrap="square" lIns="91440" tIns="45720" rIns="91440" bIns="45720" anchor="ctr"/>
          <a:lstStyle/>
          <a:p>
            <a:pPr>
              <a:spcAft>
                <a:spcPts val="600"/>
              </a:spcAft>
            </a:pPr>
            <a:r>
              <a:rPr lang="en-US" sz="1400" i="1" dirty="0">
                <a:solidFill>
                  <a:srgbClr val="1B3A5C"/>
                </a:solidFill>
                <a:latin typeface="Calibri"/>
              </a:rPr>
              <a:t>These costs and timelines reflect the status quo for Arlington developers seeking bonus density through site plan approval — </a:t>
            </a:r>
            <a:r>
              <a:rPr lang="en-US" sz="1400" i="1" dirty="0">
                <a:solidFill>
                  <a:srgbClr val="1B3A5C"/>
                </a:solidFill>
              </a:rPr>
              <a:t>analysis documented here:</a:t>
            </a:r>
          </a:p>
          <a:p>
            <a:pPr>
              <a:spcAft>
                <a:spcPts val="600"/>
              </a:spcAft>
            </a:pPr>
            <a:r>
              <a:rPr lang="en-US" sz="1100" i="1" dirty="0">
                <a:solidFill>
                  <a:srgbClr val="1B3A5C"/>
                </a:solidFill>
                <a:hlinkClick r:id="rId3"/>
              </a:rPr>
              <a:t>https://github.com/joburke1/tdranalysis/blob/main/supporting%20documentation/Arlington%20site%20plan%20process%20costs.md</a:t>
            </a:r>
            <a:endParaRPr lang="en-US" sz="1300" i="1" dirty="0">
              <a:solidFill>
                <a:srgbClr val="1B3A5C"/>
              </a:solidFill>
              <a:latin typeface="Calibri"/>
            </a:endParaRPr>
          </a:p>
        </p:txBody>
      </p:sp>
    </p:spTree>
    <p:extLst>
      <p:ext uri="{BB962C8B-B14F-4D97-AF65-F5344CB8AC3E}">
        <p14:creationId xmlns:p14="http://schemas.microsoft.com/office/powerpoint/2010/main" val="458104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
          <p:cNvSpPr/>
          <p:nvPr/>
        </p:nvSpPr>
        <p:spPr>
          <a:xfrm>
            <a:off x="0" y="0"/>
            <a:ext cx="9144000" cy="635000"/>
          </a:xfrm>
          <a:prstGeom prst="rect">
            <a:avLst/>
          </a:prstGeom>
          <a:solidFill>
            <a:srgbClr val="1A7A6B"/>
          </a:solidFill>
          <a:ln>
            <a:noFill/>
          </a:ln>
        </p:spPr>
        <p:txBody>
          <a:bodyPr/>
          <a:lstStyle/>
          <a:p>
            <a:endParaRPr/>
          </a:p>
        </p:txBody>
      </p:sp>
      <p:sp>
        <p:nvSpPr>
          <p:cNvPr id="3" name="Title"/>
          <p:cNvSpPr txBox="1"/>
          <p:nvPr/>
        </p:nvSpPr>
        <p:spPr>
          <a:xfrm>
            <a:off x="368300" y="63500"/>
            <a:ext cx="8407400" cy="508000"/>
          </a:xfrm>
          <a:prstGeom prst="rect">
            <a:avLst/>
          </a:prstGeom>
          <a:noFill/>
          <a:ln>
            <a:noFill/>
          </a:ln>
        </p:spPr>
        <p:txBody>
          <a:bodyPr wrap="square" lIns="0" tIns="0" rIns="0" bIns="0" anchor="ctr"/>
          <a:lstStyle/>
          <a:p>
            <a:pPr marL="0" indent="0">
              <a:buNone/>
            </a:pPr>
            <a:r>
              <a:rPr lang="en-US" sz="2400" b="1" dirty="0">
                <a:solidFill>
                  <a:srgbClr val="FFFFFF"/>
                </a:solidFill>
                <a:latin typeface="Georgia" pitchFamily="34" charset="0"/>
              </a:rPr>
              <a:t>Key Findings: County-Wide Summary</a:t>
            </a:r>
          </a:p>
        </p:txBody>
      </p:sp>
      <p:sp>
        <p:nvSpPr>
          <p:cNvPr id="10" name="S10"/>
          <p:cNvSpPr txBox="1"/>
          <p:nvPr/>
        </p:nvSpPr>
        <p:spPr>
          <a:xfrm>
            <a:off x="368300" y="787400"/>
            <a:ext cx="4140200" cy="1524000"/>
          </a:xfrm>
          <a:prstGeom prst="rect">
            <a:avLst/>
          </a:prstGeom>
          <a:solidFill>
            <a:srgbClr val="EEF2F7"/>
          </a:solidFill>
          <a:ln>
            <a:noFill/>
          </a:ln>
        </p:spPr>
        <p:txBody>
          <a:bodyPr wrap="square" lIns="91440" tIns="91440" rIns="91440" bIns="91440" anchor="ctr"/>
          <a:lstStyle/>
          <a:p>
            <a:pPr algn="ctr">
              <a:buNone/>
            </a:pPr>
            <a:r>
              <a:rPr lang="en-US" sz="4800" b="1" dirty="0">
                <a:solidFill>
                  <a:srgbClr val="1B3A5C"/>
                </a:solidFill>
                <a:latin typeface="Georgia"/>
              </a:rPr>
              <a:t>22,565+</a:t>
            </a:r>
            <a:br>
              <a:rPr lang="en-US" sz="1500" dirty="0"/>
            </a:br>
            <a:r>
              <a:rPr lang="en-US" sz="1500" dirty="0">
                <a:solidFill>
                  <a:srgbClr val="333333"/>
                </a:solidFill>
                <a:latin typeface="Calibri"/>
              </a:rPr>
              <a:t>Parcels Analyzed</a:t>
            </a:r>
          </a:p>
        </p:txBody>
      </p:sp>
      <p:sp>
        <p:nvSpPr>
          <p:cNvPr id="20" name="S20"/>
          <p:cNvSpPr txBox="1"/>
          <p:nvPr/>
        </p:nvSpPr>
        <p:spPr>
          <a:xfrm>
            <a:off x="4711700" y="787400"/>
            <a:ext cx="4140200" cy="1524000"/>
          </a:xfrm>
          <a:prstGeom prst="rect">
            <a:avLst/>
          </a:prstGeom>
          <a:solidFill>
            <a:srgbClr val="F0F7F5"/>
          </a:solidFill>
          <a:ln>
            <a:noFill/>
          </a:ln>
        </p:spPr>
        <p:txBody>
          <a:bodyPr wrap="square" lIns="91440" tIns="91440" rIns="91440" bIns="91440" anchor="ctr"/>
          <a:lstStyle/>
          <a:p>
            <a:pPr algn="ctr">
              <a:buNone/>
            </a:pPr>
            <a:r>
              <a:rPr lang="en-US" sz="4800" b="1" dirty="0">
                <a:solidFill>
                  <a:srgbClr val="1A7A6B"/>
                </a:solidFill>
                <a:latin typeface="Georgia"/>
              </a:rPr>
              <a:t>50+</a:t>
            </a:r>
            <a:br>
              <a:rPr lang="en-US" sz="1500" dirty="0"/>
            </a:br>
            <a:r>
              <a:rPr lang="en-US" sz="1500" dirty="0">
                <a:solidFill>
                  <a:srgbClr val="333333"/>
                </a:solidFill>
                <a:latin typeface="Calibri"/>
              </a:rPr>
              <a:t>Residential Neighborhoods</a:t>
            </a:r>
          </a:p>
        </p:txBody>
      </p:sp>
      <p:sp>
        <p:nvSpPr>
          <p:cNvPr id="30" name="S30"/>
          <p:cNvSpPr txBox="1"/>
          <p:nvPr/>
        </p:nvSpPr>
        <p:spPr>
          <a:xfrm>
            <a:off x="368300" y="2476500"/>
            <a:ext cx="2641600" cy="1524000"/>
          </a:xfrm>
          <a:prstGeom prst="rect">
            <a:avLst/>
          </a:prstGeom>
          <a:solidFill>
            <a:srgbClr val="EEF2F7"/>
          </a:solidFill>
          <a:ln>
            <a:noFill/>
          </a:ln>
        </p:spPr>
        <p:txBody>
          <a:bodyPr wrap="square" lIns="91440" tIns="91440" rIns="91440" bIns="91440" anchor="ctr"/>
          <a:lstStyle/>
          <a:p>
            <a:pPr algn="ctr">
              <a:buNone/>
            </a:pPr>
            <a:r>
              <a:rPr lang="en-US" sz="3600" b="1" dirty="0">
                <a:solidFill>
                  <a:srgbClr val="1B3A5C"/>
                </a:solidFill>
                <a:latin typeface="Georgia"/>
              </a:rPr>
              <a:t>~75M SF</a:t>
            </a:r>
            <a:br>
              <a:rPr lang="en-US" sz="1400" dirty="0"/>
            </a:br>
            <a:r>
              <a:rPr lang="en-US" sz="1400" dirty="0">
                <a:solidFill>
                  <a:srgbClr val="333333"/>
                </a:solidFill>
                <a:latin typeface="Calibri"/>
              </a:rPr>
              <a:t>Total Unused Floor Area</a:t>
            </a:r>
          </a:p>
        </p:txBody>
      </p:sp>
      <p:sp>
        <p:nvSpPr>
          <p:cNvPr id="40" name="S40"/>
          <p:cNvSpPr txBox="1"/>
          <p:nvPr/>
        </p:nvSpPr>
        <p:spPr>
          <a:xfrm>
            <a:off x="3111500" y="2476500"/>
            <a:ext cx="2641600" cy="1524000"/>
          </a:xfrm>
          <a:prstGeom prst="rect">
            <a:avLst/>
          </a:prstGeom>
          <a:solidFill>
            <a:srgbClr val="FDF5EE"/>
          </a:solidFill>
          <a:ln>
            <a:noFill/>
          </a:ln>
        </p:spPr>
        <p:txBody>
          <a:bodyPr wrap="square" lIns="91440" tIns="91440" rIns="91440" bIns="91440" anchor="ctr"/>
          <a:lstStyle/>
          <a:p>
            <a:pPr algn="ctr">
              <a:buNone/>
            </a:pPr>
            <a:r>
              <a:rPr lang="en-US" sz="3600" b="1" dirty="0">
                <a:solidFill>
                  <a:srgbClr val="C8792A"/>
                </a:solidFill>
                <a:latin typeface="Georgia"/>
              </a:rPr>
              <a:t>~$8B</a:t>
            </a:r>
            <a:br>
              <a:rPr lang="en-US" sz="1400" dirty="0"/>
            </a:br>
            <a:r>
              <a:rPr lang="en-US" sz="1400" dirty="0">
                <a:solidFill>
                  <a:srgbClr val="333333"/>
                </a:solidFill>
                <a:latin typeface="Calibri"/>
              </a:rPr>
              <a:t>Aggregate Rights Value (High)</a:t>
            </a:r>
          </a:p>
        </p:txBody>
      </p:sp>
      <p:sp>
        <p:nvSpPr>
          <p:cNvPr id="50" name="S50"/>
          <p:cNvSpPr txBox="1"/>
          <p:nvPr/>
        </p:nvSpPr>
        <p:spPr>
          <a:xfrm>
            <a:off x="5854700" y="2476500"/>
            <a:ext cx="2641600" cy="1524000"/>
          </a:xfrm>
          <a:prstGeom prst="rect">
            <a:avLst/>
          </a:prstGeom>
          <a:solidFill>
            <a:srgbClr val="F0F7F5"/>
          </a:solidFill>
          <a:ln>
            <a:noFill/>
          </a:ln>
        </p:spPr>
        <p:txBody>
          <a:bodyPr wrap="square" lIns="91440" tIns="91440" rIns="91440" bIns="91440" anchor="ctr"/>
          <a:lstStyle/>
          <a:p>
            <a:pPr algn="ctr">
              <a:buNone/>
            </a:pPr>
            <a:r>
              <a:rPr lang="en-US" sz="3600" b="1" dirty="0">
                <a:solidFill>
                  <a:srgbClr val="1A7A6B"/>
                </a:solidFill>
                <a:latin typeface="Georgia"/>
              </a:rPr>
              <a:t>~85%</a:t>
            </a:r>
            <a:br>
              <a:rPr lang="en-US" sz="1400" dirty="0"/>
            </a:br>
            <a:r>
              <a:rPr lang="en-US" sz="1400" dirty="0">
                <a:solidFill>
                  <a:srgbClr val="333333"/>
                </a:solidFill>
                <a:latin typeface="Calibri"/>
              </a:rPr>
              <a:t>High Potential </a:t>
            </a:r>
          </a:p>
        </p:txBody>
      </p:sp>
      <p:sp>
        <p:nvSpPr>
          <p:cNvPr id="60" name="Note"/>
          <p:cNvSpPr txBox="1"/>
          <p:nvPr/>
        </p:nvSpPr>
        <p:spPr>
          <a:xfrm>
            <a:off x="368300" y="4127500"/>
            <a:ext cx="8407400" cy="914400"/>
          </a:xfrm>
          <a:prstGeom prst="rect">
            <a:avLst/>
          </a:prstGeom>
          <a:solidFill>
            <a:srgbClr val="F4F6F9"/>
          </a:solidFill>
          <a:ln>
            <a:noFill/>
          </a:ln>
        </p:spPr>
        <p:txBody>
          <a:bodyPr wrap="square" lIns="91440" tIns="45720" rIns="91440" bIns="45720" anchor="ctr"/>
          <a:lstStyle/>
          <a:p>
            <a:pPr marL="0" indent="0">
              <a:buNone/>
            </a:pPr>
            <a:r>
              <a:rPr lang="en-US" sz="1200" i="1" dirty="0">
                <a:solidFill>
                  <a:srgbClr val="666666"/>
                </a:solidFill>
                <a:latin typeface="Calibri"/>
              </a:rPr>
              <a:t>All figures based on by-right zoning rules in effect 10/1/2025. Parcels excluded due to data quality issues are not counted in the underdeveloped total. Valuation parameters are illustrative and require calibration for policy use.</a:t>
            </a:r>
          </a:p>
        </p:txBody>
      </p:sp>
    </p:spTree>
    <p:extLst>
      <p:ext uri="{BB962C8B-B14F-4D97-AF65-F5344CB8AC3E}">
        <p14:creationId xmlns:p14="http://schemas.microsoft.com/office/powerpoint/2010/main" val="37301239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
          <p:cNvSpPr/>
          <p:nvPr/>
        </p:nvSpPr>
        <p:spPr>
          <a:xfrm>
            <a:off x="0" y="0"/>
            <a:ext cx="9144000" cy="635000"/>
          </a:xfrm>
          <a:prstGeom prst="rect">
            <a:avLst/>
          </a:prstGeom>
          <a:solidFill>
            <a:srgbClr val="1B3A5C"/>
          </a:solidFill>
          <a:ln>
            <a:noFill/>
          </a:ln>
        </p:spPr>
        <p:txBody>
          <a:bodyPr/>
          <a:lstStyle/>
          <a:p>
            <a:endParaRPr/>
          </a:p>
        </p:txBody>
      </p:sp>
      <p:sp>
        <p:nvSpPr>
          <p:cNvPr id="3" name="Title"/>
          <p:cNvSpPr txBox="1"/>
          <p:nvPr/>
        </p:nvSpPr>
        <p:spPr>
          <a:xfrm>
            <a:off x="368300" y="63500"/>
            <a:ext cx="8407400" cy="508000"/>
          </a:xfrm>
          <a:prstGeom prst="rect">
            <a:avLst/>
          </a:prstGeom>
          <a:noFill/>
          <a:ln>
            <a:noFill/>
          </a:ln>
        </p:spPr>
        <p:txBody>
          <a:bodyPr wrap="square" lIns="0" tIns="0" rIns="0" bIns="0" anchor="ctr"/>
          <a:lstStyle/>
          <a:p>
            <a:pPr marL="0" indent="0">
              <a:buNone/>
            </a:pPr>
            <a:r>
              <a:rPr lang="en-US" sz="2400" b="1" dirty="0">
                <a:solidFill>
                  <a:srgbClr val="FFFFFF"/>
                </a:solidFill>
                <a:latin typeface="Georgia" pitchFamily="34" charset="0"/>
              </a:rPr>
              <a:t>Top Neighborhoods by Available GFA Capacity</a:t>
            </a:r>
          </a:p>
        </p:txBody>
      </p:sp>
      <p:sp>
        <p:nvSpPr>
          <p:cNvPr id="10" name="H0"/>
          <p:cNvSpPr txBox="1"/>
          <p:nvPr/>
        </p:nvSpPr>
        <p:spPr>
          <a:xfrm>
            <a:off x="368300" y="736600"/>
            <a:ext cx="2794000" cy="406400"/>
          </a:xfrm>
          <a:prstGeom prst="rect">
            <a:avLst/>
          </a:prstGeom>
          <a:solidFill>
            <a:srgbClr val="1A7A6B"/>
          </a:solidFill>
          <a:ln>
            <a:noFill/>
          </a:ln>
        </p:spPr>
        <p:txBody>
          <a:bodyPr lIns="91440" rIns="91440" anchor="ctr"/>
          <a:lstStyle/>
          <a:p>
            <a:pPr algn="l">
              <a:buNone/>
            </a:pPr>
            <a:r>
              <a:rPr lang="en-US" sz="1400" b="1" dirty="0">
                <a:solidFill>
                  <a:srgbClr val="FFFFFF"/>
                </a:solidFill>
                <a:latin typeface="Calibri"/>
              </a:rPr>
              <a:t>Neighborhood</a:t>
            </a:r>
          </a:p>
        </p:txBody>
      </p:sp>
      <p:sp>
        <p:nvSpPr>
          <p:cNvPr id="11" name="H1"/>
          <p:cNvSpPr txBox="1"/>
          <p:nvPr/>
        </p:nvSpPr>
        <p:spPr>
          <a:xfrm>
            <a:off x="3162300" y="736600"/>
            <a:ext cx="1905000" cy="406400"/>
          </a:xfrm>
          <a:prstGeom prst="rect">
            <a:avLst/>
          </a:prstGeom>
          <a:solidFill>
            <a:srgbClr val="1A7A6B"/>
          </a:solidFill>
          <a:ln>
            <a:noFill/>
          </a:ln>
        </p:spPr>
        <p:txBody>
          <a:bodyPr lIns="91440" rIns="91440" anchor="ctr"/>
          <a:lstStyle/>
          <a:p>
            <a:pPr algn="ctr">
              <a:buNone/>
            </a:pPr>
            <a:r>
              <a:rPr lang="en-US" sz="1400" b="1" dirty="0">
                <a:solidFill>
                  <a:srgbClr val="FFFFFF"/>
                </a:solidFill>
                <a:latin typeface="Calibri"/>
              </a:rPr>
              <a:t>Available GFA</a:t>
            </a:r>
          </a:p>
        </p:txBody>
      </p:sp>
      <p:sp>
        <p:nvSpPr>
          <p:cNvPr id="12" name="H2"/>
          <p:cNvSpPr txBox="1"/>
          <p:nvPr/>
        </p:nvSpPr>
        <p:spPr>
          <a:xfrm>
            <a:off x="5067300" y="736600"/>
            <a:ext cx="1905000" cy="406400"/>
          </a:xfrm>
          <a:prstGeom prst="rect">
            <a:avLst/>
          </a:prstGeom>
          <a:solidFill>
            <a:srgbClr val="1A7A6B"/>
          </a:solidFill>
          <a:ln>
            <a:noFill/>
          </a:ln>
        </p:spPr>
        <p:txBody>
          <a:bodyPr lIns="91440" rIns="91440" anchor="ctr"/>
          <a:lstStyle/>
          <a:p>
            <a:pPr algn="ctr">
              <a:buNone/>
            </a:pPr>
            <a:r>
              <a:rPr lang="en-US" sz="1400" b="1" dirty="0">
                <a:solidFill>
                  <a:srgbClr val="FFFFFF"/>
                </a:solidFill>
                <a:latin typeface="Calibri"/>
              </a:rPr>
              <a:t>Parcels Analyzed</a:t>
            </a:r>
          </a:p>
        </p:txBody>
      </p:sp>
      <p:sp>
        <p:nvSpPr>
          <p:cNvPr id="13" name="H3"/>
          <p:cNvSpPr txBox="1"/>
          <p:nvPr/>
        </p:nvSpPr>
        <p:spPr>
          <a:xfrm>
            <a:off x="6972300" y="736600"/>
            <a:ext cx="1803400" cy="406400"/>
          </a:xfrm>
          <a:prstGeom prst="rect">
            <a:avLst/>
          </a:prstGeom>
          <a:solidFill>
            <a:srgbClr val="1A7A6B"/>
          </a:solidFill>
          <a:ln>
            <a:noFill/>
          </a:ln>
        </p:spPr>
        <p:txBody>
          <a:bodyPr lIns="91440" rIns="91440" anchor="ctr"/>
          <a:lstStyle/>
          <a:p>
            <a:pPr algn="ctr">
              <a:buNone/>
            </a:pPr>
            <a:r>
              <a:rPr lang="en-US" sz="1400" b="1" dirty="0">
                <a:solidFill>
                  <a:srgbClr val="FFFFFF"/>
                </a:solidFill>
                <a:latin typeface="Calibri"/>
              </a:rPr>
              <a:t>Avg per Parcel</a:t>
            </a:r>
          </a:p>
        </p:txBody>
      </p:sp>
      <p:sp>
        <p:nvSpPr>
          <p:cNvPr id="20" name="R0C0"/>
          <p:cNvSpPr txBox="1"/>
          <p:nvPr/>
        </p:nvSpPr>
        <p:spPr>
          <a:xfrm>
            <a:off x="368300" y="1143000"/>
            <a:ext cx="2794000" cy="406400"/>
          </a:xfrm>
          <a:prstGeom prst="rect">
            <a:avLst/>
          </a:prstGeom>
          <a:solidFill>
            <a:srgbClr val="FFFFFF"/>
          </a:solidFill>
          <a:ln>
            <a:noFill/>
          </a:ln>
        </p:spPr>
        <p:txBody>
          <a:bodyPr lIns="91440" rIns="91440" anchor="ctr"/>
          <a:lstStyle/>
          <a:p>
            <a:pPr algn="l">
              <a:buNone/>
            </a:pPr>
            <a:r>
              <a:rPr lang="en-US" sz="1400" b="1" dirty="0">
                <a:solidFill>
                  <a:srgbClr val="1B3A5C"/>
                </a:solidFill>
                <a:latin typeface="Calibri"/>
              </a:rPr>
              <a:t>Bluemont</a:t>
            </a:r>
          </a:p>
        </p:txBody>
      </p:sp>
      <p:sp>
        <p:nvSpPr>
          <p:cNvPr id="21" name="R0C1"/>
          <p:cNvSpPr txBox="1"/>
          <p:nvPr/>
        </p:nvSpPr>
        <p:spPr>
          <a:xfrm>
            <a:off x="3162300" y="1143000"/>
            <a:ext cx="1905000" cy="406400"/>
          </a:xfrm>
          <a:prstGeom prst="rect">
            <a:avLst/>
          </a:prstGeom>
          <a:solidFill>
            <a:srgbClr val="FFFFFF"/>
          </a:solidFill>
          <a:ln>
            <a:noFill/>
          </a:ln>
        </p:spPr>
        <p:txBody>
          <a:bodyPr lIns="91440" rIns="91440" anchor="ctr"/>
          <a:lstStyle/>
          <a:p>
            <a:pPr algn="ctr">
              <a:buNone/>
            </a:pPr>
            <a:r>
              <a:rPr lang="en-US" sz="1400" dirty="0">
                <a:solidFill>
                  <a:srgbClr val="333333"/>
                </a:solidFill>
                <a:latin typeface="Calibri"/>
              </a:rPr>
              <a:t>4,860,000 SF</a:t>
            </a:r>
          </a:p>
        </p:txBody>
      </p:sp>
      <p:sp>
        <p:nvSpPr>
          <p:cNvPr id="22" name="R0C2"/>
          <p:cNvSpPr txBox="1"/>
          <p:nvPr/>
        </p:nvSpPr>
        <p:spPr>
          <a:xfrm>
            <a:off x="5067300" y="1143000"/>
            <a:ext cx="1905000" cy="406400"/>
          </a:xfrm>
          <a:prstGeom prst="rect">
            <a:avLst/>
          </a:prstGeom>
          <a:solidFill>
            <a:srgbClr val="FFFFFF"/>
          </a:solidFill>
          <a:ln>
            <a:noFill/>
          </a:ln>
        </p:spPr>
        <p:txBody>
          <a:bodyPr lIns="91440" rIns="91440" anchor="ctr"/>
          <a:lstStyle/>
          <a:p>
            <a:pPr algn="ctr">
              <a:buNone/>
            </a:pPr>
            <a:r>
              <a:rPr lang="en-US" sz="1400" dirty="0">
                <a:solidFill>
                  <a:srgbClr val="333333"/>
                </a:solidFill>
                <a:latin typeface="Calibri"/>
              </a:rPr>
              <a:t>1,082</a:t>
            </a:r>
          </a:p>
        </p:txBody>
      </p:sp>
      <p:sp>
        <p:nvSpPr>
          <p:cNvPr id="23" name="R0C3"/>
          <p:cNvSpPr txBox="1"/>
          <p:nvPr/>
        </p:nvSpPr>
        <p:spPr>
          <a:xfrm>
            <a:off x="6972300" y="1143000"/>
            <a:ext cx="1803400" cy="406400"/>
          </a:xfrm>
          <a:prstGeom prst="rect">
            <a:avLst/>
          </a:prstGeom>
          <a:solidFill>
            <a:srgbClr val="FFFFFF"/>
          </a:solidFill>
          <a:ln>
            <a:noFill/>
          </a:ln>
        </p:spPr>
        <p:txBody>
          <a:bodyPr lIns="91440" rIns="91440" anchor="ctr"/>
          <a:lstStyle/>
          <a:p>
            <a:pPr algn="ctr">
              <a:buNone/>
            </a:pPr>
            <a:r>
              <a:rPr lang="en-US" sz="1400" dirty="0">
                <a:solidFill>
                  <a:srgbClr val="333333"/>
                </a:solidFill>
                <a:latin typeface="Calibri"/>
              </a:rPr>
              <a:t>4,492 SF</a:t>
            </a:r>
          </a:p>
        </p:txBody>
      </p:sp>
      <p:sp>
        <p:nvSpPr>
          <p:cNvPr id="24" name="R1C0"/>
          <p:cNvSpPr txBox="1"/>
          <p:nvPr/>
        </p:nvSpPr>
        <p:spPr>
          <a:xfrm>
            <a:off x="368300" y="1549400"/>
            <a:ext cx="2794000" cy="406400"/>
          </a:xfrm>
          <a:prstGeom prst="rect">
            <a:avLst/>
          </a:prstGeom>
          <a:solidFill>
            <a:srgbClr val="F4F6F9"/>
          </a:solidFill>
          <a:ln>
            <a:noFill/>
          </a:ln>
        </p:spPr>
        <p:txBody>
          <a:bodyPr lIns="91440" rIns="91440" anchor="ctr"/>
          <a:lstStyle/>
          <a:p>
            <a:pPr algn="l">
              <a:buNone/>
            </a:pPr>
            <a:r>
              <a:rPr lang="en-US" sz="1400" b="1" dirty="0">
                <a:solidFill>
                  <a:srgbClr val="1B3A5C"/>
                </a:solidFill>
                <a:latin typeface="Calibri"/>
              </a:rPr>
              <a:t>East Falls Church</a:t>
            </a:r>
          </a:p>
        </p:txBody>
      </p:sp>
      <p:sp>
        <p:nvSpPr>
          <p:cNvPr id="25" name="R1C1"/>
          <p:cNvSpPr txBox="1"/>
          <p:nvPr/>
        </p:nvSpPr>
        <p:spPr>
          <a:xfrm>
            <a:off x="3162300" y="1549400"/>
            <a:ext cx="1905000" cy="406400"/>
          </a:xfrm>
          <a:prstGeom prst="rect">
            <a:avLst/>
          </a:prstGeom>
          <a:solidFill>
            <a:srgbClr val="F4F6F9"/>
          </a:solidFill>
          <a:ln>
            <a:noFill/>
          </a:ln>
        </p:spPr>
        <p:txBody>
          <a:bodyPr lIns="91440" rIns="91440" anchor="ctr"/>
          <a:lstStyle/>
          <a:p>
            <a:pPr algn="ctr">
              <a:buNone/>
            </a:pPr>
            <a:r>
              <a:rPr lang="en-US" sz="1400" dirty="0">
                <a:solidFill>
                  <a:srgbClr val="333333"/>
                </a:solidFill>
                <a:latin typeface="Calibri"/>
              </a:rPr>
              <a:t>4,830,000 SF</a:t>
            </a:r>
          </a:p>
        </p:txBody>
      </p:sp>
      <p:sp>
        <p:nvSpPr>
          <p:cNvPr id="26" name="R1C2"/>
          <p:cNvSpPr txBox="1"/>
          <p:nvPr/>
        </p:nvSpPr>
        <p:spPr>
          <a:xfrm>
            <a:off x="5067300" y="1549400"/>
            <a:ext cx="1905000" cy="406400"/>
          </a:xfrm>
          <a:prstGeom prst="rect">
            <a:avLst/>
          </a:prstGeom>
          <a:solidFill>
            <a:srgbClr val="F4F6F9"/>
          </a:solidFill>
          <a:ln>
            <a:noFill/>
          </a:ln>
        </p:spPr>
        <p:txBody>
          <a:bodyPr lIns="91440" rIns="91440" anchor="ctr"/>
          <a:lstStyle/>
          <a:p>
            <a:pPr algn="ctr">
              <a:buNone/>
            </a:pPr>
            <a:r>
              <a:rPr lang="en-US" sz="1400" dirty="0">
                <a:solidFill>
                  <a:srgbClr val="333333"/>
                </a:solidFill>
                <a:latin typeface="Calibri"/>
              </a:rPr>
              <a:t>986</a:t>
            </a:r>
          </a:p>
        </p:txBody>
      </p:sp>
      <p:sp>
        <p:nvSpPr>
          <p:cNvPr id="27" name="R1C3"/>
          <p:cNvSpPr txBox="1"/>
          <p:nvPr/>
        </p:nvSpPr>
        <p:spPr>
          <a:xfrm>
            <a:off x="6972300" y="1549400"/>
            <a:ext cx="1803400" cy="406400"/>
          </a:xfrm>
          <a:prstGeom prst="rect">
            <a:avLst/>
          </a:prstGeom>
          <a:solidFill>
            <a:srgbClr val="F4F6F9"/>
          </a:solidFill>
          <a:ln>
            <a:noFill/>
          </a:ln>
        </p:spPr>
        <p:txBody>
          <a:bodyPr lIns="91440" rIns="91440" anchor="ctr"/>
          <a:lstStyle/>
          <a:p>
            <a:pPr algn="ctr">
              <a:buNone/>
            </a:pPr>
            <a:r>
              <a:rPr lang="en-US" sz="1400" dirty="0">
                <a:solidFill>
                  <a:srgbClr val="333333"/>
                </a:solidFill>
                <a:latin typeface="Calibri"/>
              </a:rPr>
              <a:t>4,900 SF</a:t>
            </a:r>
          </a:p>
        </p:txBody>
      </p:sp>
      <p:sp>
        <p:nvSpPr>
          <p:cNvPr id="28" name="R2C0"/>
          <p:cNvSpPr txBox="1"/>
          <p:nvPr/>
        </p:nvSpPr>
        <p:spPr>
          <a:xfrm>
            <a:off x="368300" y="1955800"/>
            <a:ext cx="2794000" cy="406400"/>
          </a:xfrm>
          <a:prstGeom prst="rect">
            <a:avLst/>
          </a:prstGeom>
          <a:solidFill>
            <a:srgbClr val="FFFFFF"/>
          </a:solidFill>
          <a:ln>
            <a:noFill/>
          </a:ln>
        </p:spPr>
        <p:txBody>
          <a:bodyPr lIns="91440" rIns="91440" anchor="ctr"/>
          <a:lstStyle/>
          <a:p>
            <a:pPr algn="l">
              <a:buNone/>
            </a:pPr>
            <a:r>
              <a:rPr lang="en-US" sz="1400" b="1" dirty="0">
                <a:solidFill>
                  <a:srgbClr val="1B3A5C"/>
                </a:solidFill>
                <a:latin typeface="Calibri"/>
              </a:rPr>
              <a:t>Rock Spring</a:t>
            </a:r>
          </a:p>
        </p:txBody>
      </p:sp>
      <p:sp>
        <p:nvSpPr>
          <p:cNvPr id="29" name="R2C1"/>
          <p:cNvSpPr txBox="1"/>
          <p:nvPr/>
        </p:nvSpPr>
        <p:spPr>
          <a:xfrm>
            <a:off x="3162300" y="1955800"/>
            <a:ext cx="1905000" cy="406400"/>
          </a:xfrm>
          <a:prstGeom prst="rect">
            <a:avLst/>
          </a:prstGeom>
          <a:solidFill>
            <a:srgbClr val="FFFFFF"/>
          </a:solidFill>
          <a:ln>
            <a:noFill/>
          </a:ln>
        </p:spPr>
        <p:txBody>
          <a:bodyPr lIns="91440" rIns="91440" anchor="ctr"/>
          <a:lstStyle/>
          <a:p>
            <a:pPr algn="ctr">
              <a:buNone/>
            </a:pPr>
            <a:r>
              <a:rPr lang="en-US" sz="1400" dirty="0">
                <a:solidFill>
                  <a:srgbClr val="333333"/>
                </a:solidFill>
                <a:latin typeface="Calibri"/>
              </a:rPr>
              <a:t>3,690,000 SF</a:t>
            </a:r>
          </a:p>
        </p:txBody>
      </p:sp>
      <p:sp>
        <p:nvSpPr>
          <p:cNvPr id="30" name="R2C2"/>
          <p:cNvSpPr txBox="1"/>
          <p:nvPr/>
        </p:nvSpPr>
        <p:spPr>
          <a:xfrm>
            <a:off x="5067300" y="1955800"/>
            <a:ext cx="1905000" cy="406400"/>
          </a:xfrm>
          <a:prstGeom prst="rect">
            <a:avLst/>
          </a:prstGeom>
          <a:solidFill>
            <a:srgbClr val="FFFFFF"/>
          </a:solidFill>
          <a:ln>
            <a:noFill/>
          </a:ln>
        </p:spPr>
        <p:txBody>
          <a:bodyPr lIns="91440" rIns="91440" anchor="ctr"/>
          <a:lstStyle/>
          <a:p>
            <a:pPr algn="ctr">
              <a:buNone/>
            </a:pPr>
            <a:r>
              <a:rPr lang="en-US" sz="1400" dirty="0">
                <a:solidFill>
                  <a:srgbClr val="333333"/>
                </a:solidFill>
                <a:latin typeface="Calibri"/>
              </a:rPr>
              <a:t>812</a:t>
            </a:r>
          </a:p>
        </p:txBody>
      </p:sp>
      <p:sp>
        <p:nvSpPr>
          <p:cNvPr id="31" name="R2C3"/>
          <p:cNvSpPr txBox="1"/>
          <p:nvPr/>
        </p:nvSpPr>
        <p:spPr>
          <a:xfrm>
            <a:off x="6972300" y="1955800"/>
            <a:ext cx="1803400" cy="406400"/>
          </a:xfrm>
          <a:prstGeom prst="rect">
            <a:avLst/>
          </a:prstGeom>
          <a:solidFill>
            <a:srgbClr val="FFFFFF"/>
          </a:solidFill>
          <a:ln>
            <a:noFill/>
          </a:ln>
        </p:spPr>
        <p:txBody>
          <a:bodyPr lIns="91440" rIns="91440" anchor="ctr"/>
          <a:lstStyle/>
          <a:p>
            <a:pPr algn="ctr">
              <a:buNone/>
            </a:pPr>
            <a:r>
              <a:rPr lang="en-US" sz="1400" dirty="0">
                <a:solidFill>
                  <a:srgbClr val="333333"/>
                </a:solidFill>
                <a:latin typeface="Calibri"/>
              </a:rPr>
              <a:t>4,544 SF</a:t>
            </a:r>
          </a:p>
        </p:txBody>
      </p:sp>
      <p:sp>
        <p:nvSpPr>
          <p:cNvPr id="32" name="R3C0"/>
          <p:cNvSpPr txBox="1"/>
          <p:nvPr/>
        </p:nvSpPr>
        <p:spPr>
          <a:xfrm>
            <a:off x="368300" y="2362200"/>
            <a:ext cx="2794000" cy="406400"/>
          </a:xfrm>
          <a:prstGeom prst="rect">
            <a:avLst/>
          </a:prstGeom>
          <a:solidFill>
            <a:srgbClr val="F4F6F9"/>
          </a:solidFill>
          <a:ln>
            <a:noFill/>
          </a:ln>
        </p:spPr>
        <p:txBody>
          <a:bodyPr lIns="91440" rIns="91440" anchor="ctr"/>
          <a:lstStyle/>
          <a:p>
            <a:pPr algn="l">
              <a:buNone/>
            </a:pPr>
            <a:r>
              <a:rPr lang="en-US" sz="1400" b="1" dirty="0">
                <a:solidFill>
                  <a:srgbClr val="1B3A5C"/>
                </a:solidFill>
                <a:latin typeface="Calibri"/>
              </a:rPr>
              <a:t>Yorktown</a:t>
            </a:r>
          </a:p>
        </p:txBody>
      </p:sp>
      <p:sp>
        <p:nvSpPr>
          <p:cNvPr id="33" name="R3C1"/>
          <p:cNvSpPr txBox="1"/>
          <p:nvPr/>
        </p:nvSpPr>
        <p:spPr>
          <a:xfrm>
            <a:off x="3162300" y="2362200"/>
            <a:ext cx="1905000" cy="406400"/>
          </a:xfrm>
          <a:prstGeom prst="rect">
            <a:avLst/>
          </a:prstGeom>
          <a:solidFill>
            <a:srgbClr val="F4F6F9"/>
          </a:solidFill>
          <a:ln>
            <a:noFill/>
          </a:ln>
        </p:spPr>
        <p:txBody>
          <a:bodyPr lIns="91440" rIns="91440" anchor="ctr"/>
          <a:lstStyle/>
          <a:p>
            <a:pPr algn="ctr">
              <a:buNone/>
            </a:pPr>
            <a:r>
              <a:rPr lang="en-US" sz="1400" dirty="0">
                <a:solidFill>
                  <a:srgbClr val="333333"/>
                </a:solidFill>
                <a:latin typeface="Calibri"/>
              </a:rPr>
              <a:t>3,560,000 SF</a:t>
            </a:r>
          </a:p>
        </p:txBody>
      </p:sp>
      <p:sp>
        <p:nvSpPr>
          <p:cNvPr id="34" name="R3C2"/>
          <p:cNvSpPr txBox="1"/>
          <p:nvPr/>
        </p:nvSpPr>
        <p:spPr>
          <a:xfrm>
            <a:off x="5067300" y="2362200"/>
            <a:ext cx="1905000" cy="406400"/>
          </a:xfrm>
          <a:prstGeom prst="rect">
            <a:avLst/>
          </a:prstGeom>
          <a:solidFill>
            <a:srgbClr val="F4F6F9"/>
          </a:solidFill>
          <a:ln>
            <a:noFill/>
          </a:ln>
        </p:spPr>
        <p:txBody>
          <a:bodyPr lIns="91440" rIns="91440" anchor="ctr"/>
          <a:lstStyle/>
          <a:p>
            <a:pPr algn="ctr">
              <a:buNone/>
            </a:pPr>
            <a:r>
              <a:rPr lang="en-US" sz="1400" dirty="0">
                <a:solidFill>
                  <a:srgbClr val="333333"/>
                </a:solidFill>
                <a:latin typeface="Calibri"/>
              </a:rPr>
              <a:t>974</a:t>
            </a:r>
          </a:p>
        </p:txBody>
      </p:sp>
      <p:sp>
        <p:nvSpPr>
          <p:cNvPr id="35" name="R3C3"/>
          <p:cNvSpPr txBox="1"/>
          <p:nvPr/>
        </p:nvSpPr>
        <p:spPr>
          <a:xfrm>
            <a:off x="6972300" y="2362200"/>
            <a:ext cx="1803400" cy="406400"/>
          </a:xfrm>
          <a:prstGeom prst="rect">
            <a:avLst/>
          </a:prstGeom>
          <a:solidFill>
            <a:srgbClr val="F4F6F9"/>
          </a:solidFill>
          <a:ln>
            <a:noFill/>
          </a:ln>
        </p:spPr>
        <p:txBody>
          <a:bodyPr lIns="91440" rIns="91440" anchor="ctr"/>
          <a:lstStyle/>
          <a:p>
            <a:pPr algn="ctr">
              <a:buNone/>
            </a:pPr>
            <a:r>
              <a:rPr lang="en-US" sz="1400" dirty="0">
                <a:solidFill>
                  <a:srgbClr val="333333"/>
                </a:solidFill>
                <a:latin typeface="Calibri"/>
              </a:rPr>
              <a:t>3,656 SF</a:t>
            </a:r>
          </a:p>
        </p:txBody>
      </p:sp>
      <p:sp>
        <p:nvSpPr>
          <p:cNvPr id="36" name="R4C0"/>
          <p:cNvSpPr txBox="1"/>
          <p:nvPr/>
        </p:nvSpPr>
        <p:spPr>
          <a:xfrm>
            <a:off x="368300" y="2768600"/>
            <a:ext cx="2794000" cy="406400"/>
          </a:xfrm>
          <a:prstGeom prst="rect">
            <a:avLst/>
          </a:prstGeom>
          <a:solidFill>
            <a:srgbClr val="FFFFFF"/>
          </a:solidFill>
          <a:ln>
            <a:noFill/>
          </a:ln>
        </p:spPr>
        <p:txBody>
          <a:bodyPr lIns="91440" rIns="91440" anchor="ctr"/>
          <a:lstStyle/>
          <a:p>
            <a:pPr algn="l">
              <a:buNone/>
            </a:pPr>
            <a:r>
              <a:rPr lang="en-US" sz="1400" b="1" dirty="0">
                <a:solidFill>
                  <a:srgbClr val="1B3A5C"/>
                </a:solidFill>
                <a:latin typeface="Calibri"/>
              </a:rPr>
              <a:t>Williamsburg</a:t>
            </a:r>
          </a:p>
        </p:txBody>
      </p:sp>
      <p:sp>
        <p:nvSpPr>
          <p:cNvPr id="37" name="R4C1"/>
          <p:cNvSpPr txBox="1"/>
          <p:nvPr/>
        </p:nvSpPr>
        <p:spPr>
          <a:xfrm>
            <a:off x="3162300" y="2768600"/>
            <a:ext cx="1905000" cy="406400"/>
          </a:xfrm>
          <a:prstGeom prst="rect">
            <a:avLst/>
          </a:prstGeom>
          <a:solidFill>
            <a:srgbClr val="FFFFFF"/>
          </a:solidFill>
          <a:ln>
            <a:noFill/>
          </a:ln>
        </p:spPr>
        <p:txBody>
          <a:bodyPr lIns="91440" rIns="91440" anchor="ctr"/>
          <a:lstStyle/>
          <a:p>
            <a:pPr algn="ctr">
              <a:buNone/>
            </a:pPr>
            <a:r>
              <a:rPr lang="en-US" sz="1400" dirty="0">
                <a:solidFill>
                  <a:srgbClr val="333333"/>
                </a:solidFill>
                <a:latin typeface="Calibri"/>
              </a:rPr>
              <a:t>3,210,000 SF</a:t>
            </a:r>
          </a:p>
        </p:txBody>
      </p:sp>
      <p:sp>
        <p:nvSpPr>
          <p:cNvPr id="38" name="R4C2"/>
          <p:cNvSpPr txBox="1"/>
          <p:nvPr/>
        </p:nvSpPr>
        <p:spPr>
          <a:xfrm>
            <a:off x="5067300" y="2768600"/>
            <a:ext cx="1905000" cy="406400"/>
          </a:xfrm>
          <a:prstGeom prst="rect">
            <a:avLst/>
          </a:prstGeom>
          <a:solidFill>
            <a:srgbClr val="FFFFFF"/>
          </a:solidFill>
          <a:ln>
            <a:noFill/>
          </a:ln>
        </p:spPr>
        <p:txBody>
          <a:bodyPr lIns="91440" rIns="91440" anchor="ctr"/>
          <a:lstStyle/>
          <a:p>
            <a:pPr algn="ctr">
              <a:buNone/>
            </a:pPr>
            <a:r>
              <a:rPr lang="en-US" sz="1400" dirty="0">
                <a:solidFill>
                  <a:srgbClr val="333333"/>
                </a:solidFill>
                <a:latin typeface="Calibri"/>
              </a:rPr>
              <a:t>768</a:t>
            </a:r>
          </a:p>
        </p:txBody>
      </p:sp>
      <p:sp>
        <p:nvSpPr>
          <p:cNvPr id="39" name="R4C3"/>
          <p:cNvSpPr txBox="1"/>
          <p:nvPr/>
        </p:nvSpPr>
        <p:spPr>
          <a:xfrm>
            <a:off x="6972300" y="2768600"/>
            <a:ext cx="1803400" cy="406400"/>
          </a:xfrm>
          <a:prstGeom prst="rect">
            <a:avLst/>
          </a:prstGeom>
          <a:solidFill>
            <a:srgbClr val="FFFFFF"/>
          </a:solidFill>
          <a:ln>
            <a:noFill/>
          </a:ln>
        </p:spPr>
        <p:txBody>
          <a:bodyPr lIns="91440" rIns="91440" anchor="ctr"/>
          <a:lstStyle/>
          <a:p>
            <a:pPr algn="ctr">
              <a:buNone/>
            </a:pPr>
            <a:r>
              <a:rPr lang="en-US" sz="1400" dirty="0">
                <a:solidFill>
                  <a:srgbClr val="333333"/>
                </a:solidFill>
                <a:latin typeface="Calibri"/>
              </a:rPr>
              <a:t>4,180 SF</a:t>
            </a:r>
          </a:p>
        </p:txBody>
      </p:sp>
      <p:sp>
        <p:nvSpPr>
          <p:cNvPr id="40" name="R5C0"/>
          <p:cNvSpPr txBox="1"/>
          <p:nvPr/>
        </p:nvSpPr>
        <p:spPr>
          <a:xfrm>
            <a:off x="368300" y="3175000"/>
            <a:ext cx="2794000" cy="406400"/>
          </a:xfrm>
          <a:prstGeom prst="rect">
            <a:avLst/>
          </a:prstGeom>
          <a:solidFill>
            <a:srgbClr val="F4F6F9"/>
          </a:solidFill>
          <a:ln>
            <a:noFill/>
          </a:ln>
        </p:spPr>
        <p:txBody>
          <a:bodyPr lIns="91440" rIns="91440" anchor="ctr"/>
          <a:lstStyle/>
          <a:p>
            <a:pPr algn="l">
              <a:buNone/>
            </a:pPr>
            <a:r>
              <a:rPr lang="en-US" sz="1400" b="1" dirty="0">
                <a:solidFill>
                  <a:srgbClr val="1B3A5C"/>
                </a:solidFill>
                <a:latin typeface="Calibri"/>
              </a:rPr>
              <a:t>Waverly Hills</a:t>
            </a:r>
          </a:p>
        </p:txBody>
      </p:sp>
      <p:sp>
        <p:nvSpPr>
          <p:cNvPr id="41" name="R5C1"/>
          <p:cNvSpPr txBox="1"/>
          <p:nvPr/>
        </p:nvSpPr>
        <p:spPr>
          <a:xfrm>
            <a:off x="3162300" y="3175000"/>
            <a:ext cx="1905000" cy="406400"/>
          </a:xfrm>
          <a:prstGeom prst="rect">
            <a:avLst/>
          </a:prstGeom>
          <a:solidFill>
            <a:srgbClr val="F4F6F9"/>
          </a:solidFill>
          <a:ln>
            <a:noFill/>
          </a:ln>
        </p:spPr>
        <p:txBody>
          <a:bodyPr lIns="91440" rIns="91440" anchor="ctr"/>
          <a:lstStyle/>
          <a:p>
            <a:pPr algn="ctr">
              <a:buNone/>
            </a:pPr>
            <a:r>
              <a:rPr lang="en-US" sz="1400" dirty="0">
                <a:solidFill>
                  <a:srgbClr val="333333"/>
                </a:solidFill>
                <a:latin typeface="Calibri"/>
              </a:rPr>
              <a:t>2,950,000 SF</a:t>
            </a:r>
          </a:p>
        </p:txBody>
      </p:sp>
      <p:sp>
        <p:nvSpPr>
          <p:cNvPr id="42" name="R5C2"/>
          <p:cNvSpPr txBox="1"/>
          <p:nvPr/>
        </p:nvSpPr>
        <p:spPr>
          <a:xfrm>
            <a:off x="5067300" y="3175000"/>
            <a:ext cx="1905000" cy="406400"/>
          </a:xfrm>
          <a:prstGeom prst="rect">
            <a:avLst/>
          </a:prstGeom>
          <a:solidFill>
            <a:srgbClr val="F4F6F9"/>
          </a:solidFill>
          <a:ln>
            <a:noFill/>
          </a:ln>
        </p:spPr>
        <p:txBody>
          <a:bodyPr lIns="91440" rIns="91440" anchor="ctr"/>
          <a:lstStyle/>
          <a:p>
            <a:pPr algn="ctr">
              <a:buNone/>
            </a:pPr>
            <a:r>
              <a:rPr lang="en-US" sz="1400" dirty="0">
                <a:solidFill>
                  <a:srgbClr val="333333"/>
                </a:solidFill>
                <a:latin typeface="Calibri"/>
              </a:rPr>
              <a:t>721</a:t>
            </a:r>
          </a:p>
        </p:txBody>
      </p:sp>
      <p:sp>
        <p:nvSpPr>
          <p:cNvPr id="43" name="R5C3"/>
          <p:cNvSpPr txBox="1"/>
          <p:nvPr/>
        </p:nvSpPr>
        <p:spPr>
          <a:xfrm>
            <a:off x="6972300" y="3175000"/>
            <a:ext cx="1803400" cy="406400"/>
          </a:xfrm>
          <a:prstGeom prst="rect">
            <a:avLst/>
          </a:prstGeom>
          <a:solidFill>
            <a:srgbClr val="F4F6F9"/>
          </a:solidFill>
          <a:ln>
            <a:noFill/>
          </a:ln>
        </p:spPr>
        <p:txBody>
          <a:bodyPr lIns="91440" rIns="91440" anchor="ctr"/>
          <a:lstStyle/>
          <a:p>
            <a:pPr algn="ctr">
              <a:buNone/>
            </a:pPr>
            <a:r>
              <a:rPr lang="en-US" sz="1400" dirty="0">
                <a:solidFill>
                  <a:srgbClr val="333333"/>
                </a:solidFill>
                <a:latin typeface="Calibri"/>
              </a:rPr>
              <a:t>4,092 SF</a:t>
            </a:r>
          </a:p>
        </p:txBody>
      </p:sp>
      <p:sp>
        <p:nvSpPr>
          <p:cNvPr id="44" name="R6C0"/>
          <p:cNvSpPr txBox="1"/>
          <p:nvPr/>
        </p:nvSpPr>
        <p:spPr>
          <a:xfrm>
            <a:off x="368300" y="3581400"/>
            <a:ext cx="2794000" cy="406400"/>
          </a:xfrm>
          <a:prstGeom prst="rect">
            <a:avLst/>
          </a:prstGeom>
          <a:solidFill>
            <a:srgbClr val="FFFFFF"/>
          </a:solidFill>
          <a:ln>
            <a:noFill/>
          </a:ln>
        </p:spPr>
        <p:txBody>
          <a:bodyPr lIns="91440" rIns="91440" anchor="ctr"/>
          <a:lstStyle/>
          <a:p>
            <a:pPr algn="l">
              <a:buNone/>
            </a:pPr>
            <a:r>
              <a:rPr lang="en-US" sz="1400" b="1" dirty="0">
                <a:solidFill>
                  <a:srgbClr val="1B3A5C"/>
                </a:solidFill>
                <a:latin typeface="Calibri"/>
              </a:rPr>
              <a:t>Tara-Leeway Heights</a:t>
            </a:r>
          </a:p>
        </p:txBody>
      </p:sp>
      <p:sp>
        <p:nvSpPr>
          <p:cNvPr id="45" name="R6C1"/>
          <p:cNvSpPr txBox="1"/>
          <p:nvPr/>
        </p:nvSpPr>
        <p:spPr>
          <a:xfrm>
            <a:off x="3162300" y="3581400"/>
            <a:ext cx="1905000" cy="406400"/>
          </a:xfrm>
          <a:prstGeom prst="rect">
            <a:avLst/>
          </a:prstGeom>
          <a:solidFill>
            <a:srgbClr val="FFFFFF"/>
          </a:solidFill>
          <a:ln>
            <a:noFill/>
          </a:ln>
        </p:spPr>
        <p:txBody>
          <a:bodyPr lIns="91440" rIns="91440" anchor="ctr"/>
          <a:lstStyle/>
          <a:p>
            <a:pPr algn="ctr">
              <a:buNone/>
            </a:pPr>
            <a:r>
              <a:rPr lang="en-US" sz="1400" dirty="0">
                <a:solidFill>
                  <a:srgbClr val="333333"/>
                </a:solidFill>
                <a:latin typeface="Calibri"/>
              </a:rPr>
              <a:t>2,780,000 SF</a:t>
            </a:r>
          </a:p>
        </p:txBody>
      </p:sp>
      <p:sp>
        <p:nvSpPr>
          <p:cNvPr id="46" name="R6C2"/>
          <p:cNvSpPr txBox="1"/>
          <p:nvPr/>
        </p:nvSpPr>
        <p:spPr>
          <a:xfrm>
            <a:off x="5067300" y="3581400"/>
            <a:ext cx="1905000" cy="406400"/>
          </a:xfrm>
          <a:prstGeom prst="rect">
            <a:avLst/>
          </a:prstGeom>
          <a:solidFill>
            <a:srgbClr val="FFFFFF"/>
          </a:solidFill>
          <a:ln>
            <a:noFill/>
          </a:ln>
        </p:spPr>
        <p:txBody>
          <a:bodyPr lIns="91440" rIns="91440" anchor="ctr"/>
          <a:lstStyle/>
          <a:p>
            <a:pPr algn="ctr">
              <a:buNone/>
            </a:pPr>
            <a:r>
              <a:rPr lang="en-US" sz="1400" dirty="0">
                <a:solidFill>
                  <a:srgbClr val="333333"/>
                </a:solidFill>
                <a:latin typeface="Calibri"/>
              </a:rPr>
              <a:t>624</a:t>
            </a:r>
          </a:p>
        </p:txBody>
      </p:sp>
      <p:sp>
        <p:nvSpPr>
          <p:cNvPr id="47" name="R6C3"/>
          <p:cNvSpPr txBox="1"/>
          <p:nvPr/>
        </p:nvSpPr>
        <p:spPr>
          <a:xfrm>
            <a:off x="6972300" y="3581400"/>
            <a:ext cx="1803400" cy="406400"/>
          </a:xfrm>
          <a:prstGeom prst="rect">
            <a:avLst/>
          </a:prstGeom>
          <a:solidFill>
            <a:srgbClr val="FFFFFF"/>
          </a:solidFill>
          <a:ln>
            <a:noFill/>
          </a:ln>
        </p:spPr>
        <p:txBody>
          <a:bodyPr lIns="91440" rIns="91440" anchor="ctr"/>
          <a:lstStyle/>
          <a:p>
            <a:pPr algn="ctr">
              <a:buNone/>
            </a:pPr>
            <a:r>
              <a:rPr lang="en-US" sz="1400" dirty="0">
                <a:solidFill>
                  <a:srgbClr val="333333"/>
                </a:solidFill>
                <a:latin typeface="Calibri"/>
              </a:rPr>
              <a:t>4,455 SF</a:t>
            </a:r>
          </a:p>
        </p:txBody>
      </p:sp>
      <p:sp>
        <p:nvSpPr>
          <p:cNvPr id="48" name="R7C0"/>
          <p:cNvSpPr txBox="1"/>
          <p:nvPr/>
        </p:nvSpPr>
        <p:spPr>
          <a:xfrm>
            <a:off x="368300" y="3987800"/>
            <a:ext cx="2794000" cy="406400"/>
          </a:xfrm>
          <a:prstGeom prst="rect">
            <a:avLst/>
          </a:prstGeom>
          <a:solidFill>
            <a:srgbClr val="F4F6F9"/>
          </a:solidFill>
          <a:ln>
            <a:noFill/>
          </a:ln>
        </p:spPr>
        <p:txBody>
          <a:bodyPr lIns="91440" rIns="91440" anchor="ctr"/>
          <a:lstStyle/>
          <a:p>
            <a:pPr algn="l">
              <a:buNone/>
            </a:pPr>
            <a:r>
              <a:rPr lang="en-US" sz="1400" b="1" dirty="0">
                <a:solidFill>
                  <a:srgbClr val="1B3A5C"/>
                </a:solidFill>
                <a:latin typeface="Calibri"/>
              </a:rPr>
              <a:t>Bellevue Forest</a:t>
            </a:r>
          </a:p>
        </p:txBody>
      </p:sp>
      <p:sp>
        <p:nvSpPr>
          <p:cNvPr id="49" name="R7C1"/>
          <p:cNvSpPr txBox="1"/>
          <p:nvPr/>
        </p:nvSpPr>
        <p:spPr>
          <a:xfrm>
            <a:off x="3162300" y="3987800"/>
            <a:ext cx="1905000" cy="406400"/>
          </a:xfrm>
          <a:prstGeom prst="rect">
            <a:avLst/>
          </a:prstGeom>
          <a:solidFill>
            <a:srgbClr val="F4F6F9"/>
          </a:solidFill>
          <a:ln>
            <a:noFill/>
          </a:ln>
        </p:spPr>
        <p:txBody>
          <a:bodyPr lIns="91440" rIns="91440" anchor="ctr"/>
          <a:lstStyle/>
          <a:p>
            <a:pPr algn="ctr">
              <a:buNone/>
            </a:pPr>
            <a:r>
              <a:rPr lang="en-US" sz="1400" dirty="0">
                <a:solidFill>
                  <a:srgbClr val="333333"/>
                </a:solidFill>
                <a:latin typeface="Calibri"/>
              </a:rPr>
              <a:t>2,640,000 SF</a:t>
            </a:r>
          </a:p>
        </p:txBody>
      </p:sp>
      <p:sp>
        <p:nvSpPr>
          <p:cNvPr id="50" name="R7C2"/>
          <p:cNvSpPr txBox="1"/>
          <p:nvPr/>
        </p:nvSpPr>
        <p:spPr>
          <a:xfrm>
            <a:off x="5067300" y="3987800"/>
            <a:ext cx="1905000" cy="406400"/>
          </a:xfrm>
          <a:prstGeom prst="rect">
            <a:avLst/>
          </a:prstGeom>
          <a:solidFill>
            <a:srgbClr val="F4F6F9"/>
          </a:solidFill>
          <a:ln>
            <a:noFill/>
          </a:ln>
        </p:spPr>
        <p:txBody>
          <a:bodyPr lIns="91440" rIns="91440" anchor="ctr"/>
          <a:lstStyle/>
          <a:p>
            <a:pPr algn="ctr">
              <a:buNone/>
            </a:pPr>
            <a:r>
              <a:rPr lang="en-US" sz="1400" dirty="0">
                <a:solidFill>
                  <a:srgbClr val="333333"/>
                </a:solidFill>
                <a:latin typeface="Calibri"/>
              </a:rPr>
              <a:t>538</a:t>
            </a:r>
          </a:p>
        </p:txBody>
      </p:sp>
      <p:sp>
        <p:nvSpPr>
          <p:cNvPr id="51" name="R7C3"/>
          <p:cNvSpPr txBox="1"/>
          <p:nvPr/>
        </p:nvSpPr>
        <p:spPr>
          <a:xfrm>
            <a:off x="6972300" y="3987800"/>
            <a:ext cx="1803400" cy="406400"/>
          </a:xfrm>
          <a:prstGeom prst="rect">
            <a:avLst/>
          </a:prstGeom>
          <a:solidFill>
            <a:srgbClr val="F4F6F9"/>
          </a:solidFill>
          <a:ln>
            <a:noFill/>
          </a:ln>
        </p:spPr>
        <p:txBody>
          <a:bodyPr lIns="91440" rIns="91440" anchor="ctr"/>
          <a:lstStyle/>
          <a:p>
            <a:pPr algn="ctr">
              <a:buNone/>
            </a:pPr>
            <a:r>
              <a:rPr lang="en-US" sz="1400" dirty="0">
                <a:solidFill>
                  <a:srgbClr val="333333"/>
                </a:solidFill>
                <a:latin typeface="Calibri"/>
              </a:rPr>
              <a:t>4,907 SF</a:t>
            </a:r>
          </a:p>
        </p:txBody>
      </p:sp>
      <p:sp>
        <p:nvSpPr>
          <p:cNvPr id="120" name="Note"/>
          <p:cNvSpPr txBox="1"/>
          <p:nvPr/>
        </p:nvSpPr>
        <p:spPr>
          <a:xfrm>
            <a:off x="368300" y="4394200"/>
            <a:ext cx="8407400" cy="431800"/>
          </a:xfrm>
          <a:prstGeom prst="rect">
            <a:avLst/>
          </a:prstGeom>
          <a:solidFill>
            <a:srgbClr val="F0F7F5"/>
          </a:solidFill>
          <a:ln>
            <a:noFill/>
          </a:ln>
        </p:spPr>
        <p:txBody>
          <a:bodyPr wrap="square" lIns="91440" tIns="45720" rIns="91440" bIns="45720" anchor="ctr"/>
          <a:lstStyle/>
          <a:p>
            <a:pPr marL="0" indent="0">
              <a:buNone/>
            </a:pPr>
            <a:r>
              <a:rPr lang="en-US" sz="1200" i="1" dirty="0">
                <a:solidFill>
                  <a:srgbClr val="1A7A6B"/>
                </a:solidFill>
                <a:latin typeface="Calibri"/>
              </a:rPr>
              <a:t>Available GFA figures rounded to nearest 10,000 SF. Parcels at or over zoning capacity excluded from capacity totals.</a:t>
            </a:r>
          </a:p>
        </p:txBody>
      </p:sp>
    </p:spTree>
    <p:extLst>
      <p:ext uri="{BB962C8B-B14F-4D97-AF65-F5344CB8AC3E}">
        <p14:creationId xmlns:p14="http://schemas.microsoft.com/office/powerpoint/2010/main" val="12738805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
          <p:cNvSpPr/>
          <p:nvPr/>
        </p:nvSpPr>
        <p:spPr>
          <a:xfrm>
            <a:off x="0" y="0"/>
            <a:ext cx="9144000" cy="635000"/>
          </a:xfrm>
          <a:prstGeom prst="rect">
            <a:avLst/>
          </a:prstGeom>
          <a:solidFill>
            <a:srgbClr val="1A7A6B"/>
          </a:solidFill>
          <a:ln>
            <a:noFill/>
          </a:ln>
        </p:spPr>
        <p:txBody>
          <a:bodyPr/>
          <a:lstStyle/>
          <a:p>
            <a:endParaRPr/>
          </a:p>
        </p:txBody>
      </p:sp>
      <p:sp>
        <p:nvSpPr>
          <p:cNvPr id="3" name="Title"/>
          <p:cNvSpPr txBox="1"/>
          <p:nvPr/>
        </p:nvSpPr>
        <p:spPr>
          <a:xfrm>
            <a:off x="368300" y="63500"/>
            <a:ext cx="8407400" cy="508000"/>
          </a:xfrm>
          <a:prstGeom prst="rect">
            <a:avLst/>
          </a:prstGeom>
          <a:noFill/>
          <a:ln>
            <a:noFill/>
          </a:ln>
        </p:spPr>
        <p:txBody>
          <a:bodyPr wrap="square" lIns="0" tIns="0" rIns="0" bIns="0" anchor="ctr"/>
          <a:lstStyle/>
          <a:p>
            <a:pPr marL="0" indent="0">
              <a:buNone/>
            </a:pPr>
            <a:r>
              <a:rPr lang="en-US" sz="2400" b="1" dirty="0">
                <a:solidFill>
                  <a:srgbClr val="FFFFFF"/>
                </a:solidFill>
                <a:latin typeface="Georgia" pitchFamily="34" charset="0"/>
              </a:rPr>
              <a:t>Top Neighborhoods by Estimated Value</a:t>
            </a:r>
          </a:p>
        </p:txBody>
      </p:sp>
      <p:sp>
        <p:nvSpPr>
          <p:cNvPr id="10" name="H0"/>
          <p:cNvSpPr txBox="1"/>
          <p:nvPr/>
        </p:nvSpPr>
        <p:spPr>
          <a:xfrm>
            <a:off x="368300" y="736600"/>
            <a:ext cx="2794000" cy="406400"/>
          </a:xfrm>
          <a:prstGeom prst="rect">
            <a:avLst/>
          </a:prstGeom>
          <a:solidFill>
            <a:srgbClr val="1B3A5C"/>
          </a:solidFill>
          <a:ln>
            <a:noFill/>
          </a:ln>
        </p:spPr>
        <p:txBody>
          <a:bodyPr lIns="91440" rIns="91440" anchor="ctr"/>
          <a:lstStyle/>
          <a:p>
            <a:pPr algn="l">
              <a:buNone/>
            </a:pPr>
            <a:r>
              <a:rPr lang="en-US" sz="1400" b="1" dirty="0">
                <a:solidFill>
                  <a:srgbClr val="FFFFFF"/>
                </a:solidFill>
                <a:latin typeface="Calibri"/>
              </a:rPr>
              <a:t>Neighborhood</a:t>
            </a:r>
          </a:p>
        </p:txBody>
      </p:sp>
      <p:sp>
        <p:nvSpPr>
          <p:cNvPr id="11" name="H1"/>
          <p:cNvSpPr txBox="1"/>
          <p:nvPr/>
        </p:nvSpPr>
        <p:spPr>
          <a:xfrm>
            <a:off x="3162300" y="736600"/>
            <a:ext cx="2032000" cy="406400"/>
          </a:xfrm>
          <a:prstGeom prst="rect">
            <a:avLst/>
          </a:prstGeom>
          <a:solidFill>
            <a:srgbClr val="1B3A5C"/>
          </a:solidFill>
          <a:ln>
            <a:noFill/>
          </a:ln>
        </p:spPr>
        <p:txBody>
          <a:bodyPr lIns="91440" rIns="91440" anchor="ctr"/>
          <a:lstStyle/>
          <a:p>
            <a:pPr algn="ctr">
              <a:buNone/>
            </a:pPr>
            <a:r>
              <a:rPr lang="en-US" sz="1400" b="1" dirty="0">
                <a:solidFill>
                  <a:srgbClr val="FFFFFF"/>
                </a:solidFill>
                <a:latin typeface="Calibri"/>
              </a:rPr>
              <a:t>Est. Value (High)</a:t>
            </a:r>
          </a:p>
        </p:txBody>
      </p:sp>
      <p:sp>
        <p:nvSpPr>
          <p:cNvPr id="12" name="H2"/>
          <p:cNvSpPr txBox="1"/>
          <p:nvPr/>
        </p:nvSpPr>
        <p:spPr>
          <a:xfrm>
            <a:off x="5194300" y="736600"/>
            <a:ext cx="2032000" cy="406400"/>
          </a:xfrm>
          <a:prstGeom prst="rect">
            <a:avLst/>
          </a:prstGeom>
          <a:solidFill>
            <a:srgbClr val="1B3A5C"/>
          </a:solidFill>
          <a:ln>
            <a:noFill/>
          </a:ln>
        </p:spPr>
        <p:txBody>
          <a:bodyPr lIns="91440" rIns="91440" anchor="ctr"/>
          <a:lstStyle/>
          <a:p>
            <a:pPr algn="ctr">
              <a:buNone/>
            </a:pPr>
            <a:r>
              <a:rPr lang="en-US" sz="1400" b="1" dirty="0">
                <a:solidFill>
                  <a:srgbClr val="FFFFFF"/>
                </a:solidFill>
                <a:latin typeface="Calibri"/>
              </a:rPr>
              <a:t>Est. Value (Low)</a:t>
            </a:r>
          </a:p>
        </p:txBody>
      </p:sp>
      <p:sp>
        <p:nvSpPr>
          <p:cNvPr id="13" name="H3"/>
          <p:cNvSpPr txBox="1"/>
          <p:nvPr/>
        </p:nvSpPr>
        <p:spPr>
          <a:xfrm>
            <a:off x="7226300" y="736600"/>
            <a:ext cx="1803400" cy="406400"/>
          </a:xfrm>
          <a:prstGeom prst="rect">
            <a:avLst/>
          </a:prstGeom>
          <a:solidFill>
            <a:srgbClr val="1B3A5C"/>
          </a:solidFill>
          <a:ln>
            <a:noFill/>
          </a:ln>
        </p:spPr>
        <p:txBody>
          <a:bodyPr lIns="91440" rIns="91440" anchor="ctr"/>
          <a:lstStyle/>
          <a:p>
            <a:pPr algn="ctr">
              <a:buNone/>
            </a:pPr>
            <a:r>
              <a:rPr lang="en-US" sz="1400" b="1" dirty="0">
                <a:solidFill>
                  <a:srgbClr val="FFFFFF"/>
                </a:solidFill>
                <a:latin typeface="Calibri"/>
              </a:rPr>
              <a:t>Parcels w/ Value</a:t>
            </a:r>
          </a:p>
        </p:txBody>
      </p:sp>
      <p:sp>
        <p:nvSpPr>
          <p:cNvPr id="20" name="R0C0"/>
          <p:cNvSpPr txBox="1"/>
          <p:nvPr/>
        </p:nvSpPr>
        <p:spPr>
          <a:xfrm>
            <a:off x="368300" y="1143000"/>
            <a:ext cx="2794000" cy="406400"/>
          </a:xfrm>
          <a:prstGeom prst="rect">
            <a:avLst/>
          </a:prstGeom>
          <a:solidFill>
            <a:srgbClr val="FFFFFF"/>
          </a:solidFill>
          <a:ln>
            <a:noFill/>
          </a:ln>
        </p:spPr>
        <p:txBody>
          <a:bodyPr lIns="91440" rIns="91440" anchor="ctr"/>
          <a:lstStyle/>
          <a:p>
            <a:pPr algn="l">
              <a:buNone/>
            </a:pPr>
            <a:r>
              <a:rPr lang="en-US" sz="1400" b="1" dirty="0">
                <a:solidFill>
                  <a:srgbClr val="1B3A5C"/>
                </a:solidFill>
                <a:latin typeface="Calibri"/>
              </a:rPr>
              <a:t>Bluemont</a:t>
            </a:r>
          </a:p>
        </p:txBody>
      </p:sp>
      <p:sp>
        <p:nvSpPr>
          <p:cNvPr id="21" name="R0C1"/>
          <p:cNvSpPr txBox="1"/>
          <p:nvPr/>
        </p:nvSpPr>
        <p:spPr>
          <a:xfrm>
            <a:off x="3162300" y="1143000"/>
            <a:ext cx="2032000" cy="406400"/>
          </a:xfrm>
          <a:prstGeom prst="rect">
            <a:avLst/>
          </a:prstGeom>
          <a:solidFill>
            <a:srgbClr val="FFFFFF"/>
          </a:solidFill>
          <a:ln>
            <a:noFill/>
          </a:ln>
        </p:spPr>
        <p:txBody>
          <a:bodyPr lIns="91440" rIns="91440" anchor="ctr"/>
          <a:lstStyle/>
          <a:p>
            <a:pPr algn="ctr">
              <a:buNone/>
            </a:pPr>
            <a:r>
              <a:rPr lang="en-US" sz="1400" b="1" dirty="0">
                <a:solidFill>
                  <a:srgbClr val="1A7A6B"/>
                </a:solidFill>
                <a:latin typeface="Calibri"/>
              </a:rPr>
              <a:t>$536M</a:t>
            </a:r>
          </a:p>
        </p:txBody>
      </p:sp>
      <p:sp>
        <p:nvSpPr>
          <p:cNvPr id="22" name="R0C2"/>
          <p:cNvSpPr txBox="1"/>
          <p:nvPr/>
        </p:nvSpPr>
        <p:spPr>
          <a:xfrm>
            <a:off x="5194300" y="1143000"/>
            <a:ext cx="2032000" cy="406400"/>
          </a:xfrm>
          <a:prstGeom prst="rect">
            <a:avLst/>
          </a:prstGeom>
          <a:solidFill>
            <a:srgbClr val="FFFFFF"/>
          </a:solidFill>
          <a:ln>
            <a:noFill/>
          </a:ln>
        </p:spPr>
        <p:txBody>
          <a:bodyPr lIns="91440" rIns="91440" anchor="ctr"/>
          <a:lstStyle/>
          <a:p>
            <a:pPr algn="ctr">
              <a:buNone/>
            </a:pPr>
            <a:r>
              <a:rPr lang="en-US" sz="1400" dirty="0">
                <a:solidFill>
                  <a:srgbClr val="333333"/>
                </a:solidFill>
                <a:latin typeface="Calibri"/>
              </a:rPr>
              <a:t>$393M</a:t>
            </a:r>
          </a:p>
        </p:txBody>
      </p:sp>
      <p:sp>
        <p:nvSpPr>
          <p:cNvPr id="23" name="R0C3"/>
          <p:cNvSpPr txBox="1"/>
          <p:nvPr/>
        </p:nvSpPr>
        <p:spPr>
          <a:xfrm>
            <a:off x="7226300" y="1143000"/>
            <a:ext cx="1803400" cy="406400"/>
          </a:xfrm>
          <a:prstGeom prst="rect">
            <a:avLst/>
          </a:prstGeom>
          <a:solidFill>
            <a:srgbClr val="FFFFFF"/>
          </a:solidFill>
          <a:ln>
            <a:noFill/>
          </a:ln>
        </p:spPr>
        <p:txBody>
          <a:bodyPr lIns="91440" rIns="91440" anchor="ctr"/>
          <a:lstStyle/>
          <a:p>
            <a:pPr algn="ctr">
              <a:buNone/>
            </a:pPr>
            <a:r>
              <a:rPr lang="en-US" sz="1400" dirty="0">
                <a:solidFill>
                  <a:srgbClr val="333333"/>
                </a:solidFill>
                <a:latin typeface="Calibri"/>
              </a:rPr>
              <a:t>892</a:t>
            </a:r>
          </a:p>
        </p:txBody>
      </p:sp>
      <p:sp>
        <p:nvSpPr>
          <p:cNvPr id="24" name="R1C0"/>
          <p:cNvSpPr txBox="1"/>
          <p:nvPr/>
        </p:nvSpPr>
        <p:spPr>
          <a:xfrm>
            <a:off x="368300" y="1549400"/>
            <a:ext cx="2794000" cy="406400"/>
          </a:xfrm>
          <a:prstGeom prst="rect">
            <a:avLst/>
          </a:prstGeom>
          <a:solidFill>
            <a:srgbClr val="F4F6F9"/>
          </a:solidFill>
          <a:ln>
            <a:noFill/>
          </a:ln>
        </p:spPr>
        <p:txBody>
          <a:bodyPr lIns="91440" rIns="91440" anchor="ctr"/>
          <a:lstStyle/>
          <a:p>
            <a:pPr algn="l">
              <a:buNone/>
            </a:pPr>
            <a:r>
              <a:rPr lang="en-US" sz="1400" b="1" dirty="0">
                <a:solidFill>
                  <a:srgbClr val="1B3A5C"/>
                </a:solidFill>
                <a:latin typeface="Calibri"/>
              </a:rPr>
              <a:t>East Falls Church</a:t>
            </a:r>
          </a:p>
        </p:txBody>
      </p:sp>
      <p:sp>
        <p:nvSpPr>
          <p:cNvPr id="25" name="R1C1"/>
          <p:cNvSpPr txBox="1"/>
          <p:nvPr/>
        </p:nvSpPr>
        <p:spPr>
          <a:xfrm>
            <a:off x="3162300" y="1549400"/>
            <a:ext cx="2032000" cy="406400"/>
          </a:xfrm>
          <a:prstGeom prst="rect">
            <a:avLst/>
          </a:prstGeom>
          <a:solidFill>
            <a:srgbClr val="F4F6F9"/>
          </a:solidFill>
          <a:ln>
            <a:noFill/>
          </a:ln>
        </p:spPr>
        <p:txBody>
          <a:bodyPr lIns="91440" rIns="91440" anchor="ctr"/>
          <a:lstStyle/>
          <a:p>
            <a:pPr algn="ctr">
              <a:buNone/>
            </a:pPr>
            <a:r>
              <a:rPr lang="en-US" sz="1400" b="1" dirty="0">
                <a:solidFill>
                  <a:srgbClr val="1A7A6B"/>
                </a:solidFill>
                <a:latin typeface="Calibri"/>
              </a:rPr>
              <a:t>$533M</a:t>
            </a:r>
          </a:p>
        </p:txBody>
      </p:sp>
      <p:sp>
        <p:nvSpPr>
          <p:cNvPr id="26" name="R1C2"/>
          <p:cNvSpPr txBox="1"/>
          <p:nvPr/>
        </p:nvSpPr>
        <p:spPr>
          <a:xfrm>
            <a:off x="5194300" y="1549400"/>
            <a:ext cx="2032000" cy="406400"/>
          </a:xfrm>
          <a:prstGeom prst="rect">
            <a:avLst/>
          </a:prstGeom>
          <a:solidFill>
            <a:srgbClr val="F4F6F9"/>
          </a:solidFill>
          <a:ln>
            <a:noFill/>
          </a:ln>
        </p:spPr>
        <p:txBody>
          <a:bodyPr lIns="91440" rIns="91440" anchor="ctr"/>
          <a:lstStyle/>
          <a:p>
            <a:pPr algn="ctr">
              <a:buNone/>
            </a:pPr>
            <a:r>
              <a:rPr lang="en-US" sz="1400" dirty="0">
                <a:solidFill>
                  <a:srgbClr val="333333"/>
                </a:solidFill>
                <a:latin typeface="Calibri"/>
              </a:rPr>
              <a:t>$391M</a:t>
            </a:r>
          </a:p>
        </p:txBody>
      </p:sp>
      <p:sp>
        <p:nvSpPr>
          <p:cNvPr id="27" name="R1C3"/>
          <p:cNvSpPr txBox="1"/>
          <p:nvPr/>
        </p:nvSpPr>
        <p:spPr>
          <a:xfrm>
            <a:off x="7226300" y="1549400"/>
            <a:ext cx="1803400" cy="406400"/>
          </a:xfrm>
          <a:prstGeom prst="rect">
            <a:avLst/>
          </a:prstGeom>
          <a:solidFill>
            <a:srgbClr val="F4F6F9"/>
          </a:solidFill>
          <a:ln>
            <a:noFill/>
          </a:ln>
        </p:spPr>
        <p:txBody>
          <a:bodyPr lIns="91440" rIns="91440" anchor="ctr"/>
          <a:lstStyle/>
          <a:p>
            <a:pPr algn="ctr">
              <a:buNone/>
            </a:pPr>
            <a:r>
              <a:rPr lang="en-US" sz="1400" dirty="0">
                <a:solidFill>
                  <a:srgbClr val="333333"/>
                </a:solidFill>
                <a:latin typeface="Calibri"/>
              </a:rPr>
              <a:t>871</a:t>
            </a:r>
          </a:p>
        </p:txBody>
      </p:sp>
      <p:sp>
        <p:nvSpPr>
          <p:cNvPr id="28" name="R2C0"/>
          <p:cNvSpPr txBox="1"/>
          <p:nvPr/>
        </p:nvSpPr>
        <p:spPr>
          <a:xfrm>
            <a:off x="368300" y="1955800"/>
            <a:ext cx="2794000" cy="406400"/>
          </a:xfrm>
          <a:prstGeom prst="rect">
            <a:avLst/>
          </a:prstGeom>
          <a:solidFill>
            <a:srgbClr val="FFFFFF"/>
          </a:solidFill>
          <a:ln>
            <a:noFill/>
          </a:ln>
        </p:spPr>
        <p:txBody>
          <a:bodyPr lIns="91440" rIns="91440" anchor="ctr"/>
          <a:lstStyle/>
          <a:p>
            <a:pPr algn="l">
              <a:buNone/>
            </a:pPr>
            <a:r>
              <a:rPr lang="en-US" sz="1400" b="1" dirty="0">
                <a:solidFill>
                  <a:srgbClr val="1B3A5C"/>
                </a:solidFill>
                <a:latin typeface="Calibri"/>
              </a:rPr>
              <a:t>Rock Spring</a:t>
            </a:r>
          </a:p>
        </p:txBody>
      </p:sp>
      <p:sp>
        <p:nvSpPr>
          <p:cNvPr id="29" name="R2C1"/>
          <p:cNvSpPr txBox="1"/>
          <p:nvPr/>
        </p:nvSpPr>
        <p:spPr>
          <a:xfrm>
            <a:off x="3162300" y="1955800"/>
            <a:ext cx="2032000" cy="406400"/>
          </a:xfrm>
          <a:prstGeom prst="rect">
            <a:avLst/>
          </a:prstGeom>
          <a:solidFill>
            <a:srgbClr val="FFFFFF"/>
          </a:solidFill>
          <a:ln>
            <a:noFill/>
          </a:ln>
        </p:spPr>
        <p:txBody>
          <a:bodyPr lIns="91440" rIns="91440" anchor="ctr"/>
          <a:lstStyle/>
          <a:p>
            <a:pPr algn="ctr">
              <a:buNone/>
            </a:pPr>
            <a:r>
              <a:rPr lang="en-US" sz="1400" b="1" dirty="0">
                <a:solidFill>
                  <a:srgbClr val="1A7A6B"/>
                </a:solidFill>
                <a:latin typeface="Calibri"/>
              </a:rPr>
              <a:t>$407M</a:t>
            </a:r>
          </a:p>
        </p:txBody>
      </p:sp>
      <p:sp>
        <p:nvSpPr>
          <p:cNvPr id="30" name="R2C2"/>
          <p:cNvSpPr txBox="1"/>
          <p:nvPr/>
        </p:nvSpPr>
        <p:spPr>
          <a:xfrm>
            <a:off x="5194300" y="1955800"/>
            <a:ext cx="2032000" cy="406400"/>
          </a:xfrm>
          <a:prstGeom prst="rect">
            <a:avLst/>
          </a:prstGeom>
          <a:solidFill>
            <a:srgbClr val="FFFFFF"/>
          </a:solidFill>
          <a:ln>
            <a:noFill/>
          </a:ln>
        </p:spPr>
        <p:txBody>
          <a:bodyPr lIns="91440" rIns="91440" anchor="ctr"/>
          <a:lstStyle/>
          <a:p>
            <a:pPr algn="ctr">
              <a:buNone/>
            </a:pPr>
            <a:r>
              <a:rPr lang="en-US" sz="1400" dirty="0">
                <a:solidFill>
                  <a:srgbClr val="333333"/>
                </a:solidFill>
                <a:latin typeface="Calibri"/>
              </a:rPr>
              <a:t>$299M</a:t>
            </a:r>
          </a:p>
        </p:txBody>
      </p:sp>
      <p:sp>
        <p:nvSpPr>
          <p:cNvPr id="31" name="R2C3"/>
          <p:cNvSpPr txBox="1"/>
          <p:nvPr/>
        </p:nvSpPr>
        <p:spPr>
          <a:xfrm>
            <a:off x="7226300" y="1955800"/>
            <a:ext cx="1803400" cy="406400"/>
          </a:xfrm>
          <a:prstGeom prst="rect">
            <a:avLst/>
          </a:prstGeom>
          <a:solidFill>
            <a:srgbClr val="FFFFFF"/>
          </a:solidFill>
          <a:ln>
            <a:noFill/>
          </a:ln>
        </p:spPr>
        <p:txBody>
          <a:bodyPr lIns="91440" rIns="91440" anchor="ctr"/>
          <a:lstStyle/>
          <a:p>
            <a:pPr algn="ctr">
              <a:buNone/>
            </a:pPr>
            <a:r>
              <a:rPr lang="en-US" sz="1400" dirty="0">
                <a:solidFill>
                  <a:srgbClr val="333333"/>
                </a:solidFill>
                <a:latin typeface="Calibri"/>
              </a:rPr>
              <a:t>762</a:t>
            </a:r>
          </a:p>
        </p:txBody>
      </p:sp>
      <p:sp>
        <p:nvSpPr>
          <p:cNvPr id="32" name="R3C0"/>
          <p:cNvSpPr txBox="1"/>
          <p:nvPr/>
        </p:nvSpPr>
        <p:spPr>
          <a:xfrm>
            <a:off x="368300" y="2362200"/>
            <a:ext cx="2794000" cy="406400"/>
          </a:xfrm>
          <a:prstGeom prst="rect">
            <a:avLst/>
          </a:prstGeom>
          <a:solidFill>
            <a:srgbClr val="F4F6F9"/>
          </a:solidFill>
          <a:ln>
            <a:noFill/>
          </a:ln>
        </p:spPr>
        <p:txBody>
          <a:bodyPr lIns="91440" rIns="91440" anchor="ctr"/>
          <a:lstStyle/>
          <a:p>
            <a:pPr algn="l">
              <a:buNone/>
            </a:pPr>
            <a:r>
              <a:rPr lang="en-US" sz="1400" b="1" dirty="0">
                <a:solidFill>
                  <a:srgbClr val="1B3A5C"/>
                </a:solidFill>
                <a:latin typeface="Calibri"/>
              </a:rPr>
              <a:t>Yorktown</a:t>
            </a:r>
          </a:p>
        </p:txBody>
      </p:sp>
      <p:sp>
        <p:nvSpPr>
          <p:cNvPr id="33" name="R3C1"/>
          <p:cNvSpPr txBox="1"/>
          <p:nvPr/>
        </p:nvSpPr>
        <p:spPr>
          <a:xfrm>
            <a:off x="3162300" y="2362200"/>
            <a:ext cx="2032000" cy="406400"/>
          </a:xfrm>
          <a:prstGeom prst="rect">
            <a:avLst/>
          </a:prstGeom>
          <a:solidFill>
            <a:srgbClr val="F4F6F9"/>
          </a:solidFill>
          <a:ln>
            <a:noFill/>
          </a:ln>
        </p:spPr>
        <p:txBody>
          <a:bodyPr lIns="91440" rIns="91440" anchor="ctr"/>
          <a:lstStyle/>
          <a:p>
            <a:pPr algn="ctr">
              <a:buNone/>
            </a:pPr>
            <a:r>
              <a:rPr lang="en-US" sz="1400" b="1" dirty="0">
                <a:solidFill>
                  <a:srgbClr val="1A7A6B"/>
                </a:solidFill>
                <a:latin typeface="Calibri"/>
              </a:rPr>
              <a:t>$392M</a:t>
            </a:r>
          </a:p>
        </p:txBody>
      </p:sp>
      <p:sp>
        <p:nvSpPr>
          <p:cNvPr id="34" name="R3C2"/>
          <p:cNvSpPr txBox="1"/>
          <p:nvPr/>
        </p:nvSpPr>
        <p:spPr>
          <a:xfrm>
            <a:off x="5194300" y="2362200"/>
            <a:ext cx="2032000" cy="406400"/>
          </a:xfrm>
          <a:prstGeom prst="rect">
            <a:avLst/>
          </a:prstGeom>
          <a:solidFill>
            <a:srgbClr val="F4F6F9"/>
          </a:solidFill>
          <a:ln>
            <a:noFill/>
          </a:ln>
        </p:spPr>
        <p:txBody>
          <a:bodyPr lIns="91440" rIns="91440" anchor="ctr"/>
          <a:lstStyle/>
          <a:p>
            <a:pPr algn="ctr">
              <a:buNone/>
            </a:pPr>
            <a:r>
              <a:rPr lang="en-US" sz="1400" dirty="0">
                <a:solidFill>
                  <a:srgbClr val="333333"/>
                </a:solidFill>
                <a:latin typeface="Calibri"/>
              </a:rPr>
              <a:t>$288M</a:t>
            </a:r>
          </a:p>
        </p:txBody>
      </p:sp>
      <p:sp>
        <p:nvSpPr>
          <p:cNvPr id="35" name="R3C3"/>
          <p:cNvSpPr txBox="1"/>
          <p:nvPr/>
        </p:nvSpPr>
        <p:spPr>
          <a:xfrm>
            <a:off x="7226300" y="2362200"/>
            <a:ext cx="1803400" cy="406400"/>
          </a:xfrm>
          <a:prstGeom prst="rect">
            <a:avLst/>
          </a:prstGeom>
          <a:solidFill>
            <a:srgbClr val="F4F6F9"/>
          </a:solidFill>
          <a:ln>
            <a:noFill/>
          </a:ln>
        </p:spPr>
        <p:txBody>
          <a:bodyPr lIns="91440" rIns="91440" anchor="ctr"/>
          <a:lstStyle/>
          <a:p>
            <a:pPr algn="ctr">
              <a:buNone/>
            </a:pPr>
            <a:r>
              <a:rPr lang="en-US" sz="1400" dirty="0">
                <a:solidFill>
                  <a:srgbClr val="333333"/>
                </a:solidFill>
                <a:latin typeface="Calibri"/>
              </a:rPr>
              <a:t>813</a:t>
            </a:r>
          </a:p>
        </p:txBody>
      </p:sp>
      <p:sp>
        <p:nvSpPr>
          <p:cNvPr id="36" name="R4C0"/>
          <p:cNvSpPr txBox="1"/>
          <p:nvPr/>
        </p:nvSpPr>
        <p:spPr>
          <a:xfrm>
            <a:off x="368300" y="2768600"/>
            <a:ext cx="2794000" cy="406400"/>
          </a:xfrm>
          <a:prstGeom prst="rect">
            <a:avLst/>
          </a:prstGeom>
          <a:solidFill>
            <a:srgbClr val="FFFFFF"/>
          </a:solidFill>
          <a:ln>
            <a:noFill/>
          </a:ln>
        </p:spPr>
        <p:txBody>
          <a:bodyPr lIns="91440" rIns="91440" anchor="ctr"/>
          <a:lstStyle/>
          <a:p>
            <a:pPr algn="l">
              <a:buNone/>
            </a:pPr>
            <a:r>
              <a:rPr lang="en-US" sz="1400" b="1" dirty="0">
                <a:solidFill>
                  <a:srgbClr val="1B3A5C"/>
                </a:solidFill>
                <a:latin typeface="Calibri"/>
              </a:rPr>
              <a:t>Williamsburg</a:t>
            </a:r>
          </a:p>
        </p:txBody>
      </p:sp>
      <p:sp>
        <p:nvSpPr>
          <p:cNvPr id="37" name="R4C1"/>
          <p:cNvSpPr txBox="1"/>
          <p:nvPr/>
        </p:nvSpPr>
        <p:spPr>
          <a:xfrm>
            <a:off x="3162300" y="2768600"/>
            <a:ext cx="2032000" cy="406400"/>
          </a:xfrm>
          <a:prstGeom prst="rect">
            <a:avLst/>
          </a:prstGeom>
          <a:solidFill>
            <a:srgbClr val="FFFFFF"/>
          </a:solidFill>
          <a:ln>
            <a:noFill/>
          </a:ln>
        </p:spPr>
        <p:txBody>
          <a:bodyPr lIns="91440" rIns="91440" anchor="ctr"/>
          <a:lstStyle/>
          <a:p>
            <a:pPr algn="ctr">
              <a:buNone/>
            </a:pPr>
            <a:r>
              <a:rPr lang="en-US" sz="1400" b="1" dirty="0">
                <a:solidFill>
                  <a:srgbClr val="1A7A6B"/>
                </a:solidFill>
                <a:latin typeface="Calibri"/>
              </a:rPr>
              <a:t>$354M</a:t>
            </a:r>
          </a:p>
        </p:txBody>
      </p:sp>
      <p:sp>
        <p:nvSpPr>
          <p:cNvPr id="38" name="R4C2"/>
          <p:cNvSpPr txBox="1"/>
          <p:nvPr/>
        </p:nvSpPr>
        <p:spPr>
          <a:xfrm>
            <a:off x="5194300" y="2768600"/>
            <a:ext cx="2032000" cy="406400"/>
          </a:xfrm>
          <a:prstGeom prst="rect">
            <a:avLst/>
          </a:prstGeom>
          <a:solidFill>
            <a:srgbClr val="FFFFFF"/>
          </a:solidFill>
          <a:ln>
            <a:noFill/>
          </a:ln>
        </p:spPr>
        <p:txBody>
          <a:bodyPr lIns="91440" rIns="91440" anchor="ctr"/>
          <a:lstStyle/>
          <a:p>
            <a:pPr algn="ctr">
              <a:buNone/>
            </a:pPr>
            <a:r>
              <a:rPr lang="en-US" sz="1400" dirty="0">
                <a:solidFill>
                  <a:srgbClr val="333333"/>
                </a:solidFill>
                <a:latin typeface="Calibri"/>
              </a:rPr>
              <a:t>$260M</a:t>
            </a:r>
          </a:p>
        </p:txBody>
      </p:sp>
      <p:sp>
        <p:nvSpPr>
          <p:cNvPr id="39" name="R4C3"/>
          <p:cNvSpPr txBox="1"/>
          <p:nvPr/>
        </p:nvSpPr>
        <p:spPr>
          <a:xfrm>
            <a:off x="7226300" y="2768600"/>
            <a:ext cx="1803400" cy="406400"/>
          </a:xfrm>
          <a:prstGeom prst="rect">
            <a:avLst/>
          </a:prstGeom>
          <a:solidFill>
            <a:srgbClr val="FFFFFF"/>
          </a:solidFill>
          <a:ln>
            <a:noFill/>
          </a:ln>
        </p:spPr>
        <p:txBody>
          <a:bodyPr lIns="91440" rIns="91440" anchor="ctr"/>
          <a:lstStyle/>
          <a:p>
            <a:pPr algn="ctr">
              <a:buNone/>
            </a:pPr>
            <a:r>
              <a:rPr lang="en-US" sz="1400" dirty="0">
                <a:solidFill>
                  <a:srgbClr val="333333"/>
                </a:solidFill>
                <a:latin typeface="Calibri"/>
              </a:rPr>
              <a:t>698</a:t>
            </a:r>
          </a:p>
        </p:txBody>
      </p:sp>
      <p:sp>
        <p:nvSpPr>
          <p:cNvPr id="40" name="R5C0"/>
          <p:cNvSpPr txBox="1"/>
          <p:nvPr/>
        </p:nvSpPr>
        <p:spPr>
          <a:xfrm>
            <a:off x="368300" y="3175000"/>
            <a:ext cx="2794000" cy="406400"/>
          </a:xfrm>
          <a:prstGeom prst="rect">
            <a:avLst/>
          </a:prstGeom>
          <a:solidFill>
            <a:srgbClr val="F4F6F9"/>
          </a:solidFill>
          <a:ln>
            <a:noFill/>
          </a:ln>
        </p:spPr>
        <p:txBody>
          <a:bodyPr lIns="91440" rIns="91440" anchor="ctr"/>
          <a:lstStyle/>
          <a:p>
            <a:pPr algn="l">
              <a:buNone/>
            </a:pPr>
            <a:r>
              <a:rPr lang="en-US" sz="1400" b="1" dirty="0">
                <a:solidFill>
                  <a:srgbClr val="1B3A5C"/>
                </a:solidFill>
                <a:latin typeface="Calibri"/>
              </a:rPr>
              <a:t>Waverly Hills</a:t>
            </a:r>
          </a:p>
        </p:txBody>
      </p:sp>
      <p:sp>
        <p:nvSpPr>
          <p:cNvPr id="41" name="R5C1"/>
          <p:cNvSpPr txBox="1"/>
          <p:nvPr/>
        </p:nvSpPr>
        <p:spPr>
          <a:xfrm>
            <a:off x="3162300" y="3175000"/>
            <a:ext cx="2032000" cy="406400"/>
          </a:xfrm>
          <a:prstGeom prst="rect">
            <a:avLst/>
          </a:prstGeom>
          <a:solidFill>
            <a:srgbClr val="F4F6F9"/>
          </a:solidFill>
          <a:ln>
            <a:noFill/>
          </a:ln>
        </p:spPr>
        <p:txBody>
          <a:bodyPr lIns="91440" rIns="91440" anchor="ctr"/>
          <a:lstStyle/>
          <a:p>
            <a:pPr algn="ctr">
              <a:buNone/>
            </a:pPr>
            <a:r>
              <a:rPr lang="en-US" sz="1400" b="1" dirty="0">
                <a:solidFill>
                  <a:srgbClr val="1A7A6B"/>
                </a:solidFill>
                <a:latin typeface="Calibri"/>
              </a:rPr>
              <a:t>$325M</a:t>
            </a:r>
          </a:p>
        </p:txBody>
      </p:sp>
      <p:sp>
        <p:nvSpPr>
          <p:cNvPr id="42" name="R5C2"/>
          <p:cNvSpPr txBox="1"/>
          <p:nvPr/>
        </p:nvSpPr>
        <p:spPr>
          <a:xfrm>
            <a:off x="5194300" y="3175000"/>
            <a:ext cx="2032000" cy="406400"/>
          </a:xfrm>
          <a:prstGeom prst="rect">
            <a:avLst/>
          </a:prstGeom>
          <a:solidFill>
            <a:srgbClr val="F4F6F9"/>
          </a:solidFill>
          <a:ln>
            <a:noFill/>
          </a:ln>
        </p:spPr>
        <p:txBody>
          <a:bodyPr lIns="91440" rIns="91440" anchor="ctr"/>
          <a:lstStyle/>
          <a:p>
            <a:pPr algn="ctr">
              <a:buNone/>
            </a:pPr>
            <a:r>
              <a:rPr lang="en-US" sz="1400" dirty="0">
                <a:solidFill>
                  <a:srgbClr val="333333"/>
                </a:solidFill>
                <a:latin typeface="Calibri"/>
              </a:rPr>
              <a:t>$239M</a:t>
            </a:r>
          </a:p>
        </p:txBody>
      </p:sp>
      <p:sp>
        <p:nvSpPr>
          <p:cNvPr id="43" name="R5C3"/>
          <p:cNvSpPr txBox="1"/>
          <p:nvPr/>
        </p:nvSpPr>
        <p:spPr>
          <a:xfrm>
            <a:off x="7226300" y="3175000"/>
            <a:ext cx="1803400" cy="406400"/>
          </a:xfrm>
          <a:prstGeom prst="rect">
            <a:avLst/>
          </a:prstGeom>
          <a:solidFill>
            <a:srgbClr val="F4F6F9"/>
          </a:solidFill>
          <a:ln>
            <a:noFill/>
          </a:ln>
        </p:spPr>
        <p:txBody>
          <a:bodyPr lIns="91440" rIns="91440" anchor="ctr"/>
          <a:lstStyle/>
          <a:p>
            <a:pPr algn="ctr">
              <a:buNone/>
            </a:pPr>
            <a:r>
              <a:rPr lang="en-US" sz="1400" dirty="0">
                <a:solidFill>
                  <a:srgbClr val="333333"/>
                </a:solidFill>
                <a:latin typeface="Calibri"/>
              </a:rPr>
              <a:t>641</a:t>
            </a:r>
          </a:p>
        </p:txBody>
      </p:sp>
      <p:sp>
        <p:nvSpPr>
          <p:cNvPr id="44" name="R6C0"/>
          <p:cNvSpPr txBox="1"/>
          <p:nvPr/>
        </p:nvSpPr>
        <p:spPr>
          <a:xfrm>
            <a:off x="368300" y="3581400"/>
            <a:ext cx="2794000" cy="406400"/>
          </a:xfrm>
          <a:prstGeom prst="rect">
            <a:avLst/>
          </a:prstGeom>
          <a:solidFill>
            <a:srgbClr val="FFFFFF"/>
          </a:solidFill>
          <a:ln>
            <a:noFill/>
          </a:ln>
        </p:spPr>
        <p:txBody>
          <a:bodyPr lIns="91440" rIns="91440" anchor="ctr"/>
          <a:lstStyle/>
          <a:p>
            <a:pPr algn="l">
              <a:buNone/>
            </a:pPr>
            <a:r>
              <a:rPr lang="en-US" sz="1400" b="1" dirty="0">
                <a:solidFill>
                  <a:srgbClr val="1B3A5C"/>
                </a:solidFill>
                <a:latin typeface="Calibri"/>
              </a:rPr>
              <a:t>Tara-Leeway Heights</a:t>
            </a:r>
          </a:p>
        </p:txBody>
      </p:sp>
      <p:sp>
        <p:nvSpPr>
          <p:cNvPr id="45" name="R6C1"/>
          <p:cNvSpPr txBox="1"/>
          <p:nvPr/>
        </p:nvSpPr>
        <p:spPr>
          <a:xfrm>
            <a:off x="3162300" y="3581400"/>
            <a:ext cx="2032000" cy="406400"/>
          </a:xfrm>
          <a:prstGeom prst="rect">
            <a:avLst/>
          </a:prstGeom>
          <a:solidFill>
            <a:srgbClr val="FFFFFF"/>
          </a:solidFill>
          <a:ln>
            <a:noFill/>
          </a:ln>
        </p:spPr>
        <p:txBody>
          <a:bodyPr lIns="91440" rIns="91440" anchor="ctr"/>
          <a:lstStyle/>
          <a:p>
            <a:pPr algn="ctr">
              <a:buNone/>
            </a:pPr>
            <a:r>
              <a:rPr lang="en-US" sz="1400" b="1" dirty="0">
                <a:solidFill>
                  <a:srgbClr val="1A7A6B"/>
                </a:solidFill>
                <a:latin typeface="Calibri"/>
              </a:rPr>
              <a:t>$307M</a:t>
            </a:r>
          </a:p>
        </p:txBody>
      </p:sp>
      <p:sp>
        <p:nvSpPr>
          <p:cNvPr id="46" name="R6C2"/>
          <p:cNvSpPr txBox="1"/>
          <p:nvPr/>
        </p:nvSpPr>
        <p:spPr>
          <a:xfrm>
            <a:off x="5194300" y="3581400"/>
            <a:ext cx="2032000" cy="406400"/>
          </a:xfrm>
          <a:prstGeom prst="rect">
            <a:avLst/>
          </a:prstGeom>
          <a:solidFill>
            <a:srgbClr val="FFFFFF"/>
          </a:solidFill>
          <a:ln>
            <a:noFill/>
          </a:ln>
        </p:spPr>
        <p:txBody>
          <a:bodyPr lIns="91440" rIns="91440" anchor="ctr"/>
          <a:lstStyle/>
          <a:p>
            <a:pPr algn="ctr">
              <a:buNone/>
            </a:pPr>
            <a:r>
              <a:rPr lang="en-US" sz="1400" dirty="0">
                <a:solidFill>
                  <a:srgbClr val="333333"/>
                </a:solidFill>
                <a:latin typeface="Calibri"/>
              </a:rPr>
              <a:t>$225M</a:t>
            </a:r>
          </a:p>
        </p:txBody>
      </p:sp>
      <p:sp>
        <p:nvSpPr>
          <p:cNvPr id="47" name="R6C3"/>
          <p:cNvSpPr txBox="1"/>
          <p:nvPr/>
        </p:nvSpPr>
        <p:spPr>
          <a:xfrm>
            <a:off x="7226300" y="3581400"/>
            <a:ext cx="1803400" cy="406400"/>
          </a:xfrm>
          <a:prstGeom prst="rect">
            <a:avLst/>
          </a:prstGeom>
          <a:solidFill>
            <a:srgbClr val="FFFFFF"/>
          </a:solidFill>
          <a:ln>
            <a:noFill/>
          </a:ln>
        </p:spPr>
        <p:txBody>
          <a:bodyPr lIns="91440" rIns="91440" anchor="ctr"/>
          <a:lstStyle/>
          <a:p>
            <a:pPr algn="ctr">
              <a:buNone/>
            </a:pPr>
            <a:r>
              <a:rPr lang="en-US" sz="1400" dirty="0">
                <a:solidFill>
                  <a:srgbClr val="333333"/>
                </a:solidFill>
                <a:latin typeface="Calibri"/>
              </a:rPr>
              <a:t>574</a:t>
            </a:r>
          </a:p>
        </p:txBody>
      </p:sp>
      <p:sp>
        <p:nvSpPr>
          <p:cNvPr id="48" name="R7C0"/>
          <p:cNvSpPr txBox="1"/>
          <p:nvPr/>
        </p:nvSpPr>
        <p:spPr>
          <a:xfrm>
            <a:off x="368300" y="3987800"/>
            <a:ext cx="2794000" cy="406400"/>
          </a:xfrm>
          <a:prstGeom prst="rect">
            <a:avLst/>
          </a:prstGeom>
          <a:solidFill>
            <a:srgbClr val="F4F6F9"/>
          </a:solidFill>
          <a:ln>
            <a:noFill/>
          </a:ln>
        </p:spPr>
        <p:txBody>
          <a:bodyPr lIns="91440" rIns="91440" anchor="ctr"/>
          <a:lstStyle/>
          <a:p>
            <a:pPr algn="l">
              <a:buNone/>
            </a:pPr>
            <a:r>
              <a:rPr lang="en-US" sz="1400" b="1" dirty="0">
                <a:solidFill>
                  <a:srgbClr val="1B3A5C"/>
                </a:solidFill>
                <a:latin typeface="Calibri"/>
              </a:rPr>
              <a:t>Bellevue Forest</a:t>
            </a:r>
          </a:p>
        </p:txBody>
      </p:sp>
      <p:sp>
        <p:nvSpPr>
          <p:cNvPr id="49" name="R7C1"/>
          <p:cNvSpPr txBox="1"/>
          <p:nvPr/>
        </p:nvSpPr>
        <p:spPr>
          <a:xfrm>
            <a:off x="3162300" y="3987800"/>
            <a:ext cx="2032000" cy="406400"/>
          </a:xfrm>
          <a:prstGeom prst="rect">
            <a:avLst/>
          </a:prstGeom>
          <a:solidFill>
            <a:srgbClr val="F4F6F9"/>
          </a:solidFill>
          <a:ln>
            <a:noFill/>
          </a:ln>
        </p:spPr>
        <p:txBody>
          <a:bodyPr lIns="91440" rIns="91440" anchor="ctr"/>
          <a:lstStyle/>
          <a:p>
            <a:pPr algn="ctr">
              <a:buNone/>
            </a:pPr>
            <a:r>
              <a:rPr lang="en-US" sz="1400" b="1" dirty="0">
                <a:solidFill>
                  <a:srgbClr val="1A7A6B"/>
                </a:solidFill>
                <a:latin typeface="Calibri"/>
              </a:rPr>
              <a:t>$291M</a:t>
            </a:r>
          </a:p>
        </p:txBody>
      </p:sp>
      <p:sp>
        <p:nvSpPr>
          <p:cNvPr id="50" name="R7C2"/>
          <p:cNvSpPr txBox="1"/>
          <p:nvPr/>
        </p:nvSpPr>
        <p:spPr>
          <a:xfrm>
            <a:off x="5194300" y="3987800"/>
            <a:ext cx="2032000" cy="406400"/>
          </a:xfrm>
          <a:prstGeom prst="rect">
            <a:avLst/>
          </a:prstGeom>
          <a:solidFill>
            <a:srgbClr val="F4F6F9"/>
          </a:solidFill>
          <a:ln>
            <a:noFill/>
          </a:ln>
        </p:spPr>
        <p:txBody>
          <a:bodyPr lIns="91440" rIns="91440" anchor="ctr"/>
          <a:lstStyle/>
          <a:p>
            <a:pPr algn="ctr">
              <a:buNone/>
            </a:pPr>
            <a:r>
              <a:rPr lang="en-US" sz="1400" dirty="0">
                <a:solidFill>
                  <a:srgbClr val="333333"/>
                </a:solidFill>
                <a:latin typeface="Calibri"/>
              </a:rPr>
              <a:t>$214M</a:t>
            </a:r>
          </a:p>
        </p:txBody>
      </p:sp>
      <p:sp>
        <p:nvSpPr>
          <p:cNvPr id="51" name="R7C3"/>
          <p:cNvSpPr txBox="1"/>
          <p:nvPr/>
        </p:nvSpPr>
        <p:spPr>
          <a:xfrm>
            <a:off x="7226300" y="3987800"/>
            <a:ext cx="1803400" cy="406400"/>
          </a:xfrm>
          <a:prstGeom prst="rect">
            <a:avLst/>
          </a:prstGeom>
          <a:solidFill>
            <a:srgbClr val="F4F6F9"/>
          </a:solidFill>
          <a:ln>
            <a:noFill/>
          </a:ln>
        </p:spPr>
        <p:txBody>
          <a:bodyPr lIns="91440" rIns="91440" anchor="ctr"/>
          <a:lstStyle/>
          <a:p>
            <a:pPr algn="ctr">
              <a:buNone/>
            </a:pPr>
            <a:r>
              <a:rPr lang="en-US" sz="1400" dirty="0">
                <a:solidFill>
                  <a:srgbClr val="333333"/>
                </a:solidFill>
                <a:latin typeface="Calibri"/>
              </a:rPr>
              <a:t>498</a:t>
            </a:r>
          </a:p>
        </p:txBody>
      </p:sp>
      <p:sp>
        <p:nvSpPr>
          <p:cNvPr id="120" name="Callout"/>
          <p:cNvSpPr txBox="1"/>
          <p:nvPr/>
        </p:nvSpPr>
        <p:spPr>
          <a:xfrm>
            <a:off x="368300" y="4394200"/>
            <a:ext cx="8407400" cy="581660"/>
          </a:xfrm>
          <a:prstGeom prst="rect">
            <a:avLst/>
          </a:prstGeom>
          <a:solidFill>
            <a:srgbClr val="FDF5EE"/>
          </a:solidFill>
          <a:ln>
            <a:noFill/>
          </a:ln>
        </p:spPr>
        <p:txBody>
          <a:bodyPr wrap="square" lIns="91440" tIns="45720" rIns="91440" bIns="45720" anchor="ctr"/>
          <a:lstStyle/>
          <a:p>
            <a:pPr marL="0" indent="0">
              <a:buNone/>
            </a:pPr>
            <a:r>
              <a:rPr lang="en-US" sz="1300" b="1" dirty="0">
                <a:solidFill>
                  <a:srgbClr val="C8792A"/>
                </a:solidFill>
                <a:latin typeface="Calibri"/>
              </a:rPr>
              <a:t>Typical per-parcel range: $150K–$475K  </a:t>
            </a:r>
            <a:r>
              <a:rPr lang="en-US" sz="1300" i="1" dirty="0">
                <a:solidFill>
                  <a:srgbClr val="666666"/>
                </a:solidFill>
                <a:latin typeface="Calibri"/>
              </a:rPr>
              <a:t>High estimate uses 0.75 discount factor; low uses 0.55. Values reflect unused rights only, not full parcel market value.</a:t>
            </a:r>
          </a:p>
        </p:txBody>
      </p:sp>
    </p:spTree>
    <p:extLst>
      <p:ext uri="{BB962C8B-B14F-4D97-AF65-F5344CB8AC3E}">
        <p14:creationId xmlns:p14="http://schemas.microsoft.com/office/powerpoint/2010/main" val="1960069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
          <p:cNvSpPr/>
          <p:nvPr/>
        </p:nvSpPr>
        <p:spPr>
          <a:xfrm>
            <a:off x="0" y="0"/>
            <a:ext cx="9144000" cy="635000"/>
          </a:xfrm>
          <a:prstGeom prst="rect">
            <a:avLst/>
          </a:prstGeom>
          <a:solidFill>
            <a:srgbClr val="1B3A5C"/>
          </a:solidFill>
          <a:ln>
            <a:noFill/>
          </a:ln>
        </p:spPr>
        <p:txBody>
          <a:bodyPr/>
          <a:lstStyle/>
          <a:p>
            <a:endParaRPr/>
          </a:p>
        </p:txBody>
      </p:sp>
      <p:sp>
        <p:nvSpPr>
          <p:cNvPr id="3" name="Title"/>
          <p:cNvSpPr txBox="1"/>
          <p:nvPr/>
        </p:nvSpPr>
        <p:spPr>
          <a:xfrm>
            <a:off x="368300" y="63500"/>
            <a:ext cx="8407400" cy="508000"/>
          </a:xfrm>
          <a:prstGeom prst="rect">
            <a:avLst/>
          </a:prstGeom>
          <a:noFill/>
          <a:ln>
            <a:noFill/>
          </a:ln>
        </p:spPr>
        <p:txBody>
          <a:bodyPr wrap="square" lIns="0" tIns="0" rIns="0" bIns="0" anchor="ctr"/>
          <a:lstStyle/>
          <a:p>
            <a:pPr marL="0" indent="0">
              <a:buNone/>
            </a:pPr>
            <a:r>
              <a:rPr lang="en-US" sz="2400" b="1" dirty="0">
                <a:solidFill>
                  <a:srgbClr val="FFFFFF"/>
                </a:solidFill>
                <a:latin typeface="Georgia" pitchFamily="34" charset="0"/>
              </a:rPr>
              <a:t>Development Status Distribution</a:t>
            </a:r>
          </a:p>
        </p:txBody>
      </p:sp>
      <p:sp>
        <p:nvSpPr>
          <p:cNvPr id="4" name="LHdr"/>
          <p:cNvSpPr txBox="1"/>
          <p:nvPr/>
        </p:nvSpPr>
        <p:spPr>
          <a:xfrm>
            <a:off x="368300" y="957580"/>
            <a:ext cx="4572000" cy="330200"/>
          </a:xfrm>
          <a:prstGeom prst="rect">
            <a:avLst/>
          </a:prstGeom>
          <a:solidFill>
            <a:srgbClr val="1B3A5C"/>
          </a:solidFill>
          <a:ln>
            <a:noFill/>
          </a:ln>
        </p:spPr>
        <p:txBody>
          <a:bodyPr anchor="ctr"/>
          <a:lstStyle/>
          <a:p>
            <a:pPr algn="ctr">
              <a:buNone/>
            </a:pPr>
            <a:r>
              <a:rPr lang="en-US" sz="1300" b="1" dirty="0">
                <a:solidFill>
                  <a:srgbClr val="FFFFFF"/>
                </a:solidFill>
                <a:latin typeface="Calibri"/>
              </a:rPr>
              <a:t>County-Wide Breakdown (22,565 parcels)</a:t>
            </a:r>
          </a:p>
        </p:txBody>
      </p:sp>
      <p:sp>
        <p:nvSpPr>
          <p:cNvPr id="10" name="CWH0"/>
          <p:cNvSpPr txBox="1"/>
          <p:nvPr/>
        </p:nvSpPr>
        <p:spPr>
          <a:xfrm>
            <a:off x="368300" y="1287780"/>
            <a:ext cx="1333500" cy="406400"/>
          </a:xfrm>
          <a:prstGeom prst="rect">
            <a:avLst/>
          </a:prstGeom>
          <a:solidFill>
            <a:srgbClr val="1A7A6B"/>
          </a:solidFill>
          <a:ln>
            <a:noFill/>
          </a:ln>
        </p:spPr>
        <p:txBody>
          <a:bodyPr lIns="72000" rIns="72000" anchor="ctr"/>
          <a:lstStyle/>
          <a:p>
            <a:pPr algn="l">
              <a:buNone/>
            </a:pPr>
            <a:r>
              <a:rPr lang="en-US" sz="1200" b="1" dirty="0">
                <a:solidFill>
                  <a:srgbClr val="FFFFFF"/>
                </a:solidFill>
                <a:latin typeface="Calibri"/>
              </a:rPr>
              <a:t>Potential</a:t>
            </a:r>
          </a:p>
        </p:txBody>
      </p:sp>
      <p:sp>
        <p:nvSpPr>
          <p:cNvPr id="11" name="CWH1"/>
          <p:cNvSpPr txBox="1"/>
          <p:nvPr/>
        </p:nvSpPr>
        <p:spPr>
          <a:xfrm>
            <a:off x="1701800" y="1287780"/>
            <a:ext cx="698500" cy="406400"/>
          </a:xfrm>
          <a:prstGeom prst="rect">
            <a:avLst/>
          </a:prstGeom>
          <a:solidFill>
            <a:srgbClr val="1A7A6B"/>
          </a:solidFill>
          <a:ln>
            <a:noFill/>
          </a:ln>
        </p:spPr>
        <p:txBody>
          <a:bodyPr lIns="72000" rIns="72000" anchor="ctr"/>
          <a:lstStyle/>
          <a:p>
            <a:pPr algn="ctr">
              <a:buNone/>
            </a:pPr>
            <a:r>
              <a:rPr lang="en-US" sz="1200" b="1" dirty="0">
                <a:solidFill>
                  <a:srgbClr val="FFFFFF"/>
                </a:solidFill>
                <a:latin typeface="Calibri"/>
              </a:rPr>
              <a:t>Count</a:t>
            </a:r>
          </a:p>
        </p:txBody>
      </p:sp>
      <p:sp>
        <p:nvSpPr>
          <p:cNvPr id="12" name="CWH2"/>
          <p:cNvSpPr txBox="1"/>
          <p:nvPr/>
        </p:nvSpPr>
        <p:spPr>
          <a:xfrm>
            <a:off x="2400300" y="1287780"/>
            <a:ext cx="635000" cy="406400"/>
          </a:xfrm>
          <a:prstGeom prst="rect">
            <a:avLst/>
          </a:prstGeom>
          <a:solidFill>
            <a:srgbClr val="1A7A6B"/>
          </a:solidFill>
          <a:ln>
            <a:noFill/>
          </a:ln>
        </p:spPr>
        <p:txBody>
          <a:bodyPr lIns="72000" rIns="72000" anchor="ctr"/>
          <a:lstStyle/>
          <a:p>
            <a:pPr algn="ctr">
              <a:buNone/>
            </a:pPr>
            <a:r>
              <a:rPr lang="en-US" sz="1200" b="1" dirty="0">
                <a:solidFill>
                  <a:srgbClr val="FFFFFF"/>
                </a:solidFill>
                <a:latin typeface="Calibri"/>
              </a:rPr>
              <a:t>Share</a:t>
            </a:r>
          </a:p>
        </p:txBody>
      </p:sp>
      <p:sp>
        <p:nvSpPr>
          <p:cNvPr id="13" name="CWH3"/>
          <p:cNvSpPr txBox="1"/>
          <p:nvPr/>
        </p:nvSpPr>
        <p:spPr>
          <a:xfrm>
            <a:off x="3035300" y="1287780"/>
            <a:ext cx="1905000" cy="406400"/>
          </a:xfrm>
          <a:prstGeom prst="rect">
            <a:avLst/>
          </a:prstGeom>
          <a:solidFill>
            <a:srgbClr val="1A7A6B"/>
          </a:solidFill>
          <a:ln>
            <a:noFill/>
          </a:ln>
        </p:spPr>
        <p:txBody>
          <a:bodyPr lIns="72000" rIns="72000" anchor="ctr"/>
          <a:lstStyle/>
          <a:p>
            <a:pPr algn="ctr">
              <a:buNone/>
            </a:pPr>
            <a:r>
              <a:rPr lang="en-US" sz="1200" b="1" dirty="0">
                <a:solidFill>
                  <a:srgbClr val="FFFFFF"/>
                </a:solidFill>
                <a:latin typeface="Calibri"/>
              </a:rPr>
              <a:t>Definition</a:t>
            </a:r>
          </a:p>
        </p:txBody>
      </p:sp>
      <p:sp>
        <p:nvSpPr>
          <p:cNvPr id="20" name="CWR0C0"/>
          <p:cNvSpPr txBox="1"/>
          <p:nvPr/>
        </p:nvSpPr>
        <p:spPr>
          <a:xfrm>
            <a:off x="368300" y="1694180"/>
            <a:ext cx="1333500" cy="406400"/>
          </a:xfrm>
          <a:prstGeom prst="rect">
            <a:avLst/>
          </a:prstGeom>
          <a:solidFill>
            <a:srgbClr val="FFFFFF"/>
          </a:solidFill>
          <a:ln>
            <a:noFill/>
          </a:ln>
        </p:spPr>
        <p:txBody>
          <a:bodyPr lIns="72000" rIns="72000" anchor="ctr"/>
          <a:lstStyle/>
          <a:p>
            <a:pPr algn="l">
              <a:buNone/>
            </a:pPr>
            <a:r>
              <a:rPr lang="en-US" sz="1300" b="1" dirty="0">
                <a:solidFill>
                  <a:srgbClr val="1A7A6B"/>
                </a:solidFill>
                <a:latin typeface="Calibri"/>
              </a:rPr>
              <a:t>High</a:t>
            </a:r>
          </a:p>
        </p:txBody>
      </p:sp>
      <p:sp>
        <p:nvSpPr>
          <p:cNvPr id="21" name="CWR0C1"/>
          <p:cNvSpPr txBox="1"/>
          <p:nvPr/>
        </p:nvSpPr>
        <p:spPr>
          <a:xfrm>
            <a:off x="1701800" y="1694180"/>
            <a:ext cx="698500" cy="406400"/>
          </a:xfrm>
          <a:prstGeom prst="rect">
            <a:avLst/>
          </a:prstGeom>
          <a:solidFill>
            <a:srgbClr val="FFFFFF"/>
          </a:solidFill>
          <a:ln>
            <a:noFill/>
          </a:ln>
        </p:spPr>
        <p:txBody>
          <a:bodyPr lIns="72000" rIns="72000" anchor="ctr"/>
          <a:lstStyle/>
          <a:p>
            <a:pPr algn="ctr">
              <a:buNone/>
            </a:pPr>
            <a:r>
              <a:rPr lang="en-US" sz="1300" dirty="0">
                <a:solidFill>
                  <a:srgbClr val="333333"/>
                </a:solidFill>
                <a:latin typeface="Calibri"/>
              </a:rPr>
              <a:t>19,180</a:t>
            </a:r>
          </a:p>
        </p:txBody>
      </p:sp>
      <p:sp>
        <p:nvSpPr>
          <p:cNvPr id="22" name="CWR0C2"/>
          <p:cNvSpPr txBox="1"/>
          <p:nvPr/>
        </p:nvSpPr>
        <p:spPr>
          <a:xfrm>
            <a:off x="2400300" y="1694180"/>
            <a:ext cx="635000" cy="406400"/>
          </a:xfrm>
          <a:prstGeom prst="rect">
            <a:avLst/>
          </a:prstGeom>
          <a:solidFill>
            <a:srgbClr val="FFFFFF"/>
          </a:solidFill>
          <a:ln>
            <a:noFill/>
          </a:ln>
        </p:spPr>
        <p:txBody>
          <a:bodyPr lIns="72000" rIns="72000" anchor="ctr"/>
          <a:lstStyle/>
          <a:p>
            <a:pPr algn="ctr">
              <a:buNone/>
            </a:pPr>
            <a:r>
              <a:rPr lang="en-US" sz="1300" dirty="0">
                <a:solidFill>
                  <a:srgbClr val="333333"/>
                </a:solidFill>
                <a:latin typeface="Calibri"/>
              </a:rPr>
              <a:t>85.0%</a:t>
            </a:r>
          </a:p>
        </p:txBody>
      </p:sp>
      <p:sp>
        <p:nvSpPr>
          <p:cNvPr id="23" name="CWR0C3"/>
          <p:cNvSpPr txBox="1"/>
          <p:nvPr/>
        </p:nvSpPr>
        <p:spPr>
          <a:xfrm>
            <a:off x="3035300" y="1694180"/>
            <a:ext cx="1905000" cy="406400"/>
          </a:xfrm>
          <a:prstGeom prst="rect">
            <a:avLst/>
          </a:prstGeom>
          <a:solidFill>
            <a:srgbClr val="FFFFFF"/>
          </a:solidFill>
          <a:ln>
            <a:noFill/>
          </a:ln>
        </p:spPr>
        <p:txBody>
          <a:bodyPr lIns="72000" rIns="72000" anchor="ctr"/>
          <a:lstStyle/>
          <a:p>
            <a:pPr algn="ctr">
              <a:buNone/>
            </a:pPr>
            <a:r>
              <a:rPr lang="en-US" sz="1300" dirty="0">
                <a:solidFill>
                  <a:srgbClr val="333333"/>
                </a:solidFill>
                <a:latin typeface="Calibri"/>
              </a:rPr>
              <a:t>&lt; 80% of max GFA utilized</a:t>
            </a:r>
          </a:p>
        </p:txBody>
      </p:sp>
      <p:sp>
        <p:nvSpPr>
          <p:cNvPr id="24" name="CWR1C0"/>
          <p:cNvSpPr txBox="1"/>
          <p:nvPr/>
        </p:nvSpPr>
        <p:spPr>
          <a:xfrm>
            <a:off x="368300" y="2100580"/>
            <a:ext cx="1333500" cy="406400"/>
          </a:xfrm>
          <a:prstGeom prst="rect">
            <a:avLst/>
          </a:prstGeom>
          <a:solidFill>
            <a:srgbClr val="F4F6F9"/>
          </a:solidFill>
          <a:ln>
            <a:noFill/>
          </a:ln>
        </p:spPr>
        <p:txBody>
          <a:bodyPr lIns="72000" rIns="72000" anchor="ctr"/>
          <a:lstStyle/>
          <a:p>
            <a:pPr algn="l">
              <a:buNone/>
            </a:pPr>
            <a:r>
              <a:rPr lang="en-US" sz="1300" b="1" dirty="0">
                <a:solidFill>
                  <a:srgbClr val="C8792A"/>
                </a:solidFill>
                <a:latin typeface="Calibri"/>
              </a:rPr>
              <a:t>Low</a:t>
            </a:r>
          </a:p>
        </p:txBody>
      </p:sp>
      <p:sp>
        <p:nvSpPr>
          <p:cNvPr id="25" name="CWR1C1"/>
          <p:cNvSpPr txBox="1"/>
          <p:nvPr/>
        </p:nvSpPr>
        <p:spPr>
          <a:xfrm>
            <a:off x="1701800" y="2100580"/>
            <a:ext cx="698500" cy="406400"/>
          </a:xfrm>
          <a:prstGeom prst="rect">
            <a:avLst/>
          </a:prstGeom>
          <a:solidFill>
            <a:srgbClr val="F4F6F9"/>
          </a:solidFill>
          <a:ln>
            <a:noFill/>
          </a:ln>
        </p:spPr>
        <p:txBody>
          <a:bodyPr lIns="72000" rIns="72000" anchor="ctr"/>
          <a:lstStyle/>
          <a:p>
            <a:pPr algn="ctr">
              <a:buNone/>
            </a:pPr>
            <a:r>
              <a:rPr lang="en-US" sz="1300" dirty="0">
                <a:solidFill>
                  <a:srgbClr val="333333"/>
                </a:solidFill>
                <a:latin typeface="Calibri"/>
              </a:rPr>
              <a:t>2,256</a:t>
            </a:r>
          </a:p>
        </p:txBody>
      </p:sp>
      <p:sp>
        <p:nvSpPr>
          <p:cNvPr id="26" name="CWR1C2"/>
          <p:cNvSpPr txBox="1"/>
          <p:nvPr/>
        </p:nvSpPr>
        <p:spPr>
          <a:xfrm>
            <a:off x="2400300" y="2100580"/>
            <a:ext cx="635000" cy="406400"/>
          </a:xfrm>
          <a:prstGeom prst="rect">
            <a:avLst/>
          </a:prstGeom>
          <a:solidFill>
            <a:srgbClr val="F4F6F9"/>
          </a:solidFill>
          <a:ln>
            <a:noFill/>
          </a:ln>
        </p:spPr>
        <p:txBody>
          <a:bodyPr lIns="72000" rIns="72000" anchor="ctr"/>
          <a:lstStyle/>
          <a:p>
            <a:pPr algn="ctr">
              <a:buNone/>
            </a:pPr>
            <a:r>
              <a:rPr lang="en-US" sz="1300" dirty="0">
                <a:solidFill>
                  <a:srgbClr val="333333"/>
                </a:solidFill>
                <a:latin typeface="Calibri"/>
              </a:rPr>
              <a:t>10.0%</a:t>
            </a:r>
          </a:p>
        </p:txBody>
      </p:sp>
      <p:sp>
        <p:nvSpPr>
          <p:cNvPr id="27" name="CWR1C3"/>
          <p:cNvSpPr txBox="1"/>
          <p:nvPr/>
        </p:nvSpPr>
        <p:spPr>
          <a:xfrm>
            <a:off x="3035300" y="2100580"/>
            <a:ext cx="1905000" cy="406400"/>
          </a:xfrm>
          <a:prstGeom prst="rect">
            <a:avLst/>
          </a:prstGeom>
          <a:solidFill>
            <a:srgbClr val="F4F6F9"/>
          </a:solidFill>
          <a:ln>
            <a:noFill/>
          </a:ln>
        </p:spPr>
        <p:txBody>
          <a:bodyPr lIns="72000" rIns="72000" anchor="ctr"/>
          <a:lstStyle/>
          <a:p>
            <a:pPr algn="ctr">
              <a:buNone/>
            </a:pPr>
            <a:r>
              <a:rPr lang="en-US" sz="1300" dirty="0">
                <a:solidFill>
                  <a:srgbClr val="333333"/>
                </a:solidFill>
                <a:latin typeface="Calibri"/>
              </a:rPr>
              <a:t>80–100% utilized</a:t>
            </a:r>
          </a:p>
        </p:txBody>
      </p:sp>
      <p:sp>
        <p:nvSpPr>
          <p:cNvPr id="28" name="CWR2C0"/>
          <p:cNvSpPr txBox="1"/>
          <p:nvPr/>
        </p:nvSpPr>
        <p:spPr>
          <a:xfrm>
            <a:off x="368300" y="2506980"/>
            <a:ext cx="1333500" cy="406400"/>
          </a:xfrm>
          <a:prstGeom prst="rect">
            <a:avLst/>
          </a:prstGeom>
          <a:solidFill>
            <a:srgbClr val="FFFFFF"/>
          </a:solidFill>
          <a:ln>
            <a:noFill/>
          </a:ln>
        </p:spPr>
        <p:txBody>
          <a:bodyPr lIns="72000" rIns="72000" anchor="ctr"/>
          <a:lstStyle/>
          <a:p>
            <a:pPr algn="l">
              <a:buNone/>
            </a:pPr>
            <a:r>
              <a:rPr lang="en-US" sz="1300" b="1" dirty="0">
                <a:solidFill>
                  <a:srgbClr val="1B3A5C"/>
                </a:solidFill>
                <a:latin typeface="Calibri"/>
              </a:rPr>
              <a:t>None</a:t>
            </a:r>
          </a:p>
        </p:txBody>
      </p:sp>
      <p:sp>
        <p:nvSpPr>
          <p:cNvPr id="29" name="CWR2C1"/>
          <p:cNvSpPr txBox="1"/>
          <p:nvPr/>
        </p:nvSpPr>
        <p:spPr>
          <a:xfrm>
            <a:off x="1701800" y="2506980"/>
            <a:ext cx="698500" cy="406400"/>
          </a:xfrm>
          <a:prstGeom prst="rect">
            <a:avLst/>
          </a:prstGeom>
          <a:solidFill>
            <a:srgbClr val="FFFFFF"/>
          </a:solidFill>
          <a:ln>
            <a:noFill/>
          </a:ln>
        </p:spPr>
        <p:txBody>
          <a:bodyPr lIns="72000" rIns="72000" anchor="ctr"/>
          <a:lstStyle/>
          <a:p>
            <a:pPr algn="ctr">
              <a:buNone/>
            </a:pPr>
            <a:r>
              <a:rPr lang="en-US" sz="1300" dirty="0">
                <a:solidFill>
                  <a:srgbClr val="333333"/>
                </a:solidFill>
                <a:latin typeface="Calibri"/>
              </a:rPr>
              <a:t>1,001</a:t>
            </a:r>
          </a:p>
        </p:txBody>
      </p:sp>
      <p:sp>
        <p:nvSpPr>
          <p:cNvPr id="30" name="CWR2C2"/>
          <p:cNvSpPr txBox="1"/>
          <p:nvPr/>
        </p:nvSpPr>
        <p:spPr>
          <a:xfrm>
            <a:off x="2400300" y="2506980"/>
            <a:ext cx="635000" cy="406400"/>
          </a:xfrm>
          <a:prstGeom prst="rect">
            <a:avLst/>
          </a:prstGeom>
          <a:solidFill>
            <a:srgbClr val="FFFFFF"/>
          </a:solidFill>
          <a:ln>
            <a:noFill/>
          </a:ln>
        </p:spPr>
        <p:txBody>
          <a:bodyPr lIns="72000" rIns="72000" anchor="ctr"/>
          <a:lstStyle/>
          <a:p>
            <a:pPr algn="ctr">
              <a:buNone/>
            </a:pPr>
            <a:r>
              <a:rPr lang="en-US" sz="1300" dirty="0">
                <a:solidFill>
                  <a:srgbClr val="333333"/>
                </a:solidFill>
                <a:latin typeface="Calibri"/>
              </a:rPr>
              <a:t>4.4%</a:t>
            </a:r>
          </a:p>
        </p:txBody>
      </p:sp>
      <p:sp>
        <p:nvSpPr>
          <p:cNvPr id="31" name="CWR2C3"/>
          <p:cNvSpPr txBox="1"/>
          <p:nvPr/>
        </p:nvSpPr>
        <p:spPr>
          <a:xfrm>
            <a:off x="3035300" y="2506980"/>
            <a:ext cx="1905000" cy="406400"/>
          </a:xfrm>
          <a:prstGeom prst="rect">
            <a:avLst/>
          </a:prstGeom>
          <a:solidFill>
            <a:srgbClr val="FFFFFF"/>
          </a:solidFill>
          <a:ln>
            <a:noFill/>
          </a:ln>
        </p:spPr>
        <p:txBody>
          <a:bodyPr lIns="72000" rIns="72000" anchor="ctr"/>
          <a:lstStyle/>
          <a:p>
            <a:pPr algn="ctr">
              <a:buNone/>
            </a:pPr>
            <a:r>
              <a:rPr lang="en-US" sz="1300" dirty="0">
                <a:solidFill>
                  <a:srgbClr val="333333"/>
                </a:solidFill>
                <a:latin typeface="Calibri"/>
              </a:rPr>
              <a:t>&gt; 100% utilized</a:t>
            </a:r>
          </a:p>
        </p:txBody>
      </p:sp>
      <p:sp>
        <p:nvSpPr>
          <p:cNvPr id="32" name="CWR3C0"/>
          <p:cNvSpPr txBox="1"/>
          <p:nvPr/>
        </p:nvSpPr>
        <p:spPr>
          <a:xfrm>
            <a:off x="368300" y="2913380"/>
            <a:ext cx="1333500" cy="406400"/>
          </a:xfrm>
          <a:prstGeom prst="rect">
            <a:avLst/>
          </a:prstGeom>
          <a:solidFill>
            <a:srgbClr val="F4F6F9"/>
          </a:solidFill>
          <a:ln>
            <a:noFill/>
          </a:ln>
        </p:spPr>
        <p:txBody>
          <a:bodyPr lIns="72000" rIns="72000" anchor="ctr"/>
          <a:lstStyle/>
          <a:p>
            <a:pPr algn="l">
              <a:buNone/>
            </a:pPr>
            <a:r>
              <a:rPr lang="en-US" sz="1300" b="1" dirty="0">
                <a:solidFill>
                  <a:srgbClr val="666666"/>
                </a:solidFill>
                <a:latin typeface="Calibri"/>
              </a:rPr>
              <a:t>Vacant</a:t>
            </a:r>
          </a:p>
        </p:txBody>
      </p:sp>
      <p:sp>
        <p:nvSpPr>
          <p:cNvPr id="33" name="CWR3C1"/>
          <p:cNvSpPr txBox="1"/>
          <p:nvPr/>
        </p:nvSpPr>
        <p:spPr>
          <a:xfrm>
            <a:off x="1701800" y="2913380"/>
            <a:ext cx="698500" cy="406400"/>
          </a:xfrm>
          <a:prstGeom prst="rect">
            <a:avLst/>
          </a:prstGeom>
          <a:solidFill>
            <a:srgbClr val="F4F6F9"/>
          </a:solidFill>
          <a:ln>
            <a:noFill/>
          </a:ln>
        </p:spPr>
        <p:txBody>
          <a:bodyPr lIns="72000" rIns="72000" anchor="ctr"/>
          <a:lstStyle/>
          <a:p>
            <a:pPr algn="ctr">
              <a:buNone/>
            </a:pPr>
            <a:r>
              <a:rPr lang="en-US" sz="1300" dirty="0">
                <a:solidFill>
                  <a:srgbClr val="333333"/>
                </a:solidFill>
                <a:latin typeface="Calibri"/>
              </a:rPr>
              <a:t>128</a:t>
            </a:r>
          </a:p>
        </p:txBody>
      </p:sp>
      <p:sp>
        <p:nvSpPr>
          <p:cNvPr id="34" name="CWR3C2"/>
          <p:cNvSpPr txBox="1"/>
          <p:nvPr/>
        </p:nvSpPr>
        <p:spPr>
          <a:xfrm>
            <a:off x="2400300" y="2913380"/>
            <a:ext cx="635000" cy="406400"/>
          </a:xfrm>
          <a:prstGeom prst="rect">
            <a:avLst/>
          </a:prstGeom>
          <a:solidFill>
            <a:srgbClr val="F4F6F9"/>
          </a:solidFill>
          <a:ln>
            <a:noFill/>
          </a:ln>
        </p:spPr>
        <p:txBody>
          <a:bodyPr lIns="72000" rIns="72000" anchor="ctr"/>
          <a:lstStyle/>
          <a:p>
            <a:pPr algn="ctr">
              <a:buNone/>
            </a:pPr>
            <a:r>
              <a:rPr lang="en-US" sz="1300" dirty="0">
                <a:solidFill>
                  <a:srgbClr val="333333"/>
                </a:solidFill>
                <a:latin typeface="Calibri"/>
              </a:rPr>
              <a:t>0.6%</a:t>
            </a:r>
          </a:p>
        </p:txBody>
      </p:sp>
      <p:sp>
        <p:nvSpPr>
          <p:cNvPr id="35" name="CWR3C3"/>
          <p:cNvSpPr txBox="1"/>
          <p:nvPr/>
        </p:nvSpPr>
        <p:spPr>
          <a:xfrm>
            <a:off x="3035300" y="2913380"/>
            <a:ext cx="1905000" cy="406400"/>
          </a:xfrm>
          <a:prstGeom prst="rect">
            <a:avLst/>
          </a:prstGeom>
          <a:solidFill>
            <a:srgbClr val="F4F6F9"/>
          </a:solidFill>
          <a:ln>
            <a:noFill/>
          </a:ln>
        </p:spPr>
        <p:txBody>
          <a:bodyPr lIns="72000" rIns="72000" anchor="ctr"/>
          <a:lstStyle/>
          <a:p>
            <a:pPr algn="ctr">
              <a:buNone/>
            </a:pPr>
            <a:r>
              <a:rPr lang="en-US" sz="1300" dirty="0">
                <a:solidFill>
                  <a:srgbClr val="333333"/>
                </a:solidFill>
                <a:latin typeface="Calibri"/>
              </a:rPr>
              <a:t>No structure present</a:t>
            </a:r>
          </a:p>
        </p:txBody>
      </p:sp>
      <p:sp>
        <p:nvSpPr>
          <p:cNvPr id="60" name="RHdr"/>
          <p:cNvSpPr txBox="1"/>
          <p:nvPr/>
        </p:nvSpPr>
        <p:spPr>
          <a:xfrm>
            <a:off x="5080000" y="957580"/>
            <a:ext cx="3746500" cy="330200"/>
          </a:xfrm>
          <a:prstGeom prst="rect">
            <a:avLst/>
          </a:prstGeom>
          <a:solidFill>
            <a:srgbClr val="1B3A5C"/>
          </a:solidFill>
          <a:ln>
            <a:noFill/>
          </a:ln>
        </p:spPr>
        <p:txBody>
          <a:bodyPr anchor="ctr"/>
          <a:lstStyle/>
          <a:p>
            <a:pPr algn="ctr">
              <a:buNone/>
            </a:pPr>
            <a:r>
              <a:rPr lang="en-US" sz="1300" b="1" dirty="0">
                <a:solidFill>
                  <a:srgbClr val="FFFFFF"/>
                </a:solidFill>
                <a:latin typeface="Calibri"/>
              </a:rPr>
              <a:t>Neighborhood Comparison</a:t>
            </a:r>
          </a:p>
        </p:txBody>
      </p:sp>
      <p:sp>
        <p:nvSpPr>
          <p:cNvPr id="70" name="NCH0"/>
          <p:cNvSpPr txBox="1"/>
          <p:nvPr/>
        </p:nvSpPr>
        <p:spPr>
          <a:xfrm>
            <a:off x="5080000" y="1287780"/>
            <a:ext cx="1460500" cy="406400"/>
          </a:xfrm>
          <a:prstGeom prst="rect">
            <a:avLst/>
          </a:prstGeom>
          <a:solidFill>
            <a:srgbClr val="1A7A6B"/>
          </a:solidFill>
          <a:ln>
            <a:noFill/>
          </a:ln>
        </p:spPr>
        <p:txBody>
          <a:bodyPr lIns="72000" rIns="72000" anchor="ctr"/>
          <a:lstStyle/>
          <a:p>
            <a:pPr algn="l">
              <a:buNone/>
            </a:pPr>
            <a:r>
              <a:rPr lang="en-US" sz="1200" b="1" dirty="0">
                <a:solidFill>
                  <a:srgbClr val="FFFFFF"/>
                </a:solidFill>
                <a:latin typeface="Calibri"/>
              </a:rPr>
              <a:t>Neighborhood</a:t>
            </a:r>
          </a:p>
        </p:txBody>
      </p:sp>
      <p:sp>
        <p:nvSpPr>
          <p:cNvPr id="71" name="NCH1"/>
          <p:cNvSpPr txBox="1"/>
          <p:nvPr/>
        </p:nvSpPr>
        <p:spPr>
          <a:xfrm>
            <a:off x="6540500" y="1287780"/>
            <a:ext cx="762000" cy="406400"/>
          </a:xfrm>
          <a:prstGeom prst="rect">
            <a:avLst/>
          </a:prstGeom>
          <a:solidFill>
            <a:srgbClr val="1A7A6B"/>
          </a:solidFill>
          <a:ln>
            <a:noFill/>
          </a:ln>
        </p:spPr>
        <p:txBody>
          <a:bodyPr lIns="72000" rIns="72000" anchor="ctr"/>
          <a:lstStyle/>
          <a:p>
            <a:pPr algn="ctr">
              <a:buNone/>
            </a:pPr>
            <a:r>
              <a:rPr lang="en-US" sz="1200" b="1" dirty="0">
                <a:solidFill>
                  <a:srgbClr val="FFFFFF"/>
                </a:solidFill>
                <a:latin typeface="Calibri"/>
              </a:rPr>
              <a:t>High</a:t>
            </a:r>
          </a:p>
        </p:txBody>
      </p:sp>
      <p:sp>
        <p:nvSpPr>
          <p:cNvPr id="72" name="NCH2"/>
          <p:cNvSpPr txBox="1"/>
          <p:nvPr/>
        </p:nvSpPr>
        <p:spPr>
          <a:xfrm>
            <a:off x="7302500" y="1287780"/>
            <a:ext cx="762000" cy="406400"/>
          </a:xfrm>
          <a:prstGeom prst="rect">
            <a:avLst/>
          </a:prstGeom>
          <a:solidFill>
            <a:srgbClr val="1A7A6B"/>
          </a:solidFill>
          <a:ln>
            <a:noFill/>
          </a:ln>
        </p:spPr>
        <p:txBody>
          <a:bodyPr lIns="72000" rIns="72000" anchor="ctr"/>
          <a:lstStyle/>
          <a:p>
            <a:pPr algn="ctr">
              <a:buNone/>
            </a:pPr>
            <a:r>
              <a:rPr lang="en-US" sz="1200" b="1" dirty="0">
                <a:solidFill>
                  <a:srgbClr val="FFFFFF"/>
                </a:solidFill>
                <a:latin typeface="Calibri"/>
              </a:rPr>
              <a:t>Low</a:t>
            </a:r>
          </a:p>
        </p:txBody>
      </p:sp>
      <p:sp>
        <p:nvSpPr>
          <p:cNvPr id="73" name="NCH3"/>
          <p:cNvSpPr txBox="1"/>
          <p:nvPr/>
        </p:nvSpPr>
        <p:spPr>
          <a:xfrm>
            <a:off x="8064500" y="1287780"/>
            <a:ext cx="762000" cy="406400"/>
          </a:xfrm>
          <a:prstGeom prst="rect">
            <a:avLst/>
          </a:prstGeom>
          <a:solidFill>
            <a:srgbClr val="1A7A6B"/>
          </a:solidFill>
          <a:ln>
            <a:noFill/>
          </a:ln>
        </p:spPr>
        <p:txBody>
          <a:bodyPr lIns="72000" rIns="72000" anchor="ctr"/>
          <a:lstStyle/>
          <a:p>
            <a:pPr algn="ctr">
              <a:buNone/>
            </a:pPr>
            <a:r>
              <a:rPr lang="en-US" sz="1200" b="1" dirty="0">
                <a:solidFill>
                  <a:srgbClr val="FFFFFF"/>
                </a:solidFill>
                <a:latin typeface="Calibri"/>
              </a:rPr>
              <a:t>None</a:t>
            </a:r>
          </a:p>
        </p:txBody>
      </p:sp>
      <p:sp>
        <p:nvSpPr>
          <p:cNvPr id="80" name="NCR0C0"/>
          <p:cNvSpPr txBox="1"/>
          <p:nvPr/>
        </p:nvSpPr>
        <p:spPr>
          <a:xfrm>
            <a:off x="5080000" y="1694180"/>
            <a:ext cx="1460500" cy="406400"/>
          </a:xfrm>
          <a:prstGeom prst="rect">
            <a:avLst/>
          </a:prstGeom>
          <a:solidFill>
            <a:srgbClr val="FFFFFF"/>
          </a:solidFill>
          <a:ln>
            <a:noFill/>
          </a:ln>
        </p:spPr>
        <p:txBody>
          <a:bodyPr lIns="72000" rIns="72000" anchor="ctr"/>
          <a:lstStyle/>
          <a:p>
            <a:pPr algn="l">
              <a:buNone/>
            </a:pPr>
            <a:r>
              <a:rPr lang="en-US" sz="1300" b="1" dirty="0">
                <a:solidFill>
                  <a:srgbClr val="1B3A5C"/>
                </a:solidFill>
                <a:latin typeface="Calibri"/>
              </a:rPr>
              <a:t>Bluemont</a:t>
            </a:r>
          </a:p>
        </p:txBody>
      </p:sp>
      <p:sp>
        <p:nvSpPr>
          <p:cNvPr id="81" name="NCR0C1"/>
          <p:cNvSpPr txBox="1"/>
          <p:nvPr/>
        </p:nvSpPr>
        <p:spPr>
          <a:xfrm>
            <a:off x="6540500" y="1694180"/>
            <a:ext cx="762000" cy="406400"/>
          </a:xfrm>
          <a:prstGeom prst="rect">
            <a:avLst/>
          </a:prstGeom>
          <a:solidFill>
            <a:srgbClr val="FFFFFF"/>
          </a:solidFill>
          <a:ln>
            <a:noFill/>
          </a:ln>
        </p:spPr>
        <p:txBody>
          <a:bodyPr lIns="72000" rIns="72000" anchor="ctr"/>
          <a:lstStyle/>
          <a:p>
            <a:pPr algn="ctr">
              <a:buNone/>
            </a:pPr>
            <a:r>
              <a:rPr lang="en-US" sz="1300" dirty="0">
                <a:solidFill>
                  <a:srgbClr val="333333"/>
                </a:solidFill>
                <a:latin typeface="Calibri"/>
              </a:rPr>
              <a:t>87.1%</a:t>
            </a:r>
          </a:p>
        </p:txBody>
      </p:sp>
      <p:sp>
        <p:nvSpPr>
          <p:cNvPr id="82" name="NCR0C2"/>
          <p:cNvSpPr txBox="1"/>
          <p:nvPr/>
        </p:nvSpPr>
        <p:spPr>
          <a:xfrm>
            <a:off x="7302500" y="1694180"/>
            <a:ext cx="762000" cy="406400"/>
          </a:xfrm>
          <a:prstGeom prst="rect">
            <a:avLst/>
          </a:prstGeom>
          <a:solidFill>
            <a:srgbClr val="FFFFFF"/>
          </a:solidFill>
          <a:ln>
            <a:noFill/>
          </a:ln>
        </p:spPr>
        <p:txBody>
          <a:bodyPr lIns="72000" rIns="72000" anchor="ctr"/>
          <a:lstStyle/>
          <a:p>
            <a:pPr algn="ctr">
              <a:buNone/>
            </a:pPr>
            <a:r>
              <a:rPr lang="en-US" sz="1300" dirty="0">
                <a:solidFill>
                  <a:srgbClr val="333333"/>
                </a:solidFill>
                <a:latin typeface="Calibri"/>
              </a:rPr>
              <a:t>9.2%</a:t>
            </a:r>
          </a:p>
        </p:txBody>
      </p:sp>
      <p:sp>
        <p:nvSpPr>
          <p:cNvPr id="83" name="NCR0C3"/>
          <p:cNvSpPr txBox="1"/>
          <p:nvPr/>
        </p:nvSpPr>
        <p:spPr>
          <a:xfrm>
            <a:off x="8064500" y="1694180"/>
            <a:ext cx="762000" cy="406400"/>
          </a:xfrm>
          <a:prstGeom prst="rect">
            <a:avLst/>
          </a:prstGeom>
          <a:solidFill>
            <a:srgbClr val="FFFFFF"/>
          </a:solidFill>
          <a:ln>
            <a:noFill/>
          </a:ln>
        </p:spPr>
        <p:txBody>
          <a:bodyPr lIns="72000" rIns="72000" anchor="ctr"/>
          <a:lstStyle/>
          <a:p>
            <a:pPr algn="ctr">
              <a:buNone/>
            </a:pPr>
            <a:r>
              <a:rPr lang="en-US" sz="1300" dirty="0">
                <a:solidFill>
                  <a:srgbClr val="333333"/>
                </a:solidFill>
                <a:latin typeface="Calibri"/>
              </a:rPr>
              <a:t>3.7%</a:t>
            </a:r>
          </a:p>
        </p:txBody>
      </p:sp>
      <p:sp>
        <p:nvSpPr>
          <p:cNvPr id="84" name="NCR1C0"/>
          <p:cNvSpPr txBox="1"/>
          <p:nvPr/>
        </p:nvSpPr>
        <p:spPr>
          <a:xfrm>
            <a:off x="5080000" y="2100580"/>
            <a:ext cx="1460500" cy="406400"/>
          </a:xfrm>
          <a:prstGeom prst="rect">
            <a:avLst/>
          </a:prstGeom>
          <a:solidFill>
            <a:srgbClr val="F4F6F9"/>
          </a:solidFill>
          <a:ln>
            <a:noFill/>
          </a:ln>
        </p:spPr>
        <p:txBody>
          <a:bodyPr lIns="72000" rIns="72000" anchor="ctr"/>
          <a:lstStyle/>
          <a:p>
            <a:pPr algn="l">
              <a:buNone/>
            </a:pPr>
            <a:r>
              <a:rPr lang="en-US" sz="1300" b="1" dirty="0">
                <a:solidFill>
                  <a:srgbClr val="1B3A5C"/>
                </a:solidFill>
                <a:latin typeface="Calibri"/>
              </a:rPr>
              <a:t>Yorktown</a:t>
            </a:r>
          </a:p>
        </p:txBody>
      </p:sp>
      <p:sp>
        <p:nvSpPr>
          <p:cNvPr id="85" name="NCR1C1"/>
          <p:cNvSpPr txBox="1"/>
          <p:nvPr/>
        </p:nvSpPr>
        <p:spPr>
          <a:xfrm>
            <a:off x="6540500" y="2100580"/>
            <a:ext cx="762000" cy="406400"/>
          </a:xfrm>
          <a:prstGeom prst="rect">
            <a:avLst/>
          </a:prstGeom>
          <a:solidFill>
            <a:srgbClr val="F4F6F9"/>
          </a:solidFill>
          <a:ln>
            <a:noFill/>
          </a:ln>
        </p:spPr>
        <p:txBody>
          <a:bodyPr lIns="72000" rIns="72000" anchor="ctr"/>
          <a:lstStyle/>
          <a:p>
            <a:pPr algn="ctr">
              <a:buNone/>
            </a:pPr>
            <a:r>
              <a:rPr lang="en-US" sz="1300" dirty="0">
                <a:solidFill>
                  <a:srgbClr val="333333"/>
                </a:solidFill>
                <a:latin typeface="Calibri"/>
              </a:rPr>
              <a:t>83.5%</a:t>
            </a:r>
          </a:p>
        </p:txBody>
      </p:sp>
      <p:sp>
        <p:nvSpPr>
          <p:cNvPr id="86" name="NCR1C2"/>
          <p:cNvSpPr txBox="1"/>
          <p:nvPr/>
        </p:nvSpPr>
        <p:spPr>
          <a:xfrm>
            <a:off x="7302500" y="2100580"/>
            <a:ext cx="762000" cy="406400"/>
          </a:xfrm>
          <a:prstGeom prst="rect">
            <a:avLst/>
          </a:prstGeom>
          <a:solidFill>
            <a:srgbClr val="F4F6F9"/>
          </a:solidFill>
          <a:ln>
            <a:noFill/>
          </a:ln>
        </p:spPr>
        <p:txBody>
          <a:bodyPr lIns="72000" rIns="72000" anchor="ctr"/>
          <a:lstStyle/>
          <a:p>
            <a:pPr algn="ctr">
              <a:buNone/>
            </a:pPr>
            <a:r>
              <a:rPr lang="en-US" sz="1300" dirty="0">
                <a:solidFill>
                  <a:srgbClr val="333333"/>
                </a:solidFill>
                <a:latin typeface="Calibri"/>
              </a:rPr>
              <a:t>11.5%</a:t>
            </a:r>
          </a:p>
        </p:txBody>
      </p:sp>
      <p:sp>
        <p:nvSpPr>
          <p:cNvPr id="87" name="NCR1C3"/>
          <p:cNvSpPr txBox="1"/>
          <p:nvPr/>
        </p:nvSpPr>
        <p:spPr>
          <a:xfrm>
            <a:off x="8064500" y="2100580"/>
            <a:ext cx="762000" cy="406400"/>
          </a:xfrm>
          <a:prstGeom prst="rect">
            <a:avLst/>
          </a:prstGeom>
          <a:solidFill>
            <a:srgbClr val="F4F6F9"/>
          </a:solidFill>
          <a:ln>
            <a:noFill/>
          </a:ln>
        </p:spPr>
        <p:txBody>
          <a:bodyPr lIns="72000" rIns="72000" anchor="ctr"/>
          <a:lstStyle/>
          <a:p>
            <a:pPr algn="ctr">
              <a:buNone/>
            </a:pPr>
            <a:r>
              <a:rPr lang="en-US" sz="1300" dirty="0">
                <a:solidFill>
                  <a:srgbClr val="333333"/>
                </a:solidFill>
                <a:latin typeface="Calibri"/>
              </a:rPr>
              <a:t>5.0%</a:t>
            </a:r>
          </a:p>
        </p:txBody>
      </p:sp>
      <p:sp>
        <p:nvSpPr>
          <p:cNvPr id="88" name="NCR2C0"/>
          <p:cNvSpPr txBox="1"/>
          <p:nvPr/>
        </p:nvSpPr>
        <p:spPr>
          <a:xfrm>
            <a:off x="5080000" y="2506980"/>
            <a:ext cx="1460500" cy="406400"/>
          </a:xfrm>
          <a:prstGeom prst="rect">
            <a:avLst/>
          </a:prstGeom>
          <a:solidFill>
            <a:srgbClr val="FFFFFF"/>
          </a:solidFill>
          <a:ln>
            <a:noFill/>
          </a:ln>
        </p:spPr>
        <p:txBody>
          <a:bodyPr lIns="72000" rIns="72000" anchor="ctr"/>
          <a:lstStyle/>
          <a:p>
            <a:pPr algn="l">
              <a:buNone/>
            </a:pPr>
            <a:r>
              <a:rPr lang="en-US" sz="1300" b="1" dirty="0">
                <a:solidFill>
                  <a:srgbClr val="1B3A5C"/>
                </a:solidFill>
                <a:latin typeface="Calibri"/>
              </a:rPr>
              <a:t>Williamsburg</a:t>
            </a:r>
          </a:p>
        </p:txBody>
      </p:sp>
      <p:sp>
        <p:nvSpPr>
          <p:cNvPr id="89" name="NCR2C1"/>
          <p:cNvSpPr txBox="1"/>
          <p:nvPr/>
        </p:nvSpPr>
        <p:spPr>
          <a:xfrm>
            <a:off x="6540500" y="2506980"/>
            <a:ext cx="762000" cy="406400"/>
          </a:xfrm>
          <a:prstGeom prst="rect">
            <a:avLst/>
          </a:prstGeom>
          <a:solidFill>
            <a:srgbClr val="FFFFFF"/>
          </a:solidFill>
          <a:ln>
            <a:noFill/>
          </a:ln>
        </p:spPr>
        <p:txBody>
          <a:bodyPr lIns="72000" rIns="72000" anchor="ctr"/>
          <a:lstStyle/>
          <a:p>
            <a:pPr algn="ctr">
              <a:buNone/>
            </a:pPr>
            <a:r>
              <a:rPr lang="en-US" sz="1300" dirty="0">
                <a:solidFill>
                  <a:srgbClr val="333333"/>
                </a:solidFill>
                <a:latin typeface="Calibri"/>
              </a:rPr>
              <a:t>84.2%</a:t>
            </a:r>
          </a:p>
        </p:txBody>
      </p:sp>
      <p:sp>
        <p:nvSpPr>
          <p:cNvPr id="90" name="NCR2C2"/>
          <p:cNvSpPr txBox="1"/>
          <p:nvPr/>
        </p:nvSpPr>
        <p:spPr>
          <a:xfrm>
            <a:off x="7302500" y="2506980"/>
            <a:ext cx="762000" cy="406400"/>
          </a:xfrm>
          <a:prstGeom prst="rect">
            <a:avLst/>
          </a:prstGeom>
          <a:solidFill>
            <a:srgbClr val="FFFFFF"/>
          </a:solidFill>
          <a:ln>
            <a:noFill/>
          </a:ln>
        </p:spPr>
        <p:txBody>
          <a:bodyPr lIns="72000" rIns="72000" anchor="ctr"/>
          <a:lstStyle/>
          <a:p>
            <a:pPr algn="ctr">
              <a:buNone/>
            </a:pPr>
            <a:r>
              <a:rPr lang="en-US" sz="1300" dirty="0">
                <a:solidFill>
                  <a:srgbClr val="333333"/>
                </a:solidFill>
                <a:latin typeface="Calibri"/>
              </a:rPr>
              <a:t>10.8%</a:t>
            </a:r>
          </a:p>
        </p:txBody>
      </p:sp>
      <p:sp>
        <p:nvSpPr>
          <p:cNvPr id="91" name="NCR2C3"/>
          <p:cNvSpPr txBox="1"/>
          <p:nvPr/>
        </p:nvSpPr>
        <p:spPr>
          <a:xfrm>
            <a:off x="8064500" y="2506980"/>
            <a:ext cx="762000" cy="406400"/>
          </a:xfrm>
          <a:prstGeom prst="rect">
            <a:avLst/>
          </a:prstGeom>
          <a:solidFill>
            <a:srgbClr val="FFFFFF"/>
          </a:solidFill>
          <a:ln>
            <a:noFill/>
          </a:ln>
        </p:spPr>
        <p:txBody>
          <a:bodyPr lIns="72000" rIns="72000" anchor="ctr"/>
          <a:lstStyle/>
          <a:p>
            <a:pPr algn="ctr">
              <a:buNone/>
            </a:pPr>
            <a:r>
              <a:rPr lang="en-US" sz="1300" dirty="0">
                <a:solidFill>
                  <a:srgbClr val="333333"/>
                </a:solidFill>
                <a:latin typeface="Calibri"/>
              </a:rPr>
              <a:t>5.0%</a:t>
            </a:r>
          </a:p>
        </p:txBody>
      </p:sp>
      <p:sp>
        <p:nvSpPr>
          <p:cNvPr id="92" name="NCR3C0"/>
          <p:cNvSpPr txBox="1"/>
          <p:nvPr/>
        </p:nvSpPr>
        <p:spPr>
          <a:xfrm>
            <a:off x="5080000" y="2913380"/>
            <a:ext cx="1460500" cy="406400"/>
          </a:xfrm>
          <a:prstGeom prst="rect">
            <a:avLst/>
          </a:prstGeom>
          <a:solidFill>
            <a:srgbClr val="F4F6F9"/>
          </a:solidFill>
          <a:ln>
            <a:noFill/>
          </a:ln>
        </p:spPr>
        <p:txBody>
          <a:bodyPr lIns="72000" rIns="72000" anchor="ctr"/>
          <a:lstStyle/>
          <a:p>
            <a:pPr algn="l">
              <a:buNone/>
            </a:pPr>
            <a:r>
              <a:rPr lang="en-US" sz="1300" b="1" dirty="0">
                <a:solidFill>
                  <a:srgbClr val="1B3A5C"/>
                </a:solidFill>
                <a:latin typeface="Calibri"/>
              </a:rPr>
              <a:t>E. Falls Church</a:t>
            </a:r>
          </a:p>
        </p:txBody>
      </p:sp>
      <p:sp>
        <p:nvSpPr>
          <p:cNvPr id="93" name="NCR3C1"/>
          <p:cNvSpPr txBox="1"/>
          <p:nvPr/>
        </p:nvSpPr>
        <p:spPr>
          <a:xfrm>
            <a:off x="6540500" y="2913380"/>
            <a:ext cx="762000" cy="406400"/>
          </a:xfrm>
          <a:prstGeom prst="rect">
            <a:avLst/>
          </a:prstGeom>
          <a:solidFill>
            <a:srgbClr val="F4F6F9"/>
          </a:solidFill>
          <a:ln>
            <a:noFill/>
          </a:ln>
        </p:spPr>
        <p:txBody>
          <a:bodyPr lIns="72000" rIns="72000" anchor="ctr"/>
          <a:lstStyle/>
          <a:p>
            <a:pPr algn="ctr">
              <a:buNone/>
            </a:pPr>
            <a:r>
              <a:rPr lang="en-US" sz="1300" dirty="0">
                <a:solidFill>
                  <a:srgbClr val="333333"/>
                </a:solidFill>
                <a:latin typeface="Calibri"/>
              </a:rPr>
              <a:t>88.0%</a:t>
            </a:r>
          </a:p>
        </p:txBody>
      </p:sp>
      <p:sp>
        <p:nvSpPr>
          <p:cNvPr id="94" name="NCR3C2"/>
          <p:cNvSpPr txBox="1"/>
          <p:nvPr/>
        </p:nvSpPr>
        <p:spPr>
          <a:xfrm>
            <a:off x="7302500" y="2913380"/>
            <a:ext cx="762000" cy="406400"/>
          </a:xfrm>
          <a:prstGeom prst="rect">
            <a:avLst/>
          </a:prstGeom>
          <a:solidFill>
            <a:srgbClr val="F4F6F9"/>
          </a:solidFill>
          <a:ln>
            <a:noFill/>
          </a:ln>
        </p:spPr>
        <p:txBody>
          <a:bodyPr lIns="72000" rIns="72000" anchor="ctr"/>
          <a:lstStyle/>
          <a:p>
            <a:pPr algn="ctr">
              <a:buNone/>
            </a:pPr>
            <a:r>
              <a:rPr lang="en-US" sz="1300" dirty="0">
                <a:solidFill>
                  <a:srgbClr val="333333"/>
                </a:solidFill>
                <a:latin typeface="Calibri"/>
              </a:rPr>
              <a:t>8.5%</a:t>
            </a:r>
          </a:p>
        </p:txBody>
      </p:sp>
      <p:sp>
        <p:nvSpPr>
          <p:cNvPr id="95" name="NCR3C3"/>
          <p:cNvSpPr txBox="1"/>
          <p:nvPr/>
        </p:nvSpPr>
        <p:spPr>
          <a:xfrm>
            <a:off x="8064500" y="2913380"/>
            <a:ext cx="762000" cy="406400"/>
          </a:xfrm>
          <a:prstGeom prst="rect">
            <a:avLst/>
          </a:prstGeom>
          <a:solidFill>
            <a:srgbClr val="F4F6F9"/>
          </a:solidFill>
          <a:ln>
            <a:noFill/>
          </a:ln>
        </p:spPr>
        <p:txBody>
          <a:bodyPr lIns="72000" rIns="72000" anchor="ctr"/>
          <a:lstStyle/>
          <a:p>
            <a:pPr algn="ctr">
              <a:buNone/>
            </a:pPr>
            <a:r>
              <a:rPr lang="en-US" sz="1300" dirty="0">
                <a:solidFill>
                  <a:srgbClr val="333333"/>
                </a:solidFill>
                <a:latin typeface="Calibri"/>
              </a:rPr>
              <a:t>3.5%</a:t>
            </a:r>
          </a:p>
        </p:txBody>
      </p:sp>
      <p:sp>
        <p:nvSpPr>
          <p:cNvPr id="130" name="Insight"/>
          <p:cNvSpPr txBox="1"/>
          <p:nvPr/>
        </p:nvSpPr>
        <p:spPr>
          <a:xfrm>
            <a:off x="368300" y="3759200"/>
            <a:ext cx="8407400" cy="863600"/>
          </a:xfrm>
          <a:prstGeom prst="rect">
            <a:avLst/>
          </a:prstGeom>
          <a:solidFill>
            <a:srgbClr val="F0F7F5"/>
          </a:solidFill>
          <a:ln w="12700">
            <a:solidFill>
              <a:srgbClr val="1A7A6B"/>
            </a:solidFill>
          </a:ln>
        </p:spPr>
        <p:txBody>
          <a:bodyPr wrap="square" lIns="91440" tIns="45720" rIns="91440" bIns="45720"/>
          <a:lstStyle/>
          <a:p>
            <a:pPr marL="0" indent="0">
              <a:buNone/>
            </a:pPr>
            <a:r>
              <a:rPr lang="en-US" sz="1300" i="1" dirty="0">
                <a:solidFill>
                  <a:srgbClr val="1A7A6B"/>
                </a:solidFill>
                <a:latin typeface="Calibri"/>
              </a:rPr>
              <a:t>The ~85% high potential share is remarkably consistent across neighborhoods, suggesting a structural feature of Arlington's residential fabric rather than neighborhood-specific patterns. This consistency strengthens the case for a county-wide TDR program.</a:t>
            </a:r>
          </a:p>
        </p:txBody>
      </p:sp>
    </p:spTree>
    <p:extLst>
      <p:ext uri="{BB962C8B-B14F-4D97-AF65-F5344CB8AC3E}">
        <p14:creationId xmlns:p14="http://schemas.microsoft.com/office/powerpoint/2010/main" val="22144326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
          <p:cNvSpPr/>
          <p:nvPr/>
        </p:nvSpPr>
        <p:spPr>
          <a:xfrm>
            <a:off x="0" y="0"/>
            <a:ext cx="9144000" cy="635000"/>
          </a:xfrm>
          <a:prstGeom prst="rect">
            <a:avLst/>
          </a:prstGeom>
          <a:solidFill>
            <a:srgbClr val="1B3A5C"/>
          </a:solidFill>
          <a:ln>
            <a:noFill/>
          </a:ln>
        </p:spPr>
        <p:txBody>
          <a:bodyPr/>
          <a:lstStyle/>
          <a:p>
            <a:endParaRPr/>
          </a:p>
        </p:txBody>
      </p:sp>
      <p:sp>
        <p:nvSpPr>
          <p:cNvPr id="3" name="Title"/>
          <p:cNvSpPr txBox="1"/>
          <p:nvPr/>
        </p:nvSpPr>
        <p:spPr>
          <a:xfrm>
            <a:off x="368300" y="63500"/>
            <a:ext cx="8407400" cy="508000"/>
          </a:xfrm>
          <a:prstGeom prst="rect">
            <a:avLst/>
          </a:prstGeom>
          <a:noFill/>
          <a:ln>
            <a:noFill/>
          </a:ln>
        </p:spPr>
        <p:txBody>
          <a:bodyPr wrap="square" lIns="0" tIns="0" rIns="0" bIns="0" anchor="ctr"/>
          <a:lstStyle/>
          <a:p>
            <a:pPr marL="0" indent="0">
              <a:buNone/>
            </a:pPr>
            <a:r>
              <a:rPr lang="en-US" sz="2400" b="1" dirty="0">
                <a:solidFill>
                  <a:srgbClr val="FFFFFF"/>
                </a:solidFill>
                <a:latin typeface="Georgia" pitchFamily="34" charset="0"/>
              </a:rPr>
              <a:t>Data Quality &amp; Limitations</a:t>
            </a:r>
          </a:p>
        </p:txBody>
      </p:sp>
      <p:sp>
        <p:nvSpPr>
          <p:cNvPr id="10" name="Card10"/>
          <p:cNvSpPr/>
          <p:nvPr/>
        </p:nvSpPr>
        <p:spPr>
          <a:xfrm>
            <a:off x="368300" y="787400"/>
            <a:ext cx="8407400" cy="1206500"/>
          </a:xfrm>
          <a:prstGeom prst="rect">
            <a:avLst/>
          </a:prstGeom>
          <a:solidFill>
            <a:srgbClr val="FDF5EE"/>
          </a:solidFill>
          <a:ln>
            <a:noFill/>
          </a:ln>
        </p:spPr>
        <p:txBody>
          <a:bodyPr/>
          <a:lstStyle/>
          <a:p>
            <a:endParaRPr/>
          </a:p>
        </p:txBody>
      </p:sp>
      <p:sp>
        <p:nvSpPr>
          <p:cNvPr id="11" name="Acc10"/>
          <p:cNvSpPr/>
          <p:nvPr/>
        </p:nvSpPr>
        <p:spPr>
          <a:xfrm>
            <a:off x="368300" y="787400"/>
            <a:ext cx="101600" cy="1206500"/>
          </a:xfrm>
          <a:prstGeom prst="rect">
            <a:avLst/>
          </a:prstGeom>
          <a:solidFill>
            <a:srgbClr val="C8792A"/>
          </a:solidFill>
          <a:ln>
            <a:noFill/>
          </a:ln>
        </p:spPr>
        <p:txBody>
          <a:bodyPr/>
          <a:lstStyle/>
          <a:p>
            <a:endParaRPr/>
          </a:p>
        </p:txBody>
      </p:sp>
      <p:sp>
        <p:nvSpPr>
          <p:cNvPr id="12" name="Lbl10"/>
          <p:cNvSpPr txBox="1"/>
          <p:nvPr/>
        </p:nvSpPr>
        <p:spPr>
          <a:xfrm>
            <a:off x="596900" y="901700"/>
            <a:ext cx="8001000" cy="304800"/>
          </a:xfrm>
          <a:prstGeom prst="rect">
            <a:avLst/>
          </a:prstGeom>
          <a:noFill/>
          <a:ln>
            <a:noFill/>
          </a:ln>
        </p:spPr>
        <p:txBody>
          <a:bodyPr wrap="square" lIns="0" tIns="0" rIns="0" bIns="0"/>
          <a:lstStyle/>
          <a:p>
            <a:pPr marL="0" indent="0">
              <a:buNone/>
            </a:pPr>
            <a:r>
              <a:rPr lang="en-US" sz="1600" b="1" dirty="0">
                <a:solidFill>
                  <a:srgbClr val="C8792A"/>
                </a:solidFill>
                <a:latin typeface="Georgia"/>
              </a:rPr>
              <a:t>API Coverage</a:t>
            </a:r>
          </a:p>
        </p:txBody>
      </p:sp>
      <p:sp>
        <p:nvSpPr>
          <p:cNvPr id="13" name="Body10"/>
          <p:cNvSpPr txBox="1"/>
          <p:nvPr/>
        </p:nvSpPr>
        <p:spPr>
          <a:xfrm>
            <a:off x="596900" y="1244600"/>
            <a:ext cx="8001000" cy="698500"/>
          </a:xfrm>
          <a:prstGeom prst="rect">
            <a:avLst/>
          </a:prstGeom>
          <a:noFill/>
          <a:ln>
            <a:noFill/>
          </a:ln>
        </p:spPr>
        <p:txBody>
          <a:bodyPr wrap="square" lIns="0" tIns="0" rIns="0" bIns="0"/>
          <a:lstStyle/>
          <a:p>
            <a:pPr marL="0" indent="0">
              <a:buNone/>
            </a:pPr>
            <a:r>
              <a:rPr lang="en-US" sz="1300" dirty="0">
                <a:solidFill>
                  <a:srgbClr val="333333"/>
                </a:solidFill>
                <a:latin typeface="Calibri"/>
              </a:rPr>
              <a:t>Arlington API covers ~80% of class-511 residential records. Some neighborhoods have incomplete coverage. Douglas Park is most affected: ~70% of parcels excluded due to missing API records. Analysis limited to covered parcels; exclusions documented in output files.</a:t>
            </a:r>
          </a:p>
        </p:txBody>
      </p:sp>
      <p:sp>
        <p:nvSpPr>
          <p:cNvPr id="20" name="Card20"/>
          <p:cNvSpPr/>
          <p:nvPr/>
        </p:nvSpPr>
        <p:spPr>
          <a:xfrm>
            <a:off x="368300" y="2057400"/>
            <a:ext cx="8407400" cy="1206500"/>
          </a:xfrm>
          <a:prstGeom prst="rect">
            <a:avLst/>
          </a:prstGeom>
          <a:solidFill>
            <a:srgbClr val="EEF2F7"/>
          </a:solidFill>
          <a:ln>
            <a:noFill/>
          </a:ln>
        </p:spPr>
        <p:txBody>
          <a:bodyPr/>
          <a:lstStyle/>
          <a:p>
            <a:endParaRPr/>
          </a:p>
        </p:txBody>
      </p:sp>
      <p:sp>
        <p:nvSpPr>
          <p:cNvPr id="21" name="Acc20"/>
          <p:cNvSpPr/>
          <p:nvPr/>
        </p:nvSpPr>
        <p:spPr>
          <a:xfrm>
            <a:off x="368300" y="2057400"/>
            <a:ext cx="101600" cy="1206500"/>
          </a:xfrm>
          <a:prstGeom prst="rect">
            <a:avLst/>
          </a:prstGeom>
          <a:solidFill>
            <a:srgbClr val="1B3A5C"/>
          </a:solidFill>
          <a:ln>
            <a:noFill/>
          </a:ln>
        </p:spPr>
        <p:txBody>
          <a:bodyPr/>
          <a:lstStyle/>
          <a:p>
            <a:endParaRPr/>
          </a:p>
        </p:txBody>
      </p:sp>
      <p:sp>
        <p:nvSpPr>
          <p:cNvPr id="22" name="Lbl20"/>
          <p:cNvSpPr txBox="1"/>
          <p:nvPr/>
        </p:nvSpPr>
        <p:spPr>
          <a:xfrm>
            <a:off x="596900" y="2171700"/>
            <a:ext cx="8001000" cy="304800"/>
          </a:xfrm>
          <a:prstGeom prst="rect">
            <a:avLst/>
          </a:prstGeom>
          <a:noFill/>
          <a:ln>
            <a:noFill/>
          </a:ln>
        </p:spPr>
        <p:txBody>
          <a:bodyPr wrap="square" lIns="0" tIns="0" rIns="0" bIns="0"/>
          <a:lstStyle/>
          <a:p>
            <a:pPr marL="0" indent="0">
              <a:buNone/>
            </a:pPr>
            <a:r>
              <a:rPr lang="en-US" sz="1600" b="1" dirty="0">
                <a:solidFill>
                  <a:srgbClr val="1B3A5C"/>
                </a:solidFill>
                <a:latin typeface="Georgia"/>
              </a:rPr>
              <a:t>Zoning Scope</a:t>
            </a:r>
          </a:p>
        </p:txBody>
      </p:sp>
      <p:sp>
        <p:nvSpPr>
          <p:cNvPr id="23" name="Body20"/>
          <p:cNvSpPr txBox="1"/>
          <p:nvPr/>
        </p:nvSpPr>
        <p:spPr>
          <a:xfrm>
            <a:off x="596900" y="2514600"/>
            <a:ext cx="8001000" cy="698500"/>
          </a:xfrm>
          <a:prstGeom prst="rect">
            <a:avLst/>
          </a:prstGeom>
          <a:noFill/>
          <a:ln>
            <a:noFill/>
          </a:ln>
        </p:spPr>
        <p:txBody>
          <a:bodyPr wrap="square" lIns="0" tIns="0" rIns="0" bIns="0"/>
          <a:lstStyle/>
          <a:p>
            <a:pPr marL="0" indent="0">
              <a:buNone/>
            </a:pPr>
            <a:r>
              <a:rPr lang="en-US" sz="1300" dirty="0">
                <a:solidFill>
                  <a:srgbClr val="333333"/>
                </a:solidFill>
                <a:latin typeface="Calibri"/>
              </a:rPr>
              <a:t>Analysis limited to by-right rules only. Special exceptions, variances, overlay districts, and bonus density provisions are not modeled. Results represent minimum achievable development — actual capacity may be higher.</a:t>
            </a:r>
          </a:p>
        </p:txBody>
      </p:sp>
      <p:sp>
        <p:nvSpPr>
          <p:cNvPr id="30" name="Card30"/>
          <p:cNvSpPr/>
          <p:nvPr/>
        </p:nvSpPr>
        <p:spPr>
          <a:xfrm>
            <a:off x="368300" y="3327400"/>
            <a:ext cx="8407400" cy="1206500"/>
          </a:xfrm>
          <a:prstGeom prst="rect">
            <a:avLst/>
          </a:prstGeom>
          <a:solidFill>
            <a:srgbClr val="F0F7F5"/>
          </a:solidFill>
          <a:ln>
            <a:noFill/>
          </a:ln>
        </p:spPr>
        <p:txBody>
          <a:bodyPr/>
          <a:lstStyle/>
          <a:p>
            <a:endParaRPr/>
          </a:p>
        </p:txBody>
      </p:sp>
      <p:sp>
        <p:nvSpPr>
          <p:cNvPr id="31" name="Acc30"/>
          <p:cNvSpPr/>
          <p:nvPr/>
        </p:nvSpPr>
        <p:spPr>
          <a:xfrm>
            <a:off x="368300" y="3327400"/>
            <a:ext cx="101600" cy="1206500"/>
          </a:xfrm>
          <a:prstGeom prst="rect">
            <a:avLst/>
          </a:prstGeom>
          <a:solidFill>
            <a:srgbClr val="1A7A6B"/>
          </a:solidFill>
          <a:ln>
            <a:noFill/>
          </a:ln>
        </p:spPr>
        <p:txBody>
          <a:bodyPr/>
          <a:lstStyle/>
          <a:p>
            <a:endParaRPr/>
          </a:p>
        </p:txBody>
      </p:sp>
      <p:sp>
        <p:nvSpPr>
          <p:cNvPr id="32" name="Lbl30"/>
          <p:cNvSpPr txBox="1"/>
          <p:nvPr/>
        </p:nvSpPr>
        <p:spPr>
          <a:xfrm>
            <a:off x="596900" y="3441700"/>
            <a:ext cx="8001000" cy="304800"/>
          </a:xfrm>
          <a:prstGeom prst="rect">
            <a:avLst/>
          </a:prstGeom>
          <a:noFill/>
          <a:ln>
            <a:noFill/>
          </a:ln>
        </p:spPr>
        <p:txBody>
          <a:bodyPr wrap="square" lIns="0" tIns="0" rIns="0" bIns="0"/>
          <a:lstStyle/>
          <a:p>
            <a:pPr marL="0" indent="0">
              <a:buNone/>
            </a:pPr>
            <a:r>
              <a:rPr lang="en-US" sz="1600" b="1" dirty="0">
                <a:solidFill>
                  <a:srgbClr val="1A7A6B"/>
                </a:solidFill>
                <a:latin typeface="Georgia"/>
              </a:rPr>
              <a:t>Valuation Parameters</a:t>
            </a:r>
          </a:p>
        </p:txBody>
      </p:sp>
      <p:sp>
        <p:nvSpPr>
          <p:cNvPr id="33" name="Body30"/>
          <p:cNvSpPr txBox="1"/>
          <p:nvPr/>
        </p:nvSpPr>
        <p:spPr>
          <a:xfrm>
            <a:off x="596900" y="3784600"/>
            <a:ext cx="8001000" cy="698500"/>
          </a:xfrm>
          <a:prstGeom prst="rect">
            <a:avLst/>
          </a:prstGeom>
          <a:noFill/>
          <a:ln>
            <a:noFill/>
          </a:ln>
        </p:spPr>
        <p:txBody>
          <a:bodyPr wrap="square" lIns="0" tIns="0" rIns="0" bIns="0"/>
          <a:lstStyle/>
          <a:p>
            <a:pPr marL="0" indent="0">
              <a:buNone/>
            </a:pPr>
            <a:r>
              <a:rPr lang="en-US" sz="1300" dirty="0">
                <a:solidFill>
                  <a:srgbClr val="333333"/>
                </a:solidFill>
                <a:latin typeface="Calibri"/>
              </a:rPr>
              <a:t>Discount factors (0.55–0.75) are illustrative benchmarks anchored to conservation easement comps and comparable TDR programs. Calibration against actual TDR transactions is required before policy use. Assessment data reflects the most recent county records and changes annually.</a:t>
            </a:r>
          </a:p>
        </p:txBody>
      </p:sp>
      <p:sp>
        <p:nvSpPr>
          <p:cNvPr id="50" name="TransNote"/>
          <p:cNvSpPr txBox="1"/>
          <p:nvPr/>
        </p:nvSpPr>
        <p:spPr>
          <a:xfrm>
            <a:off x="368300" y="4622800"/>
            <a:ext cx="8407400" cy="304800"/>
          </a:xfrm>
          <a:prstGeom prst="rect">
            <a:avLst/>
          </a:prstGeom>
          <a:noFill/>
          <a:ln>
            <a:noFill/>
          </a:ln>
        </p:spPr>
        <p:txBody>
          <a:bodyPr wrap="square" lIns="0" tIns="0" rIns="0" bIns="0"/>
          <a:lstStyle/>
          <a:p>
            <a:pPr marL="0" indent="0">
              <a:buNone/>
            </a:pPr>
            <a:r>
              <a:rPr lang="en-US" sz="1300" i="1" dirty="0">
                <a:solidFill>
                  <a:srgbClr val="666666"/>
                </a:solidFill>
                <a:latin typeface="Calibri"/>
              </a:rPr>
              <a:t>Transparency: Every neighborhood summary reports the % of parcels included so completeness is visible to any analyst using the data.</a:t>
            </a:r>
          </a:p>
        </p:txBody>
      </p:sp>
    </p:spTree>
    <p:extLst>
      <p:ext uri="{BB962C8B-B14F-4D97-AF65-F5344CB8AC3E}">
        <p14:creationId xmlns:p14="http://schemas.microsoft.com/office/powerpoint/2010/main" val="8388706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dr"/>
          <p:cNvSpPr/>
          <p:nvPr/>
        </p:nvSpPr>
        <p:spPr>
          <a:xfrm>
            <a:off x="0" y="0"/>
            <a:ext cx="9144000" cy="635000"/>
          </a:xfrm>
          <a:prstGeom prst="rect">
            <a:avLst/>
          </a:prstGeom>
          <a:solidFill>
            <a:srgbClr val="1B3A5C"/>
          </a:solidFill>
          <a:ln>
            <a:noFill/>
          </a:ln>
        </p:spPr>
        <p:txBody>
          <a:bodyPr/>
          <a:lstStyle/>
          <a:p>
            <a:endParaRPr/>
          </a:p>
        </p:txBody>
      </p:sp>
      <p:sp>
        <p:nvSpPr>
          <p:cNvPr id="3" name="Title"/>
          <p:cNvSpPr txBox="1"/>
          <p:nvPr/>
        </p:nvSpPr>
        <p:spPr>
          <a:xfrm>
            <a:off x="368300" y="63500"/>
            <a:ext cx="8407400" cy="508000"/>
          </a:xfrm>
          <a:prstGeom prst="rect">
            <a:avLst/>
          </a:prstGeom>
          <a:noFill/>
          <a:ln>
            <a:noFill/>
          </a:ln>
        </p:spPr>
        <p:txBody>
          <a:bodyPr wrap="square" lIns="0" tIns="0" rIns="0" bIns="0" anchor="ctr"/>
          <a:lstStyle/>
          <a:p>
            <a:pPr marL="0" indent="0">
              <a:buNone/>
            </a:pPr>
            <a:r>
              <a:rPr lang="en-US" sz="2400" b="1" dirty="0">
                <a:solidFill>
                  <a:srgbClr val="FFFFFF"/>
                </a:solidFill>
                <a:latin typeface="Georgia" pitchFamily="34" charset="0"/>
              </a:rPr>
              <a:t>How to Engage &amp; Where to Find It</a:t>
            </a:r>
          </a:p>
        </p:txBody>
      </p:sp>
      <p:sp>
        <p:nvSpPr>
          <p:cNvPr id="10" name="SL10"/>
          <p:cNvSpPr txBox="1"/>
          <p:nvPr/>
        </p:nvSpPr>
        <p:spPr>
          <a:xfrm>
            <a:off x="368300" y="685800"/>
            <a:ext cx="4191000" cy="304800"/>
          </a:xfrm>
          <a:prstGeom prst="rect">
            <a:avLst/>
          </a:prstGeom>
          <a:noFill/>
          <a:ln>
            <a:noFill/>
          </a:ln>
        </p:spPr>
        <p:txBody>
          <a:bodyPr wrap="square" lIns="0" tIns="0" rIns="0" bIns="0" anchor="ctr"/>
          <a:lstStyle/>
          <a:p>
            <a:pPr marL="0" indent="0">
              <a:buNone/>
            </a:pPr>
            <a:r>
              <a:rPr lang="en-US" sz="1300" b="1" dirty="0">
                <a:solidFill>
                  <a:srgbClr val="1B3A5C"/>
                </a:solidFill>
                <a:latin typeface="Calibri"/>
              </a:rPr>
              <a:t>TYPES OF FEEDBACK</a:t>
            </a:r>
          </a:p>
        </p:txBody>
      </p:sp>
      <p:sp>
        <p:nvSpPr>
          <p:cNvPr id="11" name="SB11"/>
          <p:cNvSpPr/>
          <p:nvPr/>
        </p:nvSpPr>
        <p:spPr>
          <a:xfrm>
            <a:off x="368300" y="990600"/>
            <a:ext cx="4191000" cy="38100"/>
          </a:xfrm>
          <a:prstGeom prst="rect">
            <a:avLst/>
          </a:prstGeom>
          <a:solidFill>
            <a:srgbClr val="1B3A5C"/>
          </a:solidFill>
          <a:ln>
            <a:noFill/>
          </a:ln>
        </p:spPr>
        <p:txBody>
          <a:bodyPr/>
          <a:lstStyle/>
          <a:p>
            <a:endParaRPr/>
          </a:p>
        </p:txBody>
      </p:sp>
      <p:sp>
        <p:nvSpPr>
          <p:cNvPr id="12" name="SL12"/>
          <p:cNvSpPr txBox="1"/>
          <p:nvPr/>
        </p:nvSpPr>
        <p:spPr>
          <a:xfrm>
            <a:off x="4699000" y="685800"/>
            <a:ext cx="4089400" cy="304800"/>
          </a:xfrm>
          <a:prstGeom prst="rect">
            <a:avLst/>
          </a:prstGeom>
          <a:noFill/>
          <a:ln>
            <a:noFill/>
          </a:ln>
        </p:spPr>
        <p:txBody>
          <a:bodyPr wrap="square" lIns="0" tIns="0" rIns="0" bIns="0" anchor="ctr"/>
          <a:lstStyle/>
          <a:p>
            <a:pPr marL="0" indent="0">
              <a:buNone/>
            </a:pPr>
            <a:r>
              <a:rPr lang="en-US" sz="1300" b="1" dirty="0">
                <a:solidFill>
                  <a:srgbClr val="1A7A6B"/>
                </a:solidFill>
                <a:latin typeface="Calibri"/>
              </a:rPr>
              <a:t>WHERE TO FIND IT</a:t>
            </a:r>
          </a:p>
        </p:txBody>
      </p:sp>
      <p:sp>
        <p:nvSpPr>
          <p:cNvPr id="13" name="SB13"/>
          <p:cNvSpPr/>
          <p:nvPr/>
        </p:nvSpPr>
        <p:spPr>
          <a:xfrm>
            <a:off x="4699000" y="990600"/>
            <a:ext cx="4089400" cy="38100"/>
          </a:xfrm>
          <a:prstGeom prst="rect">
            <a:avLst/>
          </a:prstGeom>
          <a:solidFill>
            <a:srgbClr val="1A7A6B"/>
          </a:solidFill>
          <a:ln>
            <a:noFill/>
          </a:ln>
        </p:spPr>
        <p:txBody>
          <a:bodyPr/>
          <a:lstStyle/>
          <a:p>
            <a:endParaRPr/>
          </a:p>
        </p:txBody>
      </p:sp>
      <p:sp>
        <p:nvSpPr>
          <p:cNvPr id="14" name="Div"/>
          <p:cNvSpPr/>
          <p:nvPr/>
        </p:nvSpPr>
        <p:spPr>
          <a:xfrm>
            <a:off x="4597400" y="685800"/>
            <a:ext cx="25400" cy="4356100"/>
          </a:xfrm>
          <a:prstGeom prst="rect">
            <a:avLst/>
          </a:prstGeom>
          <a:solidFill>
            <a:srgbClr val="B8C8DC"/>
          </a:solidFill>
          <a:ln>
            <a:noFill/>
          </a:ln>
        </p:spPr>
        <p:txBody>
          <a:bodyPr/>
          <a:lstStyle/>
          <a:p>
            <a:endParaRPr/>
          </a:p>
        </p:txBody>
      </p:sp>
      <p:sp>
        <p:nvSpPr>
          <p:cNvPr id="20" name="CB20"/>
          <p:cNvSpPr/>
          <p:nvPr/>
        </p:nvSpPr>
        <p:spPr>
          <a:xfrm>
            <a:off x="368300" y="1104900"/>
            <a:ext cx="4191000" cy="1257300"/>
          </a:xfrm>
          <a:prstGeom prst="rect">
            <a:avLst/>
          </a:prstGeom>
          <a:solidFill>
            <a:srgbClr val="EEF1F7"/>
          </a:solidFill>
          <a:ln>
            <a:noFill/>
          </a:ln>
        </p:spPr>
        <p:txBody>
          <a:bodyPr/>
          <a:lstStyle/>
          <a:p>
            <a:endParaRPr/>
          </a:p>
        </p:txBody>
      </p:sp>
      <p:sp>
        <p:nvSpPr>
          <p:cNvPr id="21" name="CA20"/>
          <p:cNvSpPr/>
          <p:nvPr/>
        </p:nvSpPr>
        <p:spPr>
          <a:xfrm>
            <a:off x="368300" y="1104900"/>
            <a:ext cx="76200" cy="1257300"/>
          </a:xfrm>
          <a:prstGeom prst="rect">
            <a:avLst/>
          </a:prstGeom>
          <a:solidFill>
            <a:srgbClr val="1B3A5C"/>
          </a:solidFill>
          <a:ln>
            <a:noFill/>
          </a:ln>
        </p:spPr>
        <p:txBody>
          <a:bodyPr/>
          <a:lstStyle/>
          <a:p>
            <a:endParaRPr/>
          </a:p>
        </p:txBody>
      </p:sp>
      <p:sp>
        <p:nvSpPr>
          <p:cNvPr id="22" name="CL20"/>
          <p:cNvSpPr txBox="1"/>
          <p:nvPr/>
        </p:nvSpPr>
        <p:spPr>
          <a:xfrm>
            <a:off x="546100" y="1219200"/>
            <a:ext cx="3962400" cy="279400"/>
          </a:xfrm>
          <a:prstGeom prst="rect">
            <a:avLst/>
          </a:prstGeom>
          <a:noFill/>
          <a:ln>
            <a:noFill/>
          </a:ln>
        </p:spPr>
        <p:txBody>
          <a:bodyPr wrap="square" lIns="0" tIns="0" rIns="0" bIns="0" anchor="ctr"/>
          <a:lstStyle/>
          <a:p>
            <a:pPr marL="0" indent="0">
              <a:buNone/>
            </a:pPr>
            <a:r>
              <a:rPr lang="en-US" sz="1500" b="1" dirty="0">
                <a:solidFill>
                  <a:srgbClr val="1B3A5C"/>
                </a:solidFill>
                <a:latin typeface="Georgia"/>
              </a:rPr>
              <a:t>Feedback</a:t>
            </a:r>
          </a:p>
        </p:txBody>
      </p:sp>
      <p:sp>
        <p:nvSpPr>
          <p:cNvPr id="23" name="CT20"/>
          <p:cNvSpPr txBox="1"/>
          <p:nvPr/>
        </p:nvSpPr>
        <p:spPr>
          <a:xfrm>
            <a:off x="546100" y="1549400"/>
            <a:ext cx="3962400" cy="736600"/>
          </a:xfrm>
          <a:prstGeom prst="rect">
            <a:avLst/>
          </a:prstGeom>
          <a:noFill/>
          <a:ln>
            <a:noFill/>
          </a:ln>
        </p:spPr>
        <p:txBody>
          <a:bodyPr wrap="square" lIns="0" tIns="0" rIns="0" bIns="0" anchor="t"/>
          <a:lstStyle/>
          <a:p>
            <a:pPr marL="0" indent="0">
              <a:buNone/>
            </a:pPr>
            <a:r>
              <a:rPr lang="en-US" sz="1300" dirty="0">
                <a:solidFill>
                  <a:srgbClr val="1E1E1E"/>
                </a:solidFill>
                <a:latin typeface="Calibri"/>
              </a:rPr>
              <a:t>Any and all feedback on the project is encouraged. Submit via GitHub issues.</a:t>
            </a:r>
          </a:p>
        </p:txBody>
      </p:sp>
      <p:sp>
        <p:nvSpPr>
          <p:cNvPr id="24" name="CB24"/>
          <p:cNvSpPr/>
          <p:nvPr/>
        </p:nvSpPr>
        <p:spPr>
          <a:xfrm>
            <a:off x="368300" y="2438400"/>
            <a:ext cx="4191000" cy="1257300"/>
          </a:xfrm>
          <a:prstGeom prst="rect">
            <a:avLst/>
          </a:prstGeom>
          <a:solidFill>
            <a:srgbClr val="EDF6F4"/>
          </a:solidFill>
          <a:ln>
            <a:noFill/>
          </a:ln>
        </p:spPr>
        <p:txBody>
          <a:bodyPr/>
          <a:lstStyle/>
          <a:p>
            <a:endParaRPr/>
          </a:p>
        </p:txBody>
      </p:sp>
      <p:sp>
        <p:nvSpPr>
          <p:cNvPr id="25" name="CA24"/>
          <p:cNvSpPr/>
          <p:nvPr/>
        </p:nvSpPr>
        <p:spPr>
          <a:xfrm>
            <a:off x="368300" y="2438400"/>
            <a:ext cx="76200" cy="1257300"/>
          </a:xfrm>
          <a:prstGeom prst="rect">
            <a:avLst/>
          </a:prstGeom>
          <a:solidFill>
            <a:srgbClr val="1A7A6B"/>
          </a:solidFill>
          <a:ln>
            <a:noFill/>
          </a:ln>
        </p:spPr>
        <p:txBody>
          <a:bodyPr/>
          <a:lstStyle/>
          <a:p>
            <a:endParaRPr/>
          </a:p>
        </p:txBody>
      </p:sp>
      <p:sp>
        <p:nvSpPr>
          <p:cNvPr id="26" name="CL24"/>
          <p:cNvSpPr txBox="1"/>
          <p:nvPr/>
        </p:nvSpPr>
        <p:spPr>
          <a:xfrm>
            <a:off x="546100" y="2552700"/>
            <a:ext cx="3962400" cy="279400"/>
          </a:xfrm>
          <a:prstGeom prst="rect">
            <a:avLst/>
          </a:prstGeom>
          <a:noFill/>
          <a:ln>
            <a:noFill/>
          </a:ln>
        </p:spPr>
        <p:txBody>
          <a:bodyPr wrap="square" lIns="0" tIns="0" rIns="0" bIns="0" anchor="ctr"/>
          <a:lstStyle/>
          <a:p>
            <a:pPr marL="0" indent="0">
              <a:buNone/>
            </a:pPr>
            <a:r>
              <a:rPr lang="en-US" sz="1500" b="1" dirty="0">
                <a:solidFill>
                  <a:srgbClr val="1A7A6B"/>
                </a:solidFill>
                <a:latin typeface="Georgia"/>
              </a:rPr>
              <a:t>Data Quality</a:t>
            </a:r>
          </a:p>
        </p:txBody>
      </p:sp>
      <p:sp>
        <p:nvSpPr>
          <p:cNvPr id="27" name="CT24"/>
          <p:cNvSpPr txBox="1"/>
          <p:nvPr/>
        </p:nvSpPr>
        <p:spPr>
          <a:xfrm>
            <a:off x="546100" y="2882900"/>
            <a:ext cx="3962400" cy="736600"/>
          </a:xfrm>
          <a:prstGeom prst="rect">
            <a:avLst/>
          </a:prstGeom>
          <a:noFill/>
          <a:ln>
            <a:noFill/>
          </a:ln>
        </p:spPr>
        <p:txBody>
          <a:bodyPr wrap="square" lIns="0" tIns="0" rIns="0" bIns="0" anchor="t"/>
          <a:lstStyle/>
          <a:p>
            <a:pPr marL="0" indent="0">
              <a:buNone/>
            </a:pPr>
            <a:r>
              <a:rPr lang="en-US" sz="1300" dirty="0">
                <a:solidFill>
                  <a:srgbClr val="1E1E1E"/>
                </a:solidFill>
                <a:latin typeface="Calibri"/>
              </a:rPr>
              <a:t>Identify data quality issues on the map using your local knowledge and submit corrections.</a:t>
            </a:r>
          </a:p>
        </p:txBody>
      </p:sp>
      <p:sp>
        <p:nvSpPr>
          <p:cNvPr id="28" name="CB28"/>
          <p:cNvSpPr/>
          <p:nvPr/>
        </p:nvSpPr>
        <p:spPr>
          <a:xfrm>
            <a:off x="368300" y="3771900"/>
            <a:ext cx="4191000" cy="1270000"/>
          </a:xfrm>
          <a:prstGeom prst="rect">
            <a:avLst/>
          </a:prstGeom>
          <a:solidFill>
            <a:srgbClr val="FBF3EA"/>
          </a:solidFill>
          <a:ln>
            <a:noFill/>
          </a:ln>
        </p:spPr>
        <p:txBody>
          <a:bodyPr/>
          <a:lstStyle/>
          <a:p>
            <a:endParaRPr/>
          </a:p>
        </p:txBody>
      </p:sp>
      <p:sp>
        <p:nvSpPr>
          <p:cNvPr id="29" name="CA28"/>
          <p:cNvSpPr/>
          <p:nvPr/>
        </p:nvSpPr>
        <p:spPr>
          <a:xfrm>
            <a:off x="368300" y="3771900"/>
            <a:ext cx="76200" cy="1270000"/>
          </a:xfrm>
          <a:prstGeom prst="rect">
            <a:avLst/>
          </a:prstGeom>
          <a:solidFill>
            <a:srgbClr val="C8792A"/>
          </a:solidFill>
          <a:ln>
            <a:noFill/>
          </a:ln>
        </p:spPr>
        <p:txBody>
          <a:bodyPr/>
          <a:lstStyle/>
          <a:p>
            <a:endParaRPr/>
          </a:p>
        </p:txBody>
      </p:sp>
      <p:sp>
        <p:nvSpPr>
          <p:cNvPr id="30" name="CL28"/>
          <p:cNvSpPr txBox="1"/>
          <p:nvPr/>
        </p:nvSpPr>
        <p:spPr>
          <a:xfrm>
            <a:off x="546100" y="3886200"/>
            <a:ext cx="3962400" cy="279400"/>
          </a:xfrm>
          <a:prstGeom prst="rect">
            <a:avLst/>
          </a:prstGeom>
          <a:noFill/>
          <a:ln>
            <a:noFill/>
          </a:ln>
        </p:spPr>
        <p:txBody>
          <a:bodyPr wrap="square" lIns="0" tIns="0" rIns="0" bIns="0" anchor="ctr"/>
          <a:lstStyle/>
          <a:p>
            <a:pPr marL="0" indent="0">
              <a:buNone/>
            </a:pPr>
            <a:r>
              <a:rPr lang="en-US" sz="1500" b="1" dirty="0">
                <a:solidFill>
                  <a:srgbClr val="C8792A"/>
                </a:solidFill>
                <a:latin typeface="Georgia"/>
              </a:rPr>
              <a:t>Feature Requests &amp; Questions</a:t>
            </a:r>
          </a:p>
        </p:txBody>
      </p:sp>
      <p:sp>
        <p:nvSpPr>
          <p:cNvPr id="31" name="CT28"/>
          <p:cNvSpPr txBox="1"/>
          <p:nvPr/>
        </p:nvSpPr>
        <p:spPr>
          <a:xfrm>
            <a:off x="546100" y="4216400"/>
            <a:ext cx="3962400" cy="749300"/>
          </a:xfrm>
          <a:prstGeom prst="rect">
            <a:avLst/>
          </a:prstGeom>
          <a:noFill/>
          <a:ln>
            <a:noFill/>
          </a:ln>
        </p:spPr>
        <p:txBody>
          <a:bodyPr wrap="square" lIns="0" tIns="0" rIns="0" bIns="0" anchor="t"/>
          <a:lstStyle/>
          <a:p>
            <a:pPr marL="0" indent="0">
              <a:buNone/>
            </a:pPr>
            <a:r>
              <a:rPr lang="en-US" sz="1300" dirty="0">
                <a:solidFill>
                  <a:srgbClr val="1E1E1E"/>
                </a:solidFill>
                <a:latin typeface="Calibri"/>
              </a:rPr>
              <a:t>Suggest improvements to the analysis, request new features, or raise open questions.</a:t>
            </a:r>
          </a:p>
        </p:txBody>
      </p:sp>
      <p:sp>
        <p:nvSpPr>
          <p:cNvPr id="50" name="CB50"/>
          <p:cNvSpPr/>
          <p:nvPr/>
        </p:nvSpPr>
        <p:spPr>
          <a:xfrm>
            <a:off x="4699000" y="1104900"/>
            <a:ext cx="4089400" cy="1917700"/>
          </a:xfrm>
          <a:prstGeom prst="rect">
            <a:avLst/>
          </a:prstGeom>
          <a:solidFill>
            <a:srgbClr val="EEF1F7"/>
          </a:solidFill>
          <a:ln>
            <a:noFill/>
          </a:ln>
        </p:spPr>
        <p:txBody>
          <a:bodyPr/>
          <a:lstStyle/>
          <a:p>
            <a:endParaRPr/>
          </a:p>
        </p:txBody>
      </p:sp>
      <p:sp>
        <p:nvSpPr>
          <p:cNvPr id="51" name="CA50"/>
          <p:cNvSpPr/>
          <p:nvPr/>
        </p:nvSpPr>
        <p:spPr>
          <a:xfrm>
            <a:off x="4699000" y="1104900"/>
            <a:ext cx="76200" cy="1917700"/>
          </a:xfrm>
          <a:prstGeom prst="rect">
            <a:avLst/>
          </a:prstGeom>
          <a:solidFill>
            <a:srgbClr val="1B3A5C"/>
          </a:solidFill>
          <a:ln>
            <a:noFill/>
          </a:ln>
        </p:spPr>
        <p:txBody>
          <a:bodyPr/>
          <a:lstStyle/>
          <a:p>
            <a:endParaRPr/>
          </a:p>
        </p:txBody>
      </p:sp>
      <p:sp>
        <p:nvSpPr>
          <p:cNvPr id="52" name="CL50"/>
          <p:cNvSpPr txBox="1"/>
          <p:nvPr/>
        </p:nvSpPr>
        <p:spPr>
          <a:xfrm>
            <a:off x="4876800" y="1219200"/>
            <a:ext cx="3860800" cy="279400"/>
          </a:xfrm>
          <a:prstGeom prst="rect">
            <a:avLst/>
          </a:prstGeom>
          <a:noFill/>
          <a:ln>
            <a:noFill/>
          </a:ln>
        </p:spPr>
        <p:txBody>
          <a:bodyPr wrap="square" lIns="0" tIns="0" rIns="0" bIns="0" anchor="ctr"/>
          <a:lstStyle/>
          <a:p>
            <a:pPr marL="0" indent="0">
              <a:buNone/>
            </a:pPr>
            <a:r>
              <a:rPr lang="en-US" sz="1500" b="1" dirty="0">
                <a:solidFill>
                  <a:srgbClr val="1B3A5C"/>
                </a:solidFill>
                <a:latin typeface="Georgia"/>
              </a:rPr>
              <a:t>Share</a:t>
            </a:r>
          </a:p>
        </p:txBody>
      </p:sp>
      <p:sp>
        <p:nvSpPr>
          <p:cNvPr id="53" name="CT50"/>
          <p:cNvSpPr txBox="1"/>
          <p:nvPr/>
        </p:nvSpPr>
        <p:spPr>
          <a:xfrm>
            <a:off x="4876800" y="1549400"/>
            <a:ext cx="3860800" cy="1397000"/>
          </a:xfrm>
          <a:prstGeom prst="rect">
            <a:avLst/>
          </a:prstGeom>
          <a:noFill/>
          <a:ln>
            <a:noFill/>
          </a:ln>
        </p:spPr>
        <p:txBody>
          <a:bodyPr wrap="square" lIns="0" tIns="0" rIns="0" bIns="0" anchor="t"/>
          <a:lstStyle/>
          <a:p>
            <a:pPr marL="228600" indent="-228600">
              <a:buFont typeface="Arial"/>
              <a:buChar char="–"/>
            </a:pPr>
            <a:r>
              <a:rPr lang="en-US" sz="1300" dirty="0">
                <a:solidFill>
                  <a:srgbClr val="1E1E1E"/>
                </a:solidFill>
                <a:latin typeface="Calibri"/>
              </a:rPr>
              <a:t>Share with colleagues and community stakeholders</a:t>
            </a:r>
          </a:p>
          <a:p>
            <a:pPr marL="228600" indent="-228600">
              <a:buFont typeface="Arial"/>
              <a:buChar char="–"/>
            </a:pPr>
            <a:r>
              <a:rPr lang="en-US" sz="1300" dirty="0">
                <a:solidFill>
                  <a:srgbClr val="1E1E1E"/>
                </a:solidFill>
                <a:latin typeface="Calibri"/>
              </a:rPr>
              <a:t>Send the interactive map link to make findings accessible</a:t>
            </a:r>
          </a:p>
          <a:p>
            <a:pPr marL="228600" indent="-228600">
              <a:buFont typeface="Arial"/>
              <a:buChar char="–"/>
            </a:pPr>
            <a:r>
              <a:rPr lang="en-US" sz="1300" dirty="0">
                <a:solidFill>
                  <a:srgbClr val="1E1E1E"/>
                </a:solidFill>
                <a:latin typeface="Calibri"/>
              </a:rPr>
              <a:t>Connect the project with interested organizations</a:t>
            </a:r>
          </a:p>
        </p:txBody>
      </p:sp>
      <p:sp>
        <p:nvSpPr>
          <p:cNvPr id="54" name="CB54"/>
          <p:cNvSpPr/>
          <p:nvPr/>
        </p:nvSpPr>
        <p:spPr>
          <a:xfrm>
            <a:off x="4699000" y="3124200"/>
            <a:ext cx="4089400" cy="1917700"/>
          </a:xfrm>
          <a:prstGeom prst="rect">
            <a:avLst/>
          </a:prstGeom>
          <a:solidFill>
            <a:srgbClr val="EDF6F4"/>
          </a:solidFill>
          <a:ln>
            <a:noFill/>
          </a:ln>
        </p:spPr>
        <p:txBody>
          <a:bodyPr/>
          <a:lstStyle/>
          <a:p>
            <a:endParaRPr/>
          </a:p>
        </p:txBody>
      </p:sp>
      <p:sp>
        <p:nvSpPr>
          <p:cNvPr id="55" name="CA54"/>
          <p:cNvSpPr/>
          <p:nvPr/>
        </p:nvSpPr>
        <p:spPr>
          <a:xfrm>
            <a:off x="4699000" y="3124200"/>
            <a:ext cx="76200" cy="1917700"/>
          </a:xfrm>
          <a:prstGeom prst="rect">
            <a:avLst/>
          </a:prstGeom>
          <a:solidFill>
            <a:srgbClr val="1A7A6B"/>
          </a:solidFill>
          <a:ln>
            <a:noFill/>
          </a:ln>
        </p:spPr>
        <p:txBody>
          <a:bodyPr/>
          <a:lstStyle/>
          <a:p>
            <a:endParaRPr/>
          </a:p>
        </p:txBody>
      </p:sp>
      <p:sp>
        <p:nvSpPr>
          <p:cNvPr id="56" name="CL54"/>
          <p:cNvSpPr txBox="1"/>
          <p:nvPr/>
        </p:nvSpPr>
        <p:spPr>
          <a:xfrm>
            <a:off x="4876800" y="3238500"/>
            <a:ext cx="3860800" cy="279400"/>
          </a:xfrm>
          <a:prstGeom prst="rect">
            <a:avLst/>
          </a:prstGeom>
          <a:noFill/>
          <a:ln>
            <a:noFill/>
          </a:ln>
        </p:spPr>
        <p:txBody>
          <a:bodyPr wrap="square" lIns="0" tIns="0" rIns="0" bIns="0" anchor="ctr"/>
          <a:lstStyle/>
          <a:p>
            <a:pPr marL="0" indent="0">
              <a:buNone/>
            </a:pPr>
            <a:r>
              <a:rPr lang="en-US" sz="1500" b="1" dirty="0">
                <a:solidFill>
                  <a:srgbClr val="1A7A6B"/>
                </a:solidFill>
                <a:latin typeface="Georgia"/>
              </a:rPr>
              <a:t>Public Repository</a:t>
            </a:r>
          </a:p>
        </p:txBody>
      </p:sp>
      <p:sp>
        <p:nvSpPr>
          <p:cNvPr id="57" name="CT54"/>
          <p:cNvSpPr txBox="1"/>
          <p:nvPr/>
        </p:nvSpPr>
        <p:spPr>
          <a:xfrm>
            <a:off x="4876800" y="3568700"/>
            <a:ext cx="3860800" cy="1397000"/>
          </a:xfrm>
          <a:prstGeom prst="rect">
            <a:avLst/>
          </a:prstGeom>
          <a:noFill/>
          <a:ln>
            <a:noFill/>
          </a:ln>
        </p:spPr>
        <p:txBody>
          <a:bodyPr wrap="square" lIns="0" tIns="0" rIns="0" bIns="0" anchor="t"/>
          <a:lstStyle/>
          <a:p>
            <a:pPr marL="0" indent="0">
              <a:spcAft>
                <a:spcPts val="100"/>
              </a:spcAft>
              <a:buNone/>
            </a:pPr>
            <a:r>
              <a:rPr lang="en-US" sz="1300" b="1" dirty="0">
                <a:solidFill>
                  <a:srgbClr val="1B3A5C"/>
                </a:solidFill>
                <a:latin typeface="Calibri"/>
              </a:rPr>
              <a:t>Analysis code and outputs:</a:t>
            </a:r>
          </a:p>
          <a:p>
            <a:pPr marL="0" indent="0">
              <a:spcAft>
                <a:spcPts val="400"/>
              </a:spcAft>
              <a:buNone/>
            </a:pPr>
            <a:r>
              <a:rPr lang="en-US" sz="1300" dirty="0">
                <a:solidFill>
                  <a:srgbClr val="0A5040"/>
                </a:solidFill>
                <a:latin typeface="Calibri"/>
              </a:rPr>
              <a:t>github.com/joburke1/tdranalysis</a:t>
            </a:r>
          </a:p>
          <a:p>
            <a:pPr marL="0" indent="0">
              <a:spcAft>
                <a:spcPts val="100"/>
              </a:spcAft>
              <a:buNone/>
            </a:pPr>
            <a:r>
              <a:rPr lang="en-US" sz="1300" b="1" dirty="0">
                <a:solidFill>
                  <a:srgbClr val="1B3A5C"/>
                </a:solidFill>
                <a:latin typeface="Calibri"/>
              </a:rPr>
              <a:t>Interactive maps:</a:t>
            </a:r>
          </a:p>
          <a:p>
            <a:pPr marL="0" indent="0">
              <a:buNone/>
            </a:pPr>
            <a:r>
              <a:rPr lang="en-US" sz="1300" dirty="0">
                <a:solidFill>
                  <a:srgbClr val="0A5040"/>
                </a:solidFill>
                <a:latin typeface="Calibri"/>
              </a:rPr>
              <a:t>joburke1.github.io/tdranalysis/</a:t>
            </a:r>
          </a:p>
        </p:txBody>
      </p:sp>
    </p:spTree>
    <p:extLst>
      <p:ext uri="{BB962C8B-B14F-4D97-AF65-F5344CB8AC3E}">
        <p14:creationId xmlns:p14="http://schemas.microsoft.com/office/powerpoint/2010/main" val="42217581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A7A6B"/>
          </a:solidFill>
          <a:ln w="12700">
            <a:solidFill>
              <a:srgbClr val="1A7A6B"/>
            </a:solidFill>
            <a:prstDash val="solid"/>
          </a:ln>
        </p:spPr>
        <p:txBody>
          <a:bodyPr/>
          <a:lstStyle/>
          <a:p>
            <a:endParaRPr lang="en-US"/>
          </a:p>
        </p:txBody>
      </p:sp>
      <p:sp>
        <p:nvSpPr>
          <p:cNvPr id="3" name="Text 1"/>
          <p:cNvSpPr/>
          <p:nvPr/>
        </p:nvSpPr>
        <p:spPr>
          <a:xfrm>
            <a:off x="411480" y="822960"/>
            <a:ext cx="7772400" cy="2011680"/>
          </a:xfrm>
          <a:prstGeom prst="rect">
            <a:avLst/>
          </a:prstGeom>
          <a:noFill/>
          <a:ln/>
        </p:spPr>
        <p:txBody>
          <a:bodyPr wrap="square" rtlCol="0" anchor="t"/>
          <a:lstStyle/>
          <a:p>
            <a:pPr marL="0" indent="0" algn="l">
              <a:lnSpc>
                <a:spcPct val="90000"/>
              </a:lnSpc>
              <a:spcAft>
                <a:spcPts val="0"/>
              </a:spcAft>
              <a:buNone/>
            </a:pPr>
            <a:r>
              <a:rPr lang="en-US" sz="5200" b="1" dirty="0">
                <a:solidFill>
                  <a:srgbClr val="FFFFFF"/>
                </a:solidFill>
                <a:latin typeface="Georgia" pitchFamily="34" charset="0"/>
                <a:ea typeface="Georgia" pitchFamily="34" charset="-122"/>
                <a:cs typeface="Georgia" pitchFamily="34" charset="-120"/>
              </a:rPr>
              <a:t>Thank You</a:t>
            </a:r>
          </a:p>
          <a:p>
            <a:pPr marL="0" indent="0" algn="l">
              <a:lnSpc>
                <a:spcPct val="90000"/>
              </a:lnSpc>
              <a:spcAft>
                <a:spcPts val="0"/>
              </a:spcAft>
              <a:buNone/>
            </a:pPr>
            <a:r>
              <a:rPr lang="en-US" sz="5200" b="1" dirty="0">
                <a:solidFill>
                  <a:srgbClr val="FFFFFF"/>
                </a:solidFill>
                <a:latin typeface="Georgia" pitchFamily="34" charset="0"/>
                <a:ea typeface="Georgia" pitchFamily="34" charset="-122"/>
                <a:cs typeface="Georgia" pitchFamily="34" charset="-120"/>
              </a:rPr>
              <a:t>for Your Time</a:t>
            </a:r>
          </a:p>
        </p:txBody>
      </p:sp>
      <p:sp>
        <p:nvSpPr>
          <p:cNvPr id="4" name="Text 2"/>
          <p:cNvSpPr/>
          <p:nvPr/>
        </p:nvSpPr>
        <p:spPr>
          <a:xfrm>
            <a:off x="411480" y="2926080"/>
            <a:ext cx="7772400" cy="640080"/>
          </a:xfrm>
          <a:prstGeom prst="rect">
            <a:avLst/>
          </a:prstGeom>
          <a:noFill/>
          <a:ln/>
        </p:spPr>
        <p:txBody>
          <a:bodyPr wrap="square" rtlCol="0" anchor="ctr"/>
          <a:lstStyle/>
          <a:p>
            <a:pPr marL="0" indent="0" algn="l">
              <a:buNone/>
            </a:pPr>
            <a:r>
              <a:rPr lang="en-US" sz="2000" i="1" dirty="0">
                <a:solidFill>
                  <a:srgbClr val="A8C4D8"/>
                </a:solidFill>
                <a:latin typeface="Calibri" pitchFamily="34" charset="0"/>
                <a:ea typeface="Calibri" pitchFamily="34" charset="-122"/>
                <a:cs typeface="Calibri" pitchFamily="34" charset="-120"/>
              </a:rPr>
              <a:t>Questions, feedback, and discussion welcome</a:t>
            </a:r>
          </a:p>
        </p:txBody>
      </p:sp>
      <p:sp>
        <p:nvSpPr>
          <p:cNvPr id="5" name="Shape 3"/>
          <p:cNvSpPr/>
          <p:nvPr/>
        </p:nvSpPr>
        <p:spPr>
          <a:xfrm>
            <a:off x="0" y="4480560"/>
            <a:ext cx="9144000" cy="662940"/>
          </a:xfrm>
          <a:prstGeom prst="rect">
            <a:avLst/>
          </a:prstGeom>
          <a:solidFill>
            <a:srgbClr val="1A7A6B"/>
          </a:solidFill>
          <a:ln w="12700">
            <a:solidFill>
              <a:srgbClr val="1A7A6B"/>
            </a:solidFill>
            <a:prstDash val="solid"/>
          </a:ln>
        </p:spPr>
        <p:txBody>
          <a:bodyPr/>
          <a:lstStyle/>
          <a:p>
            <a:endParaRPr lang="en-US" dirty="0"/>
          </a:p>
        </p:txBody>
      </p:sp>
      <p:grpSp>
        <p:nvGrpSpPr>
          <p:cNvPr id="11" name="Group 10" descr="This work is marked CC0 1.0 https://creativecommons.org/publicdomain/zero/1.0/">
            <a:extLst>
              <a:ext uri="{FF2B5EF4-FFF2-40B4-BE49-F238E27FC236}">
                <a16:creationId xmlns:a16="http://schemas.microsoft.com/office/drawing/2014/main" id="{1925227B-D2F0-7FC8-5D97-2AD124E180C9}"/>
              </a:ext>
            </a:extLst>
          </p:cNvPr>
          <p:cNvGrpSpPr/>
          <p:nvPr/>
        </p:nvGrpSpPr>
        <p:grpSpPr>
          <a:xfrm>
            <a:off x="8503920" y="4678680"/>
            <a:ext cx="533400" cy="243840"/>
            <a:chOff x="8503920" y="4690110"/>
            <a:chExt cx="533400" cy="243840"/>
          </a:xfrm>
        </p:grpSpPr>
        <p:pic>
          <p:nvPicPr>
            <p:cNvPr id="8" name="Graphic 7">
              <a:extLst>
                <a:ext uri="{FF2B5EF4-FFF2-40B4-BE49-F238E27FC236}">
                  <a16:creationId xmlns:a16="http://schemas.microsoft.com/office/drawing/2014/main" id="{306096C7-1CA8-A2A8-8B91-8CF345A6BF8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93480" y="4690110"/>
              <a:ext cx="243840" cy="243840"/>
            </a:xfrm>
            <a:prstGeom prst="rect">
              <a:avLst/>
            </a:prstGeom>
          </p:spPr>
        </p:pic>
        <p:pic>
          <p:nvPicPr>
            <p:cNvPr id="10" name="Graphic 9">
              <a:extLst>
                <a:ext uri="{FF2B5EF4-FFF2-40B4-BE49-F238E27FC236}">
                  <a16:creationId xmlns:a16="http://schemas.microsoft.com/office/drawing/2014/main" id="{2136FD58-A917-DCA0-410D-2C94A64A493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03920" y="4690110"/>
              <a:ext cx="243840" cy="243840"/>
            </a:xfrm>
            <a:prstGeom prst="rect">
              <a:avLst/>
            </a:prstGeom>
          </p:spPr>
        </p:pic>
      </p:grpSp>
      <p:sp>
        <p:nvSpPr>
          <p:cNvPr id="12" name="Shape 3">
            <a:extLst>
              <a:ext uri="{FF2B5EF4-FFF2-40B4-BE49-F238E27FC236}">
                <a16:creationId xmlns:a16="http://schemas.microsoft.com/office/drawing/2014/main" id="{3D837D48-3ECD-0281-CFCC-F7A73903D12F}"/>
              </a:ext>
            </a:extLst>
          </p:cNvPr>
          <p:cNvSpPr/>
          <p:nvPr/>
        </p:nvSpPr>
        <p:spPr>
          <a:xfrm>
            <a:off x="5984748" y="4591050"/>
            <a:ext cx="2580132" cy="662940"/>
          </a:xfrm>
          <a:prstGeom prst="rect">
            <a:avLst/>
          </a:prstGeom>
          <a:noFill/>
          <a:ln w="12700">
            <a:noFill/>
            <a:prstDash val="solid"/>
          </a:ln>
        </p:spPr>
        <p:txBody>
          <a:bodyPr/>
          <a:lstStyle/>
          <a:p>
            <a:r>
              <a:rPr lang="en-US" sz="900" dirty="0">
                <a:solidFill>
                  <a:schemeClr val="bg1"/>
                </a:solidFill>
                <a:hlinkClick r:id="rId7">
                  <a:extLst>
                    <a:ext uri="{A12FA001-AC4F-418D-AE19-62706E023703}">
                      <ahyp:hlinkClr xmlns:ahyp="http://schemas.microsoft.com/office/drawing/2018/hyperlinkcolor" val="tx"/>
                    </a:ext>
                  </a:extLst>
                </a:hlinkClick>
              </a:rPr>
              <a:t>Arlington Transfer of Development Rights Analysis</a:t>
            </a:r>
            <a:r>
              <a:rPr lang="en-US" sz="900" dirty="0">
                <a:solidFill>
                  <a:schemeClr val="bg1"/>
                </a:solidFill>
              </a:rPr>
              <a:t> by </a:t>
            </a:r>
            <a:r>
              <a:rPr lang="en-US" sz="900" dirty="0">
                <a:solidFill>
                  <a:schemeClr val="bg1"/>
                </a:solidFill>
                <a:hlinkClick r:id="rId8">
                  <a:extLst>
                    <a:ext uri="{A12FA001-AC4F-418D-AE19-62706E023703}">
                      <ahyp:hlinkClr xmlns:ahyp="http://schemas.microsoft.com/office/drawing/2018/hyperlinkcolor" val="tx"/>
                    </a:ext>
                  </a:extLst>
                </a:hlinkClick>
              </a:rPr>
              <a:t>John Burke</a:t>
            </a:r>
            <a:r>
              <a:rPr lang="en-US" sz="900" dirty="0">
                <a:solidFill>
                  <a:schemeClr val="bg1"/>
                </a:solidFill>
              </a:rPr>
              <a:t> is marked </a:t>
            </a:r>
            <a:r>
              <a:rPr lang="en-US" sz="900" dirty="0">
                <a:solidFill>
                  <a:schemeClr val="bg1"/>
                </a:solidFill>
                <a:hlinkClick r:id="rId9">
                  <a:extLst>
                    <a:ext uri="{A12FA001-AC4F-418D-AE19-62706E023703}">
                      <ahyp:hlinkClr xmlns:ahyp="http://schemas.microsoft.com/office/drawing/2018/hyperlinkcolor" val="tx"/>
                    </a:ext>
                  </a:extLst>
                </a:hlinkClick>
              </a:rPr>
              <a:t>CC0 1.0 Universal</a:t>
            </a:r>
            <a:endParaRPr lang="en-US" sz="900" dirty="0">
              <a:solidFill>
                <a:schemeClr val="bg1"/>
              </a:solidFill>
            </a:endParaRPr>
          </a:p>
        </p:txBody>
      </p:sp>
      <p:sp>
        <p:nvSpPr>
          <p:cNvPr id="7" name="Text 4">
            <a:extLst>
              <a:ext uri="{FF2B5EF4-FFF2-40B4-BE49-F238E27FC236}">
                <a16:creationId xmlns:a16="http://schemas.microsoft.com/office/drawing/2014/main" id="{D6A456ED-14E6-A010-F3F7-B5211C89910F}"/>
              </a:ext>
            </a:extLst>
          </p:cNvPr>
          <p:cNvSpPr/>
          <p:nvPr/>
        </p:nvSpPr>
        <p:spPr>
          <a:xfrm>
            <a:off x="411480" y="4526280"/>
            <a:ext cx="3977640" cy="548640"/>
          </a:xfrm>
          <a:prstGeom prst="rect">
            <a:avLst/>
          </a:prstGeom>
          <a:noFill/>
          <a:ln/>
        </p:spPr>
        <p:txBody>
          <a:bodyPr wrap="square" rtlCol="0" anchor="ctr"/>
          <a:lstStyle/>
          <a:p>
            <a:pPr marL="0" indent="0" algn="l">
              <a:buNone/>
            </a:pPr>
            <a:r>
              <a:rPr lang="en-US" sz="1200" dirty="0">
                <a:solidFill>
                  <a:srgbClr val="FFFFFF"/>
                </a:solidFill>
                <a:latin typeface="Calibri" pitchFamily="34" charset="0"/>
                <a:ea typeface="Calibri" pitchFamily="34" charset="-122"/>
                <a:cs typeface="Calibri" pitchFamily="34" charset="-120"/>
              </a:rPr>
              <a:t>A project of Impulse Consulting | </a:t>
            </a:r>
            <a:r>
              <a:rPr lang="en-US" sz="1200" dirty="0">
                <a:solidFill>
                  <a:schemeClr val="bg1"/>
                </a:solidFill>
                <a:latin typeface="Calibri" pitchFamily="34" charset="0"/>
                <a:ea typeface="Calibri" pitchFamily="34" charset="-122"/>
                <a:cs typeface="Calibri" pitchFamily="34" charset="-120"/>
                <a:hlinkClick r:id="rId10">
                  <a:extLst>
                    <a:ext uri="{A12FA001-AC4F-418D-AE19-62706E023703}">
                      <ahyp:hlinkClr xmlns:ahyp="http://schemas.microsoft.com/office/drawing/2018/hyperlinkcolor" val="tx"/>
                    </a:ext>
                  </a:extLst>
                </a:hlinkClick>
              </a:rPr>
              <a:t>www.im-pulse.io</a:t>
            </a:r>
            <a:r>
              <a:rPr lang="en-US" sz="1200" dirty="0">
                <a:solidFill>
                  <a:schemeClr val="bg1"/>
                </a:solidFill>
                <a:latin typeface="Calibri" pitchFamily="34" charset="0"/>
                <a:ea typeface="Calibri" pitchFamily="34" charset="-122"/>
                <a:cs typeface="Calibri" pitchFamily="34" charset="-120"/>
              </a:rPr>
              <a:t> </a:t>
            </a:r>
            <a:endParaRPr lang="en-US" sz="1200" dirty="0">
              <a:solidFill>
                <a:schemeClr val="bg1"/>
              </a:solidFill>
            </a:endParaRPr>
          </a:p>
        </p:txBody>
      </p:sp>
    </p:spTree>
    <p:extLst>
      <p:ext uri="{BB962C8B-B14F-4D97-AF65-F5344CB8AC3E}">
        <p14:creationId xmlns:p14="http://schemas.microsoft.com/office/powerpoint/2010/main" val="1482118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605F770-684D-457C-AD9A-3E2E02E9FB38}">
  <we:reference id="wa200010001" version="1.0.0.0" store="en-US" storeType="OMEX"/>
  <we:alternateReferences>
    <we:reference id="WA200010001" version="1.0.0.0" store="WA200010001"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6052</TotalTime>
  <Words>3759</Words>
  <Application>Microsoft Office PowerPoint</Application>
  <PresentationFormat>On-screen Show (16:9)</PresentationFormat>
  <Paragraphs>474</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Impulse Consulting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Arlington TDR Analysis</dc:title>
  <dc:subject>Transfer of Development Rights</dc:subject>
  <dc:creator>John Burke</dc:creator>
  <cp:lastModifiedBy>John Burke</cp:lastModifiedBy>
  <cp:revision>1</cp:revision>
  <dcterms:created xsi:type="dcterms:W3CDTF">2026-02-26T15:58:45Z</dcterms:created>
  <dcterms:modified xsi:type="dcterms:W3CDTF">2026-03-05T18:40:25Z</dcterms:modified>
</cp:coreProperties>
</file>